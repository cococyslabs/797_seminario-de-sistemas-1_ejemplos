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Hammersmith One"/>
      <p:regular r:id="rId29"/>
    </p:embeddedFont>
    <p:embeddedFont>
      <p:font typeface="Sansita"/>
      <p:regular r:id="rId30"/>
      <p:bold r:id="rId31"/>
      <p:italic r:id="rId32"/>
      <p:boldItalic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h4AiCiactHWQHrSNaGIwbROPTs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B9E501-1101-4814-B1DA-C1B1EAA2DA27}">
  <a:tblStyle styleId="{6AB9E501-1101-4814-B1DA-C1B1EAA2DA2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ammersmithOn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ansita-bold.fntdata"/><Relationship Id="rId30" Type="http://schemas.openxmlformats.org/officeDocument/2006/relationships/font" Target="fonts/Sansita-regular.fntdata"/><Relationship Id="rId11" Type="http://schemas.openxmlformats.org/officeDocument/2006/relationships/slide" Target="slides/slide5.xml"/><Relationship Id="rId33" Type="http://schemas.openxmlformats.org/officeDocument/2006/relationships/font" Target="fonts/Sansita-boldItalic.fntdata"/><Relationship Id="rId10" Type="http://schemas.openxmlformats.org/officeDocument/2006/relationships/slide" Target="slides/slide4.xml"/><Relationship Id="rId32" Type="http://schemas.openxmlformats.org/officeDocument/2006/relationships/font" Target="fonts/Sansita-italic.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124740d10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a124740d1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1"/>
          <p:cNvSpPr/>
          <p:nvPr>
            <p:ph idx="2" type="pic"/>
          </p:nvPr>
        </p:nvSpPr>
        <p:spPr>
          <a:xfrm>
            <a:off x="1792288" y="612775"/>
            <a:ext cx="5486400" cy="4114800"/>
          </a:xfrm>
          <a:prstGeom prst="rect">
            <a:avLst/>
          </a:prstGeom>
          <a:noFill/>
          <a:ln>
            <a:noFill/>
          </a:ln>
        </p:spPr>
      </p:sp>
      <p:sp>
        <p:nvSpPr>
          <p:cNvPr id="64" name="Google Shape;64;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a124740d10_1_80"/>
          <p:cNvSpPr txBox="1"/>
          <p:nvPr>
            <p:ph type="title"/>
          </p:nvPr>
        </p:nvSpPr>
        <p:spPr>
          <a:xfrm>
            <a:off x="623400" y="890050"/>
            <a:ext cx="17041200" cy="1145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g3a124740d10_1_80"/>
          <p:cNvSpPr txBox="1"/>
          <p:nvPr>
            <p:ph idx="1" type="body"/>
          </p:nvPr>
        </p:nvSpPr>
        <p:spPr>
          <a:xfrm>
            <a:off x="623400" y="2304950"/>
            <a:ext cx="17041200" cy="6832800"/>
          </a:xfrm>
          <a:prstGeom prst="rect">
            <a:avLst/>
          </a:prstGeom>
          <a:noFill/>
          <a:ln>
            <a:noFill/>
          </a:ln>
        </p:spPr>
        <p:txBody>
          <a:bodyPr anchorCtr="0" anchor="t" bIns="91425" lIns="91425" spcFirstLastPara="1" rIns="91425" wrap="square" tIns="91425">
            <a:normAutofit/>
          </a:bodyPr>
          <a:lstStyle>
            <a:lvl1pPr indent="-342900" lvl="0" marL="457200" algn="l">
              <a:lnSpc>
                <a:spcPct val="100000"/>
              </a:lnSpc>
              <a:spcBef>
                <a:spcPts val="0"/>
              </a:spcBef>
              <a:spcAft>
                <a:spcPts val="0"/>
              </a:spcAft>
              <a:buSzPts val="18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83" name="Google Shape;83;g3a124740d10_1_80"/>
          <p:cNvSpPr txBox="1"/>
          <p:nvPr>
            <p:ph idx="12" type="sldNum"/>
          </p:nvPr>
        </p:nvSpPr>
        <p:spPr>
          <a:xfrm>
            <a:off x="16944916" y="9326434"/>
            <a:ext cx="1097400" cy="787200"/>
          </a:xfrm>
          <a:prstGeom prst="rect">
            <a:avLst/>
          </a:prstGeom>
          <a:noFill/>
          <a:ln>
            <a:noFill/>
          </a:ln>
        </p:spPr>
        <p:txBody>
          <a:bodyPr anchorCtr="0" anchor="ctr" bIns="91425" lIns="91425" spcFirstLastPara="1" rIns="91425" wrap="square" tIns="91425">
            <a:normAutofit/>
          </a:bodyPr>
          <a:lstStyle>
            <a:lvl1pPr indent="0" lvl="0"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29.pn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21.png"/><Relationship Id="rId6"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18.png"/><Relationship Id="rId7"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124740d10_1_0"/>
          <p:cNvPicPr preferRelativeResize="0"/>
          <p:nvPr/>
        </p:nvPicPr>
        <p:blipFill rotWithShape="1">
          <a:blip r:embed="rId3">
            <a:alphaModFix amt="62000"/>
          </a:blip>
          <a:srcRect b="0" l="0" r="0" t="0"/>
          <a:stretch/>
        </p:blipFill>
        <p:spPr>
          <a:xfrm>
            <a:off x="16903" y="1"/>
            <a:ext cx="18254198" cy="10287001"/>
          </a:xfrm>
          <a:prstGeom prst="rect">
            <a:avLst/>
          </a:prstGeom>
          <a:noFill/>
          <a:ln>
            <a:noFill/>
          </a:ln>
        </p:spPr>
      </p:pic>
      <p:graphicFrame>
        <p:nvGraphicFramePr>
          <p:cNvPr id="89" name="Google Shape;89;g3a124740d10_1_0"/>
          <p:cNvGraphicFramePr/>
          <p:nvPr/>
        </p:nvGraphicFramePr>
        <p:xfrm>
          <a:off x="10656401" y="1940050"/>
          <a:ext cx="3000000" cy="3000000"/>
        </p:xfrm>
        <a:graphic>
          <a:graphicData uri="http://schemas.openxmlformats.org/drawingml/2006/table">
            <a:tbl>
              <a:tblPr>
                <a:noFill/>
                <a:tableStyleId>{6AB9E501-1101-4814-B1DA-C1B1EAA2DA27}</a:tableStyleId>
              </a:tblPr>
              <a:tblGrid>
                <a:gridCol w="3036400"/>
                <a:gridCol w="4344750"/>
              </a:tblGrid>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xxx</a:t>
                      </a:r>
                      <a:r>
                        <a:rPr lang="en-US" sz="2800" u="none" cap="none" strike="noStrike"/>
                        <a:t>, </a:t>
                      </a:r>
                      <a:r>
                        <a:rPr lang="en-US" sz="2800"/>
                        <a:t>xx</a:t>
                      </a:r>
                      <a:r>
                        <a:rPr lang="en-US" sz="2800" u="none" cap="none" strike="noStrike"/>
                        <a:t>/</a:t>
                      </a:r>
                      <a:r>
                        <a:rPr lang="en-US" sz="2800"/>
                        <a:t>xx</a:t>
                      </a:r>
                      <a:r>
                        <a:rPr lang="en-US" sz="2800" u="none" cap="none" strike="noStrike"/>
                        <a:t>/202</a:t>
                      </a:r>
                      <a:r>
                        <a:rPr lang="en-US" sz="2800"/>
                        <a:t>6</a:t>
                      </a:r>
                      <a:endParaRPr/>
                    </a:p>
                  </a:txBody>
                  <a:tcPr marT="182850" marB="182850" marR="182850" marL="182850"/>
                </a:tc>
              </a:tr>
              <a:tr h="798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xx</a:t>
                      </a:r>
                      <a:r>
                        <a:rPr lang="en-US" sz="2800" u="none" cap="none" strike="noStrike"/>
                        <a:t>:00</a:t>
                      </a:r>
                      <a:endParaRPr/>
                    </a:p>
                  </a:txBody>
                  <a:tcPr marT="182850" marB="182850" marR="182850" marL="182850"/>
                </a:tc>
              </a:tr>
            </a:tbl>
          </a:graphicData>
        </a:graphic>
      </p:graphicFrame>
      <p:sp>
        <p:nvSpPr>
          <p:cNvPr id="90" name="Google Shape;90;g3a124740d10_1_0"/>
          <p:cNvSpPr txBox="1"/>
          <p:nvPr/>
        </p:nvSpPr>
        <p:spPr>
          <a:xfrm>
            <a:off x="2880350" y="4516600"/>
            <a:ext cx="13584000" cy="11391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0" i="0" lang="en-US" sz="5000" u="none" cap="none" strike="noStrike">
                <a:solidFill>
                  <a:srgbClr val="000000"/>
                </a:solidFill>
                <a:latin typeface="Arial"/>
                <a:ea typeface="Arial"/>
                <a:cs typeface="Arial"/>
                <a:sym typeface="Arial"/>
              </a:rPr>
              <a:t>Seminario de Sistemas 1 []</a:t>
            </a:r>
            <a:endParaRPr b="0" i="0" sz="5000" u="none" cap="none" strike="noStrike">
              <a:solidFill>
                <a:srgbClr val="000000"/>
              </a:solidFill>
              <a:latin typeface="Arial"/>
              <a:ea typeface="Arial"/>
              <a:cs typeface="Arial"/>
              <a:sym typeface="Arial"/>
            </a:endParaRPr>
          </a:p>
        </p:txBody>
      </p:sp>
      <p:sp>
        <p:nvSpPr>
          <p:cNvPr id="91" name="Google Shape;91;g3a124740d10_1_0"/>
          <p:cNvSpPr txBox="1"/>
          <p:nvPr/>
        </p:nvSpPr>
        <p:spPr>
          <a:xfrm>
            <a:off x="2880350" y="5816015"/>
            <a:ext cx="11173200" cy="9852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Nombre Del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13252288" y="201103"/>
            <a:ext cx="4684163" cy="1457826"/>
          </a:xfrm>
          <a:custGeom>
            <a:rect b="b" l="l" r="r" t="t"/>
            <a:pathLst>
              <a:path extrusionOk="0" h="1457826" w="4684163">
                <a:moveTo>
                  <a:pt x="0" y="0"/>
                </a:moveTo>
                <a:lnTo>
                  <a:pt x="4684163" y="0"/>
                </a:lnTo>
                <a:lnTo>
                  <a:pt x="4684163" y="1457827"/>
                </a:lnTo>
                <a:lnTo>
                  <a:pt x="0" y="1457827"/>
                </a:lnTo>
                <a:lnTo>
                  <a:pt x="0" y="0"/>
                </a:lnTo>
                <a:close/>
              </a:path>
            </a:pathLst>
          </a:custGeom>
          <a:blipFill rotWithShape="1">
            <a:blip r:embed="rId3">
              <a:alphaModFix/>
            </a:blip>
            <a:stretch>
              <a:fillRect b="0" l="0" r="0" t="0"/>
            </a:stretch>
          </a:blipFill>
          <a:ln>
            <a:noFill/>
          </a:ln>
        </p:spPr>
      </p:sp>
      <p:cxnSp>
        <p:nvCxnSpPr>
          <p:cNvPr id="97" name="Google Shape;97;p1"/>
          <p:cNvCxnSpPr/>
          <p:nvPr/>
        </p:nvCxnSpPr>
        <p:spPr>
          <a:xfrm>
            <a:off x="507314" y="8149956"/>
            <a:ext cx="6492240" cy="0"/>
          </a:xfrm>
          <a:prstGeom prst="straightConnector1">
            <a:avLst/>
          </a:prstGeom>
          <a:noFill/>
          <a:ln cap="flat" cmpd="sng" w="38100">
            <a:solidFill>
              <a:srgbClr val="121F39"/>
            </a:solidFill>
            <a:prstDash val="solid"/>
            <a:round/>
            <a:headEnd len="sm" w="sm" type="none"/>
            <a:tailEnd len="sm" w="sm" type="none"/>
          </a:ln>
        </p:spPr>
      </p:cxnSp>
      <p:sp>
        <p:nvSpPr>
          <p:cNvPr id="98" name="Google Shape;98;p1"/>
          <p:cNvSpPr/>
          <p:nvPr/>
        </p:nvSpPr>
        <p:spPr>
          <a:xfrm flipH="1" rot="5679621">
            <a:off x="7710161" y="786592"/>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99" name="Google Shape;99;p1"/>
          <p:cNvSpPr txBox="1"/>
          <p:nvPr/>
        </p:nvSpPr>
        <p:spPr>
          <a:xfrm>
            <a:off x="0" y="3209848"/>
            <a:ext cx="18104045" cy="25622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500"/>
              <a:buFont typeface="Arial"/>
              <a:buNone/>
            </a:pPr>
            <a:r>
              <a:rPr b="0" i="0" lang="en-US" sz="6500" u="none" cap="none" strike="noStrike">
                <a:solidFill>
                  <a:srgbClr val="29303C"/>
                </a:solidFill>
                <a:latin typeface="Hammersmith One"/>
                <a:ea typeface="Hammersmith One"/>
                <a:cs typeface="Hammersmith One"/>
                <a:sym typeface="Hammersmith One"/>
              </a:rPr>
              <a:t>UNIDAD 1 y 2 </a:t>
            </a:r>
            <a:endParaRPr b="0" i="0" sz="1400" u="none" cap="none" strike="noStrike">
              <a:solidFill>
                <a:srgbClr val="000000"/>
              </a:solidFill>
              <a:latin typeface="Arial"/>
              <a:ea typeface="Arial"/>
              <a:cs typeface="Arial"/>
              <a:sym typeface="Arial"/>
            </a:endParaRPr>
          </a:p>
          <a:p>
            <a:pPr indent="0" lvl="0" marL="0" marR="0" rtl="0" algn="ctr">
              <a:lnSpc>
                <a:spcPct val="140010"/>
              </a:lnSpc>
              <a:spcBef>
                <a:spcPts val="0"/>
              </a:spcBef>
              <a:spcAft>
                <a:spcPts val="0"/>
              </a:spcAft>
              <a:buClr>
                <a:srgbClr val="000000"/>
              </a:buClr>
              <a:buSzPts val="3999"/>
              <a:buFont typeface="Arial"/>
              <a:buNone/>
            </a:pPr>
            <a:r>
              <a:rPr b="0" i="0" lang="en-US" sz="3999" u="none" cap="none" strike="noStrike">
                <a:solidFill>
                  <a:srgbClr val="29303C"/>
                </a:solidFill>
                <a:latin typeface="Hammersmith One"/>
                <a:ea typeface="Hammersmith One"/>
                <a:cs typeface="Hammersmith One"/>
                <a:sym typeface="Hammersmith One"/>
              </a:rPr>
              <a:t>“Conceptos Fundamentales de la Computación en la Nube” y “Servicios clave de proveedores Cloud” </a:t>
            </a:r>
            <a:endParaRPr b="0" i="0" sz="1400" u="none" cap="none" strike="noStrike">
              <a:solidFill>
                <a:srgbClr val="000000"/>
              </a:solidFill>
              <a:latin typeface="Arial"/>
              <a:ea typeface="Arial"/>
              <a:cs typeface="Arial"/>
              <a:sym typeface="Arial"/>
            </a:endParaRPr>
          </a:p>
        </p:txBody>
      </p:sp>
      <p:sp>
        <p:nvSpPr>
          <p:cNvPr id="100" name="Google Shape;100;p1"/>
          <p:cNvSpPr txBox="1"/>
          <p:nvPr/>
        </p:nvSpPr>
        <p:spPr>
          <a:xfrm>
            <a:off x="507314" y="8207106"/>
            <a:ext cx="4887216" cy="131394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Clr>
                <a:srgbClr val="000000"/>
              </a:buClr>
              <a:buSzPts val="1894"/>
              <a:buFont typeface="Arial"/>
              <a:buNone/>
            </a:pPr>
            <a:r>
              <a:rPr b="0" i="0" lang="en-US" sz="1894" u="none" cap="none" strike="noStrike">
                <a:solidFill>
                  <a:srgbClr val="29303C"/>
                </a:solidFill>
                <a:latin typeface="Arial"/>
                <a:ea typeface="Arial"/>
                <a:cs typeface="Arial"/>
                <a:sym typeface="Arial"/>
              </a:rPr>
              <a:t>Escuela de Ingenieria de Ciencias y Sistemas</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4"/>
              <a:buFont typeface="Arial"/>
              <a:buNone/>
            </a:pPr>
            <a:r>
              <a:rPr b="0" i="0" lang="en-US" sz="1894" u="none" cap="none" strike="noStrike">
                <a:solidFill>
                  <a:srgbClr val="29303C"/>
                </a:solidFill>
                <a:latin typeface="Arial"/>
                <a:ea typeface="Arial"/>
                <a:cs typeface="Arial"/>
                <a:sym typeface="Arial"/>
              </a:rPr>
              <a:t>Facultad de Ingenieria</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4"/>
              <a:buFont typeface="Arial"/>
              <a:buNone/>
            </a:pPr>
            <a:r>
              <a:rPr b="0" i="0" lang="en-US" sz="1894" u="none" cap="none" strike="noStrike">
                <a:solidFill>
                  <a:srgbClr val="29303C"/>
                </a:solidFill>
                <a:latin typeface="Arial"/>
                <a:ea typeface="Arial"/>
                <a:cs typeface="Arial"/>
                <a:sym typeface="Arial"/>
              </a:rPr>
              <a:t>Universidad de San Carlos de Guatemala</a:t>
            </a:r>
            <a:endParaRPr b="0" i="0" sz="14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894"/>
              <a:buFont typeface="Arial"/>
              <a:buNone/>
            </a:pPr>
            <a:r>
              <a:t/>
            </a:r>
            <a:endParaRPr b="0" i="0" sz="1894" u="none" cap="none" strike="noStrike">
              <a:solidFill>
                <a:srgbClr val="29303C"/>
              </a:solidFill>
              <a:latin typeface="Arial"/>
              <a:ea typeface="Arial"/>
              <a:cs typeface="Arial"/>
              <a:sym typeface="Arial"/>
            </a:endParaRPr>
          </a:p>
        </p:txBody>
      </p:sp>
      <p:sp>
        <p:nvSpPr>
          <p:cNvPr id="101" name="Google Shape;101;p1"/>
          <p:cNvSpPr txBox="1"/>
          <p:nvPr/>
        </p:nvSpPr>
        <p:spPr>
          <a:xfrm>
            <a:off x="507325" y="7364750"/>
            <a:ext cx="63138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999"/>
              <a:buFont typeface="Arial"/>
              <a:buNone/>
            </a:pPr>
            <a:r>
              <a:rPr b="1" i="0" lang="en-US" sz="3999" u="none" cap="none" strike="noStrike">
                <a:solidFill>
                  <a:srgbClr val="29303C"/>
                </a:solidFill>
                <a:latin typeface="Arial"/>
                <a:ea typeface="Arial"/>
                <a:cs typeface="Arial"/>
                <a:sym typeface="Arial"/>
              </a:rPr>
              <a:t>Seminario de Sistemas 1</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flipH="1" rot="5679621">
            <a:off x="7894116" y="96483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5">
              <a:alphaModFix/>
            </a:blip>
            <a:stretch>
              <a:fillRect b="0" l="0" r="0" t="0"/>
            </a:stretch>
          </a:blipFill>
          <a:ln>
            <a:noFill/>
          </a:ln>
        </p:spPr>
      </p:sp>
      <p:cxnSp>
        <p:nvCxnSpPr>
          <p:cNvPr id="103" name="Google Shape;103;p1"/>
          <p:cNvCxnSpPr/>
          <p:nvPr/>
        </p:nvCxnSpPr>
        <p:spPr>
          <a:xfrm>
            <a:off x="5535002" y="4310615"/>
            <a:ext cx="6492240" cy="0"/>
          </a:xfrm>
          <a:prstGeom prst="straightConnector1">
            <a:avLst/>
          </a:prstGeom>
          <a:noFill/>
          <a:ln cap="flat" cmpd="sng" w="38100">
            <a:solidFill>
              <a:srgbClr val="29303C"/>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grpSp>
        <p:nvGrpSpPr>
          <p:cNvPr id="108" name="Google Shape;108;p2"/>
          <p:cNvGrpSpPr/>
          <p:nvPr/>
        </p:nvGrpSpPr>
        <p:grpSpPr>
          <a:xfrm>
            <a:off x="1421964" y="2747250"/>
            <a:ext cx="731003" cy="760368"/>
            <a:chOff x="0" y="0"/>
            <a:chExt cx="974670" cy="1013824"/>
          </a:xfrm>
        </p:grpSpPr>
        <p:sp>
          <p:nvSpPr>
            <p:cNvPr id="109" name="Google Shape;109;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sp>
        <p:nvSpPr>
          <p:cNvPr id="111" name="Google Shape;111;p2"/>
          <p:cNvSpPr/>
          <p:nvPr/>
        </p:nvSpPr>
        <p:spPr>
          <a:xfrm rot="5400000">
            <a:off x="12857023" y="4742132"/>
            <a:ext cx="10861953" cy="802736"/>
          </a:xfrm>
          <a:custGeom>
            <a:rect b="b" l="l" r="r" t="t"/>
            <a:pathLst>
              <a:path extrusionOk="0" h="802736" w="10861953">
                <a:moveTo>
                  <a:pt x="0" y="0"/>
                </a:moveTo>
                <a:lnTo>
                  <a:pt x="10861954" y="0"/>
                </a:lnTo>
                <a:lnTo>
                  <a:pt x="10861954" y="802736"/>
                </a:lnTo>
                <a:lnTo>
                  <a:pt x="0" y="802736"/>
                </a:lnTo>
                <a:lnTo>
                  <a:pt x="0" y="0"/>
                </a:lnTo>
                <a:close/>
              </a:path>
            </a:pathLst>
          </a:custGeom>
          <a:blipFill rotWithShape="1">
            <a:blip r:embed="rId3">
              <a:alphaModFix/>
            </a:blip>
            <a:stretch>
              <a:fillRect b="-1042441" l="-169" r="-7084" t="-308517"/>
            </a:stretch>
          </a:blipFill>
          <a:ln>
            <a:noFill/>
          </a:ln>
        </p:spPr>
      </p:sp>
      <p:grpSp>
        <p:nvGrpSpPr>
          <p:cNvPr id="112" name="Google Shape;112;p2"/>
          <p:cNvGrpSpPr/>
          <p:nvPr/>
        </p:nvGrpSpPr>
        <p:grpSpPr>
          <a:xfrm>
            <a:off x="4845710" y="2747250"/>
            <a:ext cx="731003" cy="760368"/>
            <a:chOff x="0" y="0"/>
            <a:chExt cx="974670" cy="1013824"/>
          </a:xfrm>
        </p:grpSpPr>
        <p:sp>
          <p:nvSpPr>
            <p:cNvPr id="113" name="Google Shape;113;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115" name="Google Shape;115;p2"/>
          <p:cNvGrpSpPr/>
          <p:nvPr/>
        </p:nvGrpSpPr>
        <p:grpSpPr>
          <a:xfrm>
            <a:off x="1421964" y="5820388"/>
            <a:ext cx="731003" cy="760368"/>
            <a:chOff x="0" y="0"/>
            <a:chExt cx="974670" cy="1013824"/>
          </a:xfrm>
        </p:grpSpPr>
        <p:sp>
          <p:nvSpPr>
            <p:cNvPr id="116" name="Google Shape;116;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118" name="Google Shape;118;p2"/>
          <p:cNvGrpSpPr/>
          <p:nvPr/>
        </p:nvGrpSpPr>
        <p:grpSpPr>
          <a:xfrm>
            <a:off x="1421964" y="6990935"/>
            <a:ext cx="731003" cy="760368"/>
            <a:chOff x="0" y="0"/>
            <a:chExt cx="974670" cy="1013824"/>
          </a:xfrm>
        </p:grpSpPr>
        <p:sp>
          <p:nvSpPr>
            <p:cNvPr id="119" name="Google Shape;119;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cxnSp>
        <p:nvCxnSpPr>
          <p:cNvPr id="121" name="Google Shape;121;p2"/>
          <p:cNvCxnSpPr/>
          <p:nvPr/>
        </p:nvCxnSpPr>
        <p:spPr>
          <a:xfrm>
            <a:off x="1211924" y="2318625"/>
            <a:ext cx="4643555" cy="0"/>
          </a:xfrm>
          <a:prstGeom prst="straightConnector1">
            <a:avLst/>
          </a:prstGeom>
          <a:noFill/>
          <a:ln cap="flat" cmpd="sng" w="38100">
            <a:solidFill>
              <a:srgbClr val="000000"/>
            </a:solidFill>
            <a:prstDash val="solid"/>
            <a:round/>
            <a:headEnd len="sm" w="sm" type="none"/>
            <a:tailEnd len="sm" w="sm" type="none"/>
          </a:ln>
        </p:spPr>
      </p:cxnSp>
      <p:cxnSp>
        <p:nvCxnSpPr>
          <p:cNvPr id="122" name="Google Shape;122;p2"/>
          <p:cNvCxnSpPr/>
          <p:nvPr/>
        </p:nvCxnSpPr>
        <p:spPr>
          <a:xfrm>
            <a:off x="1211924" y="5296513"/>
            <a:ext cx="2129220" cy="0"/>
          </a:xfrm>
          <a:prstGeom prst="straightConnector1">
            <a:avLst/>
          </a:prstGeom>
          <a:noFill/>
          <a:ln cap="flat" cmpd="sng" w="38100">
            <a:solidFill>
              <a:srgbClr val="29303C"/>
            </a:solidFill>
            <a:prstDash val="solid"/>
            <a:round/>
            <a:headEnd len="sm" w="sm" type="none"/>
            <a:tailEnd len="sm" w="sm" type="none"/>
          </a:ln>
        </p:spPr>
      </p:cxnSp>
      <p:grpSp>
        <p:nvGrpSpPr>
          <p:cNvPr id="123" name="Google Shape;123;p2"/>
          <p:cNvGrpSpPr/>
          <p:nvPr/>
        </p:nvGrpSpPr>
        <p:grpSpPr>
          <a:xfrm>
            <a:off x="1421964" y="8160878"/>
            <a:ext cx="731003" cy="760368"/>
            <a:chOff x="0" y="0"/>
            <a:chExt cx="974670" cy="1013824"/>
          </a:xfrm>
        </p:grpSpPr>
        <p:sp>
          <p:nvSpPr>
            <p:cNvPr id="124" name="Google Shape;124;p2"/>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sp>
        <p:nvSpPr>
          <p:cNvPr id="126" name="Google Shape;126;p2"/>
          <p:cNvSpPr txBox="1"/>
          <p:nvPr/>
        </p:nvSpPr>
        <p:spPr>
          <a:xfrm>
            <a:off x="6945276" y="222725"/>
            <a:ext cx="4144200" cy="10773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1" i="0" lang="en-US" sz="6999" u="none" cap="none" strike="noStrike">
                <a:solidFill>
                  <a:srgbClr val="29303C"/>
                </a:solidFill>
                <a:latin typeface="Arial"/>
                <a:ea typeface="Arial"/>
                <a:cs typeface="Arial"/>
                <a:sym typeface="Arial"/>
              </a:rPr>
              <a:t>AGENDA</a:t>
            </a:r>
            <a:endParaRPr b="0" i="0" sz="1400" u="none" cap="none" strike="noStrike">
              <a:solidFill>
                <a:srgbClr val="000000"/>
              </a:solidFill>
              <a:latin typeface="Arial"/>
              <a:ea typeface="Arial"/>
              <a:cs typeface="Arial"/>
              <a:sym typeface="Arial"/>
            </a:endParaRPr>
          </a:p>
        </p:txBody>
      </p:sp>
      <p:sp>
        <p:nvSpPr>
          <p:cNvPr id="127" name="Google Shape;127;p2"/>
          <p:cNvSpPr txBox="1"/>
          <p:nvPr/>
        </p:nvSpPr>
        <p:spPr>
          <a:xfrm>
            <a:off x="2640377" y="2830096"/>
            <a:ext cx="1401532"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Foro 1</a:t>
            </a:r>
            <a:endParaRPr b="0" i="0" sz="1400" u="none" cap="none" strike="noStrike">
              <a:solidFill>
                <a:srgbClr val="000000"/>
              </a:solidFill>
              <a:latin typeface="Arial"/>
              <a:ea typeface="Arial"/>
              <a:cs typeface="Arial"/>
              <a:sym typeface="Arial"/>
            </a:endParaRPr>
          </a:p>
        </p:txBody>
      </p:sp>
      <p:sp>
        <p:nvSpPr>
          <p:cNvPr id="128" name="Google Shape;128;p2"/>
          <p:cNvSpPr txBox="1"/>
          <p:nvPr/>
        </p:nvSpPr>
        <p:spPr>
          <a:xfrm>
            <a:off x="5770962" y="2830096"/>
            <a:ext cx="3499957"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Asignación a DTT</a:t>
            </a:r>
            <a:endParaRPr b="0" i="0" sz="1400" u="none" cap="none" strike="noStrike">
              <a:solidFill>
                <a:srgbClr val="000000"/>
              </a:solidFill>
              <a:latin typeface="Arial"/>
              <a:ea typeface="Arial"/>
              <a:cs typeface="Arial"/>
              <a:sym typeface="Arial"/>
            </a:endParaRPr>
          </a:p>
        </p:txBody>
      </p:sp>
      <p:sp>
        <p:nvSpPr>
          <p:cNvPr id="129" name="Google Shape;129;p2"/>
          <p:cNvSpPr txBox="1"/>
          <p:nvPr/>
        </p:nvSpPr>
        <p:spPr>
          <a:xfrm>
            <a:off x="2335952" y="5933228"/>
            <a:ext cx="6934966"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Introducción A Cloud Computing</a:t>
            </a:r>
            <a:endParaRPr b="0" i="0" sz="1400" u="none" cap="none" strike="noStrike">
              <a:solidFill>
                <a:srgbClr val="000000"/>
              </a:solidFill>
              <a:latin typeface="Arial"/>
              <a:ea typeface="Arial"/>
              <a:cs typeface="Arial"/>
              <a:sym typeface="Arial"/>
            </a:endParaRPr>
          </a:p>
        </p:txBody>
      </p:sp>
      <p:sp>
        <p:nvSpPr>
          <p:cNvPr id="130" name="Google Shape;130;p2"/>
          <p:cNvSpPr txBox="1"/>
          <p:nvPr/>
        </p:nvSpPr>
        <p:spPr>
          <a:xfrm>
            <a:off x="2335952" y="7099406"/>
            <a:ext cx="6808048"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Servicios clave de Google Cloud</a:t>
            </a:r>
            <a:endParaRPr b="0" i="0" sz="1400" u="none" cap="none" strike="noStrike">
              <a:solidFill>
                <a:srgbClr val="000000"/>
              </a:solidFill>
              <a:latin typeface="Arial"/>
              <a:ea typeface="Arial"/>
              <a:cs typeface="Arial"/>
              <a:sym typeface="Arial"/>
            </a:endParaRPr>
          </a:p>
        </p:txBody>
      </p:sp>
      <p:sp>
        <p:nvSpPr>
          <p:cNvPr id="131" name="Google Shape;131;p2"/>
          <p:cNvSpPr txBox="1"/>
          <p:nvPr/>
        </p:nvSpPr>
        <p:spPr>
          <a:xfrm>
            <a:off x="1211924" y="1300032"/>
            <a:ext cx="464355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29303C"/>
                </a:solidFill>
                <a:latin typeface="Open Sans"/>
                <a:ea typeface="Open Sans"/>
                <a:cs typeface="Open Sans"/>
                <a:sym typeface="Open Sans"/>
              </a:rPr>
              <a:t>Recordatorios</a:t>
            </a:r>
            <a:endParaRPr b="0" i="0" sz="1400" u="none" cap="none" strike="noStrike">
              <a:solidFill>
                <a:srgbClr val="000000"/>
              </a:solidFill>
              <a:latin typeface="Arial"/>
              <a:ea typeface="Arial"/>
              <a:cs typeface="Arial"/>
              <a:sym typeface="Arial"/>
            </a:endParaRPr>
          </a:p>
        </p:txBody>
      </p:sp>
      <p:sp>
        <p:nvSpPr>
          <p:cNvPr id="132" name="Google Shape;132;p2"/>
          <p:cNvSpPr txBox="1"/>
          <p:nvPr/>
        </p:nvSpPr>
        <p:spPr>
          <a:xfrm>
            <a:off x="1211924" y="4208720"/>
            <a:ext cx="2248057"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29303C"/>
                </a:solidFill>
                <a:latin typeface="Open Sans"/>
                <a:ea typeface="Open Sans"/>
                <a:cs typeface="Open Sans"/>
                <a:sym typeface="Open Sans"/>
              </a:rPr>
              <a:t>Temas</a:t>
            </a:r>
            <a:endParaRPr b="0" i="0" sz="1400" u="none" cap="none" strike="noStrike">
              <a:solidFill>
                <a:srgbClr val="000000"/>
              </a:solidFill>
              <a:latin typeface="Arial"/>
              <a:ea typeface="Arial"/>
              <a:cs typeface="Arial"/>
              <a:sym typeface="Arial"/>
            </a:endParaRPr>
          </a:p>
        </p:txBody>
      </p:sp>
      <p:sp>
        <p:nvSpPr>
          <p:cNvPr id="133" name="Google Shape;133;p2"/>
          <p:cNvSpPr txBox="1"/>
          <p:nvPr/>
        </p:nvSpPr>
        <p:spPr>
          <a:xfrm>
            <a:off x="2366938" y="8243723"/>
            <a:ext cx="7281377"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Servicios clave de Microsoft Azure</a:t>
            </a:r>
            <a:endParaRPr b="0" i="0" sz="1400" u="none" cap="none" strike="noStrike">
              <a:solidFill>
                <a:srgbClr val="000000"/>
              </a:solidFill>
              <a:latin typeface="Arial"/>
              <a:ea typeface="Arial"/>
              <a:cs typeface="Arial"/>
              <a:sym typeface="Arial"/>
            </a:endParaRPr>
          </a:p>
        </p:txBody>
      </p:sp>
      <p:grpSp>
        <p:nvGrpSpPr>
          <p:cNvPr id="134" name="Google Shape;134;p2"/>
          <p:cNvGrpSpPr/>
          <p:nvPr/>
        </p:nvGrpSpPr>
        <p:grpSpPr>
          <a:xfrm>
            <a:off x="10051052" y="5820388"/>
            <a:ext cx="716271" cy="760368"/>
            <a:chOff x="0" y="0"/>
            <a:chExt cx="955028" cy="1013824"/>
          </a:xfrm>
        </p:grpSpPr>
        <p:sp>
          <p:nvSpPr>
            <p:cNvPr id="135" name="Google Shape;135;p2"/>
            <p:cNvSpPr/>
            <p:nvPr/>
          </p:nvSpPr>
          <p:spPr>
            <a:xfrm>
              <a:off x="0" y="0"/>
              <a:ext cx="955028"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txBox="1"/>
            <p:nvPr/>
          </p:nvSpPr>
          <p:spPr>
            <a:xfrm>
              <a:off x="190648" y="64529"/>
              <a:ext cx="5737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grpSp>
      <p:sp>
        <p:nvSpPr>
          <p:cNvPr id="137" name="Google Shape;137;p2"/>
          <p:cNvSpPr txBox="1"/>
          <p:nvPr/>
        </p:nvSpPr>
        <p:spPr>
          <a:xfrm>
            <a:off x="10976981" y="5903233"/>
            <a:ext cx="4752215"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Servicios clave de AWS</a:t>
            </a:r>
            <a:endParaRPr b="0" i="0" sz="1400" u="none" cap="none" strike="noStrike">
              <a:solidFill>
                <a:srgbClr val="000000"/>
              </a:solidFill>
              <a:latin typeface="Arial"/>
              <a:ea typeface="Arial"/>
              <a:cs typeface="Arial"/>
              <a:sym typeface="Arial"/>
            </a:endParaRPr>
          </a:p>
        </p:txBody>
      </p:sp>
      <p:grpSp>
        <p:nvGrpSpPr>
          <p:cNvPr id="138" name="Google Shape;138;p2"/>
          <p:cNvGrpSpPr/>
          <p:nvPr/>
        </p:nvGrpSpPr>
        <p:grpSpPr>
          <a:xfrm>
            <a:off x="10051052" y="6986565"/>
            <a:ext cx="716271" cy="760368"/>
            <a:chOff x="0" y="0"/>
            <a:chExt cx="955028" cy="1013824"/>
          </a:xfrm>
        </p:grpSpPr>
        <p:sp>
          <p:nvSpPr>
            <p:cNvPr id="139" name="Google Shape;139;p2"/>
            <p:cNvSpPr/>
            <p:nvPr/>
          </p:nvSpPr>
          <p:spPr>
            <a:xfrm>
              <a:off x="0" y="0"/>
              <a:ext cx="955028"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txBox="1"/>
            <p:nvPr/>
          </p:nvSpPr>
          <p:spPr>
            <a:xfrm>
              <a:off x="190648" y="64529"/>
              <a:ext cx="5737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grpSp>
      <p:sp>
        <p:nvSpPr>
          <p:cNvPr id="141" name="Google Shape;141;p2"/>
          <p:cNvSpPr txBox="1"/>
          <p:nvPr/>
        </p:nvSpPr>
        <p:spPr>
          <a:xfrm>
            <a:off x="10948298" y="7958366"/>
            <a:ext cx="5732743" cy="1118552"/>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Familiarización con el entorno de Proveedores</a:t>
            </a:r>
            <a:endParaRPr b="0" i="0" sz="1400" u="none" cap="none" strike="noStrike">
              <a:solidFill>
                <a:srgbClr val="000000"/>
              </a:solidFill>
              <a:latin typeface="Arial"/>
              <a:ea typeface="Arial"/>
              <a:cs typeface="Arial"/>
              <a:sym typeface="Arial"/>
            </a:endParaRPr>
          </a:p>
        </p:txBody>
      </p:sp>
      <p:grpSp>
        <p:nvGrpSpPr>
          <p:cNvPr id="142" name="Google Shape;142;p2"/>
          <p:cNvGrpSpPr/>
          <p:nvPr/>
        </p:nvGrpSpPr>
        <p:grpSpPr>
          <a:xfrm>
            <a:off x="10051052" y="8156508"/>
            <a:ext cx="716271" cy="760368"/>
            <a:chOff x="0" y="0"/>
            <a:chExt cx="955028" cy="1013824"/>
          </a:xfrm>
        </p:grpSpPr>
        <p:sp>
          <p:nvSpPr>
            <p:cNvPr id="143" name="Google Shape;143;p2"/>
            <p:cNvSpPr/>
            <p:nvPr/>
          </p:nvSpPr>
          <p:spPr>
            <a:xfrm>
              <a:off x="0" y="0"/>
              <a:ext cx="955028"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txBox="1"/>
            <p:nvPr/>
          </p:nvSpPr>
          <p:spPr>
            <a:xfrm>
              <a:off x="190648" y="64529"/>
              <a:ext cx="5737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grpSp>
      <p:sp>
        <p:nvSpPr>
          <p:cNvPr id="145" name="Google Shape;145;p2"/>
          <p:cNvSpPr txBox="1"/>
          <p:nvPr/>
        </p:nvSpPr>
        <p:spPr>
          <a:xfrm>
            <a:off x="10976981" y="7069410"/>
            <a:ext cx="5606021" cy="556577"/>
          </a:xfrm>
          <a:prstGeom prst="rect">
            <a:avLst/>
          </a:prstGeom>
          <a:noFill/>
          <a:ln>
            <a:noFill/>
          </a:ln>
        </p:spPr>
        <p:txBody>
          <a:bodyPr anchorCtr="0" anchor="t" bIns="0" lIns="0" spcFirstLastPara="1" rIns="0" wrap="square" tIns="0">
            <a:spAutoFit/>
          </a:bodyPr>
          <a:lstStyle/>
          <a:p>
            <a:pPr indent="0" lvl="0" marL="0" marR="0" rtl="0" algn="l">
              <a:lnSpc>
                <a:spcPct val="129985"/>
              </a:lnSpc>
              <a:spcBef>
                <a:spcPts val="0"/>
              </a:spcBef>
              <a:spcAft>
                <a:spcPts val="0"/>
              </a:spcAft>
              <a:buClr>
                <a:srgbClr val="000000"/>
              </a:buClr>
              <a:buSzPts val="3425"/>
              <a:buFont typeface="Arial"/>
              <a:buNone/>
            </a:pPr>
            <a:r>
              <a:rPr b="0" i="0" lang="en-US" sz="3425" u="none" cap="none" strike="noStrike">
                <a:solidFill>
                  <a:srgbClr val="29303C"/>
                </a:solidFill>
                <a:latin typeface="Hammersmith One"/>
                <a:ea typeface="Hammersmith One"/>
                <a:cs typeface="Hammersmith One"/>
                <a:sym typeface="Hammersmith One"/>
              </a:rPr>
              <a:t>Facturación y Presupuesto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
          <p:cNvSpPr txBox="1"/>
          <p:nvPr/>
        </p:nvSpPr>
        <p:spPr>
          <a:xfrm>
            <a:off x="2306103" y="4651375"/>
            <a:ext cx="14481462" cy="965200"/>
          </a:xfrm>
          <a:prstGeom prst="rect">
            <a:avLst/>
          </a:prstGeom>
          <a:noFill/>
          <a:ln>
            <a:noFill/>
          </a:ln>
        </p:spPr>
        <p:txBody>
          <a:bodyPr anchorCtr="0" anchor="t" bIns="0" lIns="0" spcFirstLastPara="1" rIns="0" wrap="square" tIns="0">
            <a:spAutoFit/>
          </a:bodyPr>
          <a:lstStyle/>
          <a:p>
            <a:pPr indent="-215900" lvl="1" marL="431801" marR="0" rtl="0" algn="l">
              <a:lnSpc>
                <a:spcPct val="130000"/>
              </a:lnSpc>
              <a:spcBef>
                <a:spcPts val="0"/>
              </a:spcBef>
              <a:spcAft>
                <a:spcPts val="0"/>
              </a:spcAft>
              <a:buClr>
                <a:srgbClr val="29303C"/>
              </a:buClr>
              <a:buSzPts val="2000"/>
              <a:buFont typeface="Arial"/>
              <a:buChar char="•"/>
            </a:pPr>
            <a:r>
              <a:rPr b="0" i="0" lang="en-US" sz="2000" u="none" cap="none" strike="noStrike">
                <a:solidFill>
                  <a:srgbClr val="29303C"/>
                </a:solidFill>
                <a:latin typeface="Hammersmith One"/>
                <a:ea typeface="Hammersmith One"/>
                <a:cs typeface="Hammersmith One"/>
                <a:sym typeface="Hammersmith One"/>
              </a:rPr>
              <a:t>Explica el concepto de  Cloud Computing, sus modelos de servicio y las ventajas y limitaciones de distintos proveedores Cloud  mediante ejemplos cotidianos, casos de uso empresarial y comparativas para el desarrollo de infraestructuras escalables y rentables. </a:t>
            </a:r>
            <a:endParaRPr b="0" i="0" sz="1400" u="none" cap="none" strike="noStrike">
              <a:solidFill>
                <a:srgbClr val="000000"/>
              </a:solidFill>
              <a:latin typeface="Arial"/>
              <a:ea typeface="Arial"/>
              <a:cs typeface="Arial"/>
              <a:sym typeface="Arial"/>
            </a:endParaRPr>
          </a:p>
        </p:txBody>
      </p:sp>
      <p:sp>
        <p:nvSpPr>
          <p:cNvPr id="151" name="Google Shape;151;p3"/>
          <p:cNvSpPr/>
          <p:nvPr/>
        </p:nvSpPr>
        <p:spPr>
          <a:xfrm rot="5400000">
            <a:off x="12761773" y="4742132"/>
            <a:ext cx="10861953" cy="802736"/>
          </a:xfrm>
          <a:custGeom>
            <a:rect b="b" l="l" r="r" t="t"/>
            <a:pathLst>
              <a:path extrusionOk="0" h="802736" w="10861953">
                <a:moveTo>
                  <a:pt x="0" y="0"/>
                </a:moveTo>
                <a:lnTo>
                  <a:pt x="10861954" y="0"/>
                </a:lnTo>
                <a:lnTo>
                  <a:pt x="10861954" y="802736"/>
                </a:lnTo>
                <a:lnTo>
                  <a:pt x="0" y="802736"/>
                </a:lnTo>
                <a:lnTo>
                  <a:pt x="0" y="0"/>
                </a:lnTo>
                <a:close/>
              </a:path>
            </a:pathLst>
          </a:custGeom>
          <a:blipFill rotWithShape="1">
            <a:blip r:embed="rId3">
              <a:alphaModFix/>
            </a:blip>
            <a:stretch>
              <a:fillRect b="-1042441" l="-169" r="-7084" t="-308517"/>
            </a:stretch>
          </a:blipFill>
          <a:ln>
            <a:noFill/>
          </a:ln>
        </p:spPr>
      </p:sp>
      <p:sp>
        <p:nvSpPr>
          <p:cNvPr id="152" name="Google Shape;152;p3"/>
          <p:cNvSpPr/>
          <p:nvPr/>
        </p:nvSpPr>
        <p:spPr>
          <a:xfrm>
            <a:off x="1248664" y="4565377"/>
            <a:ext cx="1057439" cy="1156245"/>
          </a:xfrm>
          <a:custGeom>
            <a:rect b="b" l="l" r="r" t="t"/>
            <a:pathLst>
              <a:path extrusionOk="0" h="1156245" w="1057439">
                <a:moveTo>
                  <a:pt x="0" y="0"/>
                </a:moveTo>
                <a:lnTo>
                  <a:pt x="1057439" y="0"/>
                </a:lnTo>
                <a:lnTo>
                  <a:pt x="1057439" y="1156246"/>
                </a:lnTo>
                <a:lnTo>
                  <a:pt x="0" y="1156246"/>
                </a:lnTo>
                <a:lnTo>
                  <a:pt x="0" y="0"/>
                </a:lnTo>
                <a:close/>
              </a:path>
            </a:pathLst>
          </a:custGeom>
          <a:blipFill rotWithShape="1">
            <a:blip r:embed="rId4">
              <a:alphaModFix/>
            </a:blip>
            <a:stretch>
              <a:fillRect b="0" l="0" r="0" t="0"/>
            </a:stretch>
          </a:blipFill>
          <a:ln>
            <a:noFill/>
          </a:ln>
        </p:spPr>
      </p:sp>
      <p:sp>
        <p:nvSpPr>
          <p:cNvPr id="153" name="Google Shape;153;p3"/>
          <p:cNvSpPr txBox="1"/>
          <p:nvPr/>
        </p:nvSpPr>
        <p:spPr>
          <a:xfrm>
            <a:off x="2306103" y="2564799"/>
            <a:ext cx="13675794"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29303C"/>
                </a:solidFill>
                <a:latin typeface="Open Sans"/>
                <a:ea typeface="Open Sans"/>
                <a:cs typeface="Open Sans"/>
                <a:sym typeface="Open Sans"/>
              </a:rPr>
              <a:t>COMPETENCIA[S] QUE DESARROLLAREMOS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4"/>
          <p:cNvSpPr/>
          <p:nvPr/>
        </p:nvSpPr>
        <p:spPr>
          <a:xfrm rot="5400000">
            <a:off x="1035086" y="1228236"/>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159" name="Google Shape;159;p4"/>
          <p:cNvSpPr txBox="1"/>
          <p:nvPr/>
        </p:nvSpPr>
        <p:spPr>
          <a:xfrm>
            <a:off x="2004515" y="3794098"/>
            <a:ext cx="8601960" cy="43656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0" i="1" lang="en-US" sz="2499" u="none" cap="none" strike="noStrike">
                <a:solidFill>
                  <a:srgbClr val="29303C"/>
                </a:solidFill>
                <a:latin typeface="Sansita"/>
                <a:ea typeface="Sansita"/>
                <a:cs typeface="Sansita"/>
                <a:sym typeface="Sansita"/>
              </a:rPr>
              <a:t>“Es la </a:t>
            </a:r>
            <a:r>
              <a:rPr b="1" i="1" lang="en-US" sz="2499" u="none" cap="none" strike="noStrike">
                <a:solidFill>
                  <a:srgbClr val="29303C"/>
                </a:solidFill>
                <a:latin typeface="Arial"/>
                <a:ea typeface="Arial"/>
                <a:cs typeface="Arial"/>
                <a:sym typeface="Arial"/>
              </a:rPr>
              <a:t>distribución de recursos de TI</a:t>
            </a:r>
            <a:r>
              <a:rPr b="0" i="1" lang="en-US" sz="2499" u="none" cap="none" strike="noStrike">
                <a:solidFill>
                  <a:srgbClr val="29303C"/>
                </a:solidFill>
                <a:latin typeface="Sansita"/>
                <a:ea typeface="Sansita"/>
                <a:cs typeface="Sansita"/>
                <a:sym typeface="Sansita"/>
              </a:rPr>
              <a:t> bajo demanda a través de Internet mediante un esquema de pago por uso. </a:t>
            </a:r>
            <a:endParaRPr b="0" i="0" sz="1400" u="none" cap="none" strike="noStrike">
              <a:solidFill>
                <a:srgbClr val="000000"/>
              </a:solidFill>
              <a:latin typeface="Arial"/>
              <a:ea typeface="Arial"/>
              <a:cs typeface="Arial"/>
              <a:sym typeface="Arial"/>
            </a:endParaRPr>
          </a:p>
          <a:p>
            <a:pPr indent="0" lvl="0" marL="0" marR="0" rtl="0" algn="l">
              <a:lnSpc>
                <a:spcPct val="140016"/>
              </a:lnSpc>
              <a:spcBef>
                <a:spcPts val="0"/>
              </a:spcBef>
              <a:spcAft>
                <a:spcPts val="0"/>
              </a:spcAft>
              <a:buClr>
                <a:srgbClr val="000000"/>
              </a:buClr>
              <a:buSzPts val="2499"/>
              <a:buFont typeface="Arial"/>
              <a:buNone/>
            </a:pPr>
            <a:r>
              <a:t/>
            </a:r>
            <a:endParaRPr b="0" i="1" sz="2499" u="none" cap="none" strike="noStrike">
              <a:solidFill>
                <a:srgbClr val="29303C"/>
              </a:solidFill>
              <a:latin typeface="Sansita"/>
              <a:ea typeface="Sansita"/>
              <a:cs typeface="Sansita"/>
              <a:sym typeface="Sansita"/>
            </a:endParaRPr>
          </a:p>
          <a:p>
            <a:pPr indent="0" lvl="0" marL="0" marR="0" rtl="0" algn="l">
              <a:lnSpc>
                <a:spcPct val="140016"/>
              </a:lnSpc>
              <a:spcBef>
                <a:spcPts val="0"/>
              </a:spcBef>
              <a:spcAft>
                <a:spcPts val="0"/>
              </a:spcAft>
              <a:buClr>
                <a:srgbClr val="000000"/>
              </a:buClr>
              <a:buSzPts val="2499"/>
              <a:buFont typeface="Arial"/>
              <a:buNone/>
            </a:pPr>
            <a:r>
              <a:rPr b="0" i="1" lang="en-US" sz="2499" u="none" cap="none" strike="noStrike">
                <a:solidFill>
                  <a:srgbClr val="29303C"/>
                </a:solidFill>
                <a:latin typeface="Sansita"/>
                <a:ea typeface="Sansita"/>
                <a:cs typeface="Sansita"/>
                <a:sym typeface="Sansita"/>
              </a:rPr>
              <a:t>En lugar de comprar, poseer y mantener servidores y centros de datos físicos, </a:t>
            </a:r>
            <a:r>
              <a:rPr b="1" i="1" lang="en-US" sz="2499" u="none" cap="none" strike="noStrike">
                <a:solidFill>
                  <a:srgbClr val="29303C"/>
                </a:solidFill>
                <a:latin typeface="Arial"/>
                <a:ea typeface="Arial"/>
                <a:cs typeface="Arial"/>
                <a:sym typeface="Arial"/>
              </a:rPr>
              <a:t>puede acceder a servicios</a:t>
            </a:r>
            <a:r>
              <a:rPr b="0" i="1" lang="en-US" sz="2499" u="none" cap="none" strike="noStrike">
                <a:solidFill>
                  <a:srgbClr val="29303C"/>
                </a:solidFill>
                <a:latin typeface="Sansita"/>
                <a:ea typeface="Sansita"/>
                <a:cs typeface="Sansita"/>
                <a:sym typeface="Sansita"/>
              </a:rPr>
              <a:t> tecnológicos, como capacidad informática, almacenamiento y bases de datos, en función de sus necesidades </a:t>
            </a:r>
            <a:r>
              <a:rPr b="1" i="1" lang="en-US" sz="2499" u="none" cap="none" strike="noStrike">
                <a:solidFill>
                  <a:srgbClr val="29303C"/>
                </a:solidFill>
                <a:latin typeface="Arial"/>
                <a:ea typeface="Arial"/>
                <a:cs typeface="Arial"/>
                <a:sym typeface="Arial"/>
              </a:rPr>
              <a:t>a través de un proveedor de la nube como</a:t>
            </a:r>
            <a:r>
              <a:rPr b="0" i="1" lang="en-US" sz="2499" u="none" cap="none" strike="noStrike">
                <a:solidFill>
                  <a:srgbClr val="29303C"/>
                </a:solidFill>
                <a:latin typeface="Sansita"/>
                <a:ea typeface="Sansita"/>
                <a:cs typeface="Sansita"/>
                <a:sym typeface="Sansita"/>
              </a:rPr>
              <a:t>”</a:t>
            </a:r>
            <a:endParaRPr b="0" i="0" sz="1400" u="none" cap="none" strike="noStrike">
              <a:solidFill>
                <a:srgbClr val="000000"/>
              </a:solidFill>
              <a:latin typeface="Arial"/>
              <a:ea typeface="Arial"/>
              <a:cs typeface="Arial"/>
              <a:sym typeface="Arial"/>
            </a:endParaRPr>
          </a:p>
          <a:p>
            <a:pPr indent="0" lvl="0" marL="0" marR="0" rtl="0" algn="l">
              <a:lnSpc>
                <a:spcPct val="140016"/>
              </a:lnSpc>
              <a:spcBef>
                <a:spcPts val="0"/>
              </a:spcBef>
              <a:spcAft>
                <a:spcPts val="0"/>
              </a:spcAft>
              <a:buClr>
                <a:srgbClr val="000000"/>
              </a:buClr>
              <a:buSzPts val="2499"/>
              <a:buFont typeface="Arial"/>
              <a:buNone/>
            </a:pPr>
            <a:r>
              <a:t/>
            </a:r>
            <a:endParaRPr b="0" i="1" sz="2499" u="none" cap="none" strike="noStrike">
              <a:solidFill>
                <a:srgbClr val="29303C"/>
              </a:solidFill>
              <a:latin typeface="Sansita"/>
              <a:ea typeface="Sansita"/>
              <a:cs typeface="Sansita"/>
              <a:sym typeface="Sansita"/>
            </a:endParaRPr>
          </a:p>
          <a:p>
            <a:pPr indent="0" lvl="0" marL="0" marR="0" rtl="0" algn="l">
              <a:lnSpc>
                <a:spcPct val="140016"/>
              </a:lnSpc>
              <a:spcBef>
                <a:spcPts val="0"/>
              </a:spcBef>
              <a:spcAft>
                <a:spcPts val="0"/>
              </a:spcAft>
              <a:buClr>
                <a:srgbClr val="000000"/>
              </a:buClr>
              <a:buSzPts val="2499"/>
              <a:buFont typeface="Arial"/>
              <a:buNone/>
            </a:pPr>
            <a:r>
              <a:rPr b="0" i="0" lang="en-US" sz="2499" u="none" cap="none" strike="noStrike">
                <a:solidFill>
                  <a:srgbClr val="29303C"/>
                </a:solidFill>
                <a:latin typeface="Arial"/>
                <a:ea typeface="Arial"/>
                <a:cs typeface="Arial"/>
                <a:sym typeface="Arial"/>
              </a:rPr>
              <a:t>- Amazon Web Services</a:t>
            </a:r>
            <a:endParaRPr b="0" i="0" sz="1400" u="none" cap="none" strike="noStrike">
              <a:solidFill>
                <a:srgbClr val="000000"/>
              </a:solidFill>
              <a:latin typeface="Arial"/>
              <a:ea typeface="Arial"/>
              <a:cs typeface="Arial"/>
              <a:sym typeface="Arial"/>
            </a:endParaRPr>
          </a:p>
        </p:txBody>
      </p:sp>
      <p:sp>
        <p:nvSpPr>
          <p:cNvPr id="160" name="Google Shape;160;p4"/>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161" name="Google Shape;161;p4"/>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
        <p:nvSpPr>
          <p:cNvPr id="162" name="Google Shape;162;p4"/>
          <p:cNvSpPr/>
          <p:nvPr/>
        </p:nvSpPr>
        <p:spPr>
          <a:xfrm>
            <a:off x="11286794" y="2263775"/>
            <a:ext cx="5972506" cy="4419654"/>
          </a:xfrm>
          <a:custGeom>
            <a:rect b="b" l="l" r="r" t="t"/>
            <a:pathLst>
              <a:path extrusionOk="0" h="4419654" w="5972506">
                <a:moveTo>
                  <a:pt x="0" y="0"/>
                </a:moveTo>
                <a:lnTo>
                  <a:pt x="5972506" y="0"/>
                </a:lnTo>
                <a:lnTo>
                  <a:pt x="5972506" y="4419654"/>
                </a:lnTo>
                <a:lnTo>
                  <a:pt x="0" y="4419654"/>
                </a:lnTo>
                <a:lnTo>
                  <a:pt x="0" y="0"/>
                </a:lnTo>
                <a:close/>
              </a:path>
            </a:pathLst>
          </a:custGeom>
          <a:blipFill rotWithShape="1">
            <a:blip r:embed="rId6">
              <a:alphaModFix/>
            </a:blip>
            <a:stretch>
              <a:fillRect b="0" l="0" r="0" t="0"/>
            </a:stretch>
          </a:blipFill>
          <a:ln>
            <a:noFill/>
          </a:ln>
        </p:spPr>
      </p:sp>
      <p:sp>
        <p:nvSpPr>
          <p:cNvPr id="163" name="Google Shape;163;p4"/>
          <p:cNvSpPr txBox="1"/>
          <p:nvPr/>
        </p:nvSpPr>
        <p:spPr>
          <a:xfrm>
            <a:off x="2004503" y="889300"/>
            <a:ext cx="9009000" cy="27471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Clr>
                <a:srgbClr val="000000"/>
              </a:buClr>
              <a:buSzPts val="8499"/>
              <a:buFont typeface="Arial"/>
              <a:buNone/>
            </a:pPr>
            <a:r>
              <a:rPr b="0" i="0" lang="en-US" sz="8499" u="none" cap="none" strike="noStrike">
                <a:solidFill>
                  <a:srgbClr val="29303C"/>
                </a:solidFill>
                <a:latin typeface="Hammersmith One"/>
                <a:ea typeface="Hammersmith One"/>
                <a:cs typeface="Hammersmith One"/>
                <a:sym typeface="Hammersmith One"/>
              </a:rPr>
              <a:t>¿QUÉ ES CLOUD COMPUTING?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cxnSp>
        <p:nvCxnSpPr>
          <p:cNvPr id="168" name="Google Shape;168;p5"/>
          <p:cNvCxnSpPr/>
          <p:nvPr/>
        </p:nvCxnSpPr>
        <p:spPr>
          <a:xfrm>
            <a:off x="8547917" y="2973061"/>
            <a:ext cx="8711383" cy="0"/>
          </a:xfrm>
          <a:prstGeom prst="straightConnector1">
            <a:avLst/>
          </a:prstGeom>
          <a:noFill/>
          <a:ln cap="rnd" cmpd="sng" w="19050">
            <a:solidFill>
              <a:srgbClr val="FFB923"/>
            </a:solidFill>
            <a:prstDash val="solid"/>
            <a:round/>
            <a:headEnd len="sm" w="sm" type="none"/>
            <a:tailEnd len="sm" w="sm" type="none"/>
          </a:ln>
        </p:spPr>
      </p:cxnSp>
      <p:cxnSp>
        <p:nvCxnSpPr>
          <p:cNvPr id="169" name="Google Shape;169;p5"/>
          <p:cNvCxnSpPr/>
          <p:nvPr/>
        </p:nvCxnSpPr>
        <p:spPr>
          <a:xfrm>
            <a:off x="8547917" y="6579498"/>
            <a:ext cx="8711383" cy="0"/>
          </a:xfrm>
          <a:prstGeom prst="straightConnector1">
            <a:avLst/>
          </a:prstGeom>
          <a:noFill/>
          <a:ln cap="rnd" cmpd="sng" w="19050">
            <a:solidFill>
              <a:srgbClr val="FFB923"/>
            </a:solidFill>
            <a:prstDash val="solid"/>
            <a:round/>
            <a:headEnd len="sm" w="sm" type="none"/>
            <a:tailEnd len="sm" w="sm" type="none"/>
          </a:ln>
        </p:spPr>
      </p:cxnSp>
      <p:sp>
        <p:nvSpPr>
          <p:cNvPr id="170" name="Google Shape;170;p5"/>
          <p:cNvSpPr/>
          <p:nvPr/>
        </p:nvSpPr>
        <p:spPr>
          <a:xfrm>
            <a:off x="-242146" y="-125588"/>
            <a:ext cx="7408800" cy="10690500"/>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5"/>
          <p:cNvSpPr/>
          <p:nvPr/>
        </p:nvSpPr>
        <p:spPr>
          <a:xfrm>
            <a:off x="814844" y="6383978"/>
            <a:ext cx="3863467" cy="285524"/>
          </a:xfrm>
          <a:custGeom>
            <a:rect b="b" l="l" r="r" t="t"/>
            <a:pathLst>
              <a:path extrusionOk="0" h="285524" w="3863467">
                <a:moveTo>
                  <a:pt x="0" y="0"/>
                </a:moveTo>
                <a:lnTo>
                  <a:pt x="3863468" y="0"/>
                </a:lnTo>
                <a:lnTo>
                  <a:pt x="3863468" y="285524"/>
                </a:lnTo>
                <a:lnTo>
                  <a:pt x="0" y="285524"/>
                </a:lnTo>
                <a:lnTo>
                  <a:pt x="0" y="0"/>
                </a:lnTo>
                <a:close/>
              </a:path>
            </a:pathLst>
          </a:custGeom>
          <a:blipFill rotWithShape="1">
            <a:blip r:embed="rId3">
              <a:alphaModFix/>
            </a:blip>
            <a:stretch>
              <a:fillRect b="-1042441" l="-169" r="-7084" t="-308517"/>
            </a:stretch>
          </a:blipFill>
          <a:ln>
            <a:noFill/>
          </a:ln>
        </p:spPr>
      </p:sp>
      <p:grpSp>
        <p:nvGrpSpPr>
          <p:cNvPr id="172" name="Google Shape;172;p5"/>
          <p:cNvGrpSpPr/>
          <p:nvPr/>
        </p:nvGrpSpPr>
        <p:grpSpPr>
          <a:xfrm>
            <a:off x="8547917" y="886406"/>
            <a:ext cx="8711383" cy="1681540"/>
            <a:chOff x="0" y="-28575"/>
            <a:chExt cx="11615177" cy="2242054"/>
          </a:xfrm>
        </p:grpSpPr>
        <p:sp>
          <p:nvSpPr>
            <p:cNvPr id="173" name="Google Shape;173;p5"/>
            <p:cNvSpPr txBox="1"/>
            <p:nvPr/>
          </p:nvSpPr>
          <p:spPr>
            <a:xfrm>
              <a:off x="0" y="-28575"/>
              <a:ext cx="11615177" cy="73130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Nube Privada</a:t>
              </a:r>
              <a:endParaRPr b="0" i="0" sz="1400" u="none" cap="none" strike="noStrike">
                <a:solidFill>
                  <a:srgbClr val="000000"/>
                </a:solidFill>
                <a:latin typeface="Arial"/>
                <a:ea typeface="Arial"/>
                <a:cs typeface="Arial"/>
                <a:sym typeface="Arial"/>
              </a:endParaRPr>
            </a:p>
          </p:txBody>
        </p:sp>
        <p:sp>
          <p:nvSpPr>
            <p:cNvPr id="174" name="Google Shape;174;p5"/>
            <p:cNvSpPr txBox="1"/>
            <p:nvPr/>
          </p:nvSpPr>
          <p:spPr>
            <a:xfrm>
              <a:off x="0" y="893314"/>
              <a:ext cx="11615177" cy="1320165"/>
            </a:xfrm>
            <a:prstGeom prst="rect">
              <a:avLst/>
            </a:prstGeom>
            <a:noFill/>
            <a:ln>
              <a:noFill/>
            </a:ln>
          </p:spPr>
          <p:txBody>
            <a:bodyPr anchorCtr="0" anchor="t" bIns="0" lIns="0" spcFirstLastPara="1" rIns="0" wrap="square" tIns="0">
              <a:spAutoFit/>
            </a:bodyPr>
            <a:lstStyle/>
            <a:p>
              <a:pPr indent="0" lvl="0" marL="0" marR="0" rtl="0" algn="l">
                <a:lnSpc>
                  <a:spcPct val="139965"/>
                </a:lnSpc>
                <a:spcBef>
                  <a:spcPts val="0"/>
                </a:spcBef>
                <a:spcAft>
                  <a:spcPts val="0"/>
                </a:spcAft>
                <a:buClr>
                  <a:srgbClr val="000000"/>
                </a:buClr>
                <a:buSzPts val="2925"/>
                <a:buFont typeface="Arial"/>
                <a:buNone/>
              </a:pPr>
              <a:r>
                <a:rPr b="0" i="0" lang="en-US" sz="2925" u="none" cap="none" strike="noStrike">
                  <a:solidFill>
                    <a:srgbClr val="29303C"/>
                  </a:solidFill>
                  <a:latin typeface="Arial"/>
                  <a:ea typeface="Arial"/>
                  <a:cs typeface="Arial"/>
                  <a:sym typeface="Arial"/>
                </a:rPr>
                <a:t>Es una infraestructura en la nube dedicada exclusivamente a una organización específica. </a:t>
              </a:r>
              <a:endParaRPr b="0" i="0" sz="1400" u="none" cap="none" strike="noStrike">
                <a:solidFill>
                  <a:srgbClr val="000000"/>
                </a:solidFill>
                <a:latin typeface="Arial"/>
                <a:ea typeface="Arial"/>
                <a:cs typeface="Arial"/>
                <a:sym typeface="Arial"/>
              </a:endParaRPr>
            </a:p>
          </p:txBody>
        </p:sp>
      </p:grpSp>
      <p:grpSp>
        <p:nvGrpSpPr>
          <p:cNvPr id="175" name="Google Shape;175;p5"/>
          <p:cNvGrpSpPr/>
          <p:nvPr/>
        </p:nvGrpSpPr>
        <p:grpSpPr>
          <a:xfrm>
            <a:off x="8547917" y="3345864"/>
            <a:ext cx="8711383" cy="3085473"/>
            <a:chOff x="0" y="-28575"/>
            <a:chExt cx="11615177" cy="4113964"/>
          </a:xfrm>
        </p:grpSpPr>
        <p:sp>
          <p:nvSpPr>
            <p:cNvPr id="176" name="Google Shape;176;p5"/>
            <p:cNvSpPr txBox="1"/>
            <p:nvPr/>
          </p:nvSpPr>
          <p:spPr>
            <a:xfrm>
              <a:off x="0" y="-28575"/>
              <a:ext cx="11615177" cy="73130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Nube Pública</a:t>
              </a:r>
              <a:endParaRPr b="0" i="0" sz="1400" u="none" cap="none" strike="noStrike">
                <a:solidFill>
                  <a:srgbClr val="000000"/>
                </a:solidFill>
                <a:latin typeface="Arial"/>
                <a:ea typeface="Arial"/>
                <a:cs typeface="Arial"/>
                <a:sym typeface="Arial"/>
              </a:endParaRPr>
            </a:p>
          </p:txBody>
        </p:sp>
        <p:sp>
          <p:nvSpPr>
            <p:cNvPr id="177" name="Google Shape;177;p5"/>
            <p:cNvSpPr txBox="1"/>
            <p:nvPr/>
          </p:nvSpPr>
          <p:spPr>
            <a:xfrm>
              <a:off x="0" y="883789"/>
              <a:ext cx="11615100" cy="3201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Son recursos informáticos propiedad de un proveedor externo y se ofrecen a través de internet. Estos recursos son compartidos entre múltiples clientes (Organizaciones o individuos)</a:t>
              </a:r>
              <a:endParaRPr b="0" i="0" sz="1400" u="none" cap="none" strike="noStrike">
                <a:solidFill>
                  <a:srgbClr val="000000"/>
                </a:solidFill>
                <a:latin typeface="Arial"/>
                <a:ea typeface="Arial"/>
                <a:cs typeface="Arial"/>
                <a:sym typeface="Arial"/>
              </a:endParaRPr>
            </a:p>
          </p:txBody>
        </p:sp>
      </p:grpSp>
      <p:grpSp>
        <p:nvGrpSpPr>
          <p:cNvPr id="178" name="Google Shape;178;p5"/>
          <p:cNvGrpSpPr/>
          <p:nvPr/>
        </p:nvGrpSpPr>
        <p:grpSpPr>
          <a:xfrm>
            <a:off x="8547917" y="7007165"/>
            <a:ext cx="8711383" cy="2439048"/>
            <a:chOff x="0" y="-28575"/>
            <a:chExt cx="11615177" cy="3252064"/>
          </a:xfrm>
        </p:grpSpPr>
        <p:sp>
          <p:nvSpPr>
            <p:cNvPr id="179" name="Google Shape;179;p5"/>
            <p:cNvSpPr txBox="1"/>
            <p:nvPr/>
          </p:nvSpPr>
          <p:spPr>
            <a:xfrm>
              <a:off x="0" y="-28575"/>
              <a:ext cx="11615177" cy="73130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Nube Híbrida</a:t>
              </a:r>
              <a:endParaRPr b="0" i="0" sz="1400" u="none" cap="none" strike="noStrike">
                <a:solidFill>
                  <a:srgbClr val="000000"/>
                </a:solidFill>
                <a:latin typeface="Arial"/>
                <a:ea typeface="Arial"/>
                <a:cs typeface="Arial"/>
                <a:sym typeface="Arial"/>
              </a:endParaRPr>
            </a:p>
          </p:txBody>
        </p:sp>
        <p:sp>
          <p:nvSpPr>
            <p:cNvPr id="180" name="Google Shape;180;p5"/>
            <p:cNvSpPr txBox="1"/>
            <p:nvPr/>
          </p:nvSpPr>
          <p:spPr>
            <a:xfrm>
              <a:off x="0" y="883789"/>
              <a:ext cx="11615100" cy="2339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29303C"/>
                  </a:solidFill>
                  <a:latin typeface="Arial"/>
                  <a:ea typeface="Arial"/>
                  <a:cs typeface="Arial"/>
                  <a:sym typeface="Arial"/>
                </a:rPr>
                <a:t>Es una combinación de elementos de las nubes públicas y privada. Permitiendo que datos y aplicaciones puedan compartirse entre ellas</a:t>
              </a:r>
              <a:endParaRPr b="0" i="0" sz="1400" u="none" cap="none" strike="noStrike">
                <a:solidFill>
                  <a:srgbClr val="000000"/>
                </a:solidFill>
                <a:latin typeface="Arial"/>
                <a:ea typeface="Arial"/>
                <a:cs typeface="Arial"/>
                <a:sym typeface="Arial"/>
              </a:endParaRPr>
            </a:p>
          </p:txBody>
        </p:sp>
      </p:grpSp>
      <p:sp>
        <p:nvSpPr>
          <p:cNvPr id="181" name="Google Shape;181;p5"/>
          <p:cNvSpPr txBox="1"/>
          <p:nvPr/>
        </p:nvSpPr>
        <p:spPr>
          <a:xfrm>
            <a:off x="814769" y="3106741"/>
            <a:ext cx="5295000" cy="3262800"/>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Clr>
                <a:srgbClr val="000000"/>
              </a:buClr>
              <a:buSzPts val="6624"/>
              <a:buFont typeface="Arial"/>
              <a:buNone/>
            </a:pPr>
            <a:r>
              <a:rPr b="0" i="0" lang="en-US" sz="6624" u="none" cap="none" strike="noStrike">
                <a:solidFill>
                  <a:srgbClr val="FFFFFF"/>
                </a:solidFill>
                <a:latin typeface="Hammersmith One"/>
                <a:ea typeface="Hammersmith One"/>
                <a:cs typeface="Hammersmith One"/>
                <a:sym typeface="Hammersmith One"/>
              </a:rPr>
              <a:t>MODELOS DE DESPLIEGUE DEL CLOUD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nvSpPr>
        <p:spPr>
          <a:xfrm>
            <a:off x="1310054" y="1540038"/>
            <a:ext cx="5358300" cy="5372100"/>
          </a:xfrm>
          <a:prstGeom prst="rect">
            <a:avLst/>
          </a:prstGeom>
          <a:noFill/>
          <a:ln>
            <a:noFill/>
          </a:ln>
        </p:spPr>
        <p:txBody>
          <a:bodyPr anchorCtr="0" anchor="t" bIns="0" lIns="0" spcFirstLastPara="1" rIns="0" wrap="square" tIns="0">
            <a:spAutoFit/>
          </a:bodyPr>
          <a:lstStyle/>
          <a:p>
            <a:pPr indent="0" lvl="0" marL="0" marR="0" rtl="0" algn="l">
              <a:lnSpc>
                <a:spcPct val="109991"/>
              </a:lnSpc>
              <a:spcBef>
                <a:spcPts val="0"/>
              </a:spcBef>
              <a:spcAft>
                <a:spcPts val="0"/>
              </a:spcAft>
              <a:buClr>
                <a:srgbClr val="000000"/>
              </a:buClr>
              <a:buSzPts val="8117"/>
              <a:buFont typeface="Arial"/>
              <a:buNone/>
            </a:pPr>
            <a:r>
              <a:rPr b="0" i="0" lang="en-US" sz="8117" u="none" cap="none" strike="noStrike">
                <a:solidFill>
                  <a:srgbClr val="29303C"/>
                </a:solidFill>
                <a:latin typeface="Hammersmith One"/>
                <a:ea typeface="Hammersmith One"/>
                <a:cs typeface="Hammersmith One"/>
                <a:sym typeface="Hammersmith One"/>
              </a:rPr>
              <a:t>¿Qué problemas Resuelve Cloud?</a:t>
            </a:r>
            <a:endParaRPr b="0" i="0" sz="1400" u="none" cap="none" strike="noStrike">
              <a:solidFill>
                <a:srgbClr val="000000"/>
              </a:solidFill>
              <a:latin typeface="Arial"/>
              <a:ea typeface="Arial"/>
              <a:cs typeface="Arial"/>
              <a:sym typeface="Arial"/>
            </a:endParaRPr>
          </a:p>
        </p:txBody>
      </p:sp>
      <p:sp>
        <p:nvSpPr>
          <p:cNvPr id="187" name="Google Shape;187;p6"/>
          <p:cNvSpPr/>
          <p:nvPr/>
        </p:nvSpPr>
        <p:spPr>
          <a:xfrm>
            <a:off x="1310054" y="7090801"/>
            <a:ext cx="5157894" cy="381186"/>
          </a:xfrm>
          <a:custGeom>
            <a:rect b="b" l="l" r="r" t="t"/>
            <a:pathLst>
              <a:path extrusionOk="0" h="381186" w="5157894">
                <a:moveTo>
                  <a:pt x="0" y="0"/>
                </a:moveTo>
                <a:lnTo>
                  <a:pt x="5157893" y="0"/>
                </a:lnTo>
                <a:lnTo>
                  <a:pt x="5157893" y="381186"/>
                </a:lnTo>
                <a:lnTo>
                  <a:pt x="0" y="381186"/>
                </a:lnTo>
                <a:lnTo>
                  <a:pt x="0" y="0"/>
                </a:lnTo>
                <a:close/>
              </a:path>
            </a:pathLst>
          </a:custGeom>
          <a:blipFill rotWithShape="1">
            <a:blip r:embed="rId3">
              <a:alphaModFix/>
            </a:blip>
            <a:stretch>
              <a:fillRect b="-1042441" l="-169" r="-7084" t="-308517"/>
            </a:stretch>
          </a:blipFill>
          <a:ln>
            <a:noFill/>
          </a:ln>
        </p:spPr>
      </p:sp>
      <p:grpSp>
        <p:nvGrpSpPr>
          <p:cNvPr id="188" name="Google Shape;188;p6"/>
          <p:cNvGrpSpPr/>
          <p:nvPr/>
        </p:nvGrpSpPr>
        <p:grpSpPr>
          <a:xfrm>
            <a:off x="8206148" y="1118104"/>
            <a:ext cx="8771798" cy="682626"/>
            <a:chOff x="0" y="-38100"/>
            <a:chExt cx="11695731" cy="910167"/>
          </a:xfrm>
        </p:grpSpPr>
        <p:sp>
          <p:nvSpPr>
            <p:cNvPr id="189" name="Google Shape;189;p6"/>
            <p:cNvSpPr/>
            <p:nvPr/>
          </p:nvSpPr>
          <p:spPr>
            <a:xfrm rot="5400000">
              <a:off x="226" y="-226"/>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8" r="-30" t="0"/>
              </a:stretch>
            </a:blipFill>
            <a:ln>
              <a:noFill/>
            </a:ln>
          </p:spPr>
        </p:sp>
        <p:sp>
          <p:nvSpPr>
            <p:cNvPr id="190" name="Google Shape;190;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Clr>
                  <a:srgbClr val="000000"/>
                </a:buClr>
                <a:buSzPts val="1999"/>
                <a:buFont typeface="Arial"/>
                <a:buNone/>
              </a:pPr>
              <a:r>
                <a:rPr b="1" i="0" lang="en-US" sz="1999" u="none" cap="none" strike="noStrike">
                  <a:solidFill>
                    <a:srgbClr val="29303C"/>
                  </a:solidFill>
                  <a:latin typeface="Arial"/>
                  <a:ea typeface="Arial"/>
                  <a:cs typeface="Arial"/>
                  <a:sym typeface="Arial"/>
                </a:rPr>
                <a:t>Flexibilidad:</a:t>
              </a:r>
              <a:r>
                <a:rPr b="0" i="0" lang="en-US" sz="1999" u="none" cap="none" strike="noStrike">
                  <a:solidFill>
                    <a:srgbClr val="29303C"/>
                  </a:solidFill>
                  <a:latin typeface="Arial"/>
                  <a:ea typeface="Arial"/>
                  <a:cs typeface="Arial"/>
                  <a:sym typeface="Arial"/>
                </a:rPr>
                <a:t> Se pueden cambiar los tipos de recursos cuando sea necesario.</a:t>
              </a:r>
              <a:endParaRPr b="0" i="0" sz="1400" u="none" cap="none" strike="noStrike">
                <a:solidFill>
                  <a:srgbClr val="000000"/>
                </a:solidFill>
                <a:latin typeface="Arial"/>
                <a:ea typeface="Arial"/>
                <a:cs typeface="Arial"/>
                <a:sym typeface="Arial"/>
              </a:endParaRPr>
            </a:p>
          </p:txBody>
        </p:sp>
      </p:grpSp>
      <p:grpSp>
        <p:nvGrpSpPr>
          <p:cNvPr id="191" name="Google Shape;191;p6"/>
          <p:cNvGrpSpPr/>
          <p:nvPr/>
        </p:nvGrpSpPr>
        <p:grpSpPr>
          <a:xfrm>
            <a:off x="8206148" y="2229354"/>
            <a:ext cx="8771798" cy="458043"/>
            <a:chOff x="0" y="-38100"/>
            <a:chExt cx="11695731" cy="610723"/>
          </a:xfrm>
        </p:grpSpPr>
        <p:sp>
          <p:nvSpPr>
            <p:cNvPr id="192" name="Google Shape;192;p6"/>
            <p:cNvSpPr/>
            <p:nvPr/>
          </p:nvSpPr>
          <p:spPr>
            <a:xfrm rot="5400000">
              <a:off x="226" y="40137"/>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8" r="-30" t="0"/>
              </a:stretch>
            </a:blipFill>
            <a:ln>
              <a:noFill/>
            </a:ln>
          </p:spPr>
        </p:sp>
        <p:sp>
          <p:nvSpPr>
            <p:cNvPr id="193" name="Google Shape;193;p6"/>
            <p:cNvSpPr txBox="1"/>
            <p:nvPr/>
          </p:nvSpPr>
          <p:spPr>
            <a:xfrm>
              <a:off x="1093551" y="-38100"/>
              <a:ext cx="10602180" cy="4402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Clr>
                  <a:srgbClr val="000000"/>
                </a:buClr>
                <a:buSzPts val="1999"/>
                <a:buFont typeface="Arial"/>
                <a:buNone/>
              </a:pPr>
              <a:r>
                <a:rPr b="1" i="0" lang="en-US" sz="1999" u="none" cap="none" strike="noStrike">
                  <a:solidFill>
                    <a:srgbClr val="29303C"/>
                  </a:solidFill>
                  <a:latin typeface="Arial"/>
                  <a:ea typeface="Arial"/>
                  <a:cs typeface="Arial"/>
                  <a:sym typeface="Arial"/>
                </a:rPr>
                <a:t>Rentabilidad:</a:t>
              </a:r>
              <a:r>
                <a:rPr b="0" i="0" lang="en-US" sz="1999" u="none" cap="none" strike="noStrike">
                  <a:solidFill>
                    <a:srgbClr val="29303C"/>
                  </a:solidFill>
                  <a:latin typeface="Arial"/>
                  <a:ea typeface="Arial"/>
                  <a:cs typeface="Arial"/>
                  <a:sym typeface="Arial"/>
                </a:rPr>
                <a:t> Únicamente se paga por lo que se usa.</a:t>
              </a:r>
              <a:endParaRPr b="0" i="0" sz="1400" u="none" cap="none" strike="noStrike">
                <a:solidFill>
                  <a:srgbClr val="000000"/>
                </a:solidFill>
                <a:latin typeface="Arial"/>
                <a:ea typeface="Arial"/>
                <a:cs typeface="Arial"/>
                <a:sym typeface="Arial"/>
              </a:endParaRPr>
            </a:p>
          </p:txBody>
        </p:sp>
      </p:grpSp>
      <p:grpSp>
        <p:nvGrpSpPr>
          <p:cNvPr id="194" name="Google Shape;194;p6"/>
          <p:cNvGrpSpPr/>
          <p:nvPr/>
        </p:nvGrpSpPr>
        <p:grpSpPr>
          <a:xfrm>
            <a:off x="8206148" y="3249372"/>
            <a:ext cx="8771798" cy="682625"/>
            <a:chOff x="0" y="-38100"/>
            <a:chExt cx="11695731" cy="910167"/>
          </a:xfrm>
        </p:grpSpPr>
        <p:sp>
          <p:nvSpPr>
            <p:cNvPr id="195" name="Google Shape;195;p6"/>
            <p:cNvSpPr/>
            <p:nvPr/>
          </p:nvSpPr>
          <p:spPr>
            <a:xfrm rot="5400000">
              <a:off x="226" y="-226"/>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8" r="-30" t="0"/>
              </a:stretch>
            </a:blipFill>
            <a:ln>
              <a:noFill/>
            </a:ln>
          </p:spPr>
        </p:sp>
        <p:sp>
          <p:nvSpPr>
            <p:cNvPr id="196" name="Google Shape;196;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Clr>
                  <a:srgbClr val="000000"/>
                </a:buClr>
                <a:buSzPts val="1999"/>
                <a:buFont typeface="Arial"/>
                <a:buNone/>
              </a:pPr>
              <a:r>
                <a:rPr b="1" i="0" lang="en-US" sz="1999" u="none" cap="none" strike="noStrike">
                  <a:solidFill>
                    <a:srgbClr val="29303C"/>
                  </a:solidFill>
                  <a:latin typeface="Arial"/>
                  <a:ea typeface="Arial"/>
                  <a:cs typeface="Arial"/>
                  <a:sym typeface="Arial"/>
                </a:rPr>
                <a:t>Escalabilidad: </a:t>
              </a:r>
              <a:r>
                <a:rPr b="0" i="0" lang="en-US" sz="1999" u="none" cap="none" strike="noStrike">
                  <a:solidFill>
                    <a:srgbClr val="29303C"/>
                  </a:solidFill>
                  <a:latin typeface="Arial"/>
                  <a:ea typeface="Arial"/>
                  <a:cs typeface="Arial"/>
                  <a:sym typeface="Arial"/>
                </a:rPr>
                <a:t>Es posible acomodar mayores cargas reforzando el hardware o añadiendo nodos adicionales</a:t>
              </a:r>
              <a:endParaRPr b="0" i="0" sz="1400" u="none" cap="none" strike="noStrike">
                <a:solidFill>
                  <a:srgbClr val="000000"/>
                </a:solidFill>
                <a:latin typeface="Arial"/>
                <a:ea typeface="Arial"/>
                <a:cs typeface="Arial"/>
                <a:sym typeface="Arial"/>
              </a:endParaRPr>
            </a:p>
          </p:txBody>
        </p:sp>
      </p:grpSp>
      <p:grpSp>
        <p:nvGrpSpPr>
          <p:cNvPr id="197" name="Google Shape;197;p6"/>
          <p:cNvGrpSpPr/>
          <p:nvPr/>
        </p:nvGrpSpPr>
        <p:grpSpPr>
          <a:xfrm>
            <a:off x="8206148" y="4616725"/>
            <a:ext cx="8771798" cy="682626"/>
            <a:chOff x="0" y="-38100"/>
            <a:chExt cx="11695731" cy="910167"/>
          </a:xfrm>
        </p:grpSpPr>
        <p:sp>
          <p:nvSpPr>
            <p:cNvPr id="198" name="Google Shape;198;p6"/>
            <p:cNvSpPr/>
            <p:nvPr/>
          </p:nvSpPr>
          <p:spPr>
            <a:xfrm rot="5400000">
              <a:off x="226" y="-226"/>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8" r="-30" t="0"/>
              </a:stretch>
            </a:blipFill>
            <a:ln>
              <a:noFill/>
            </a:ln>
          </p:spPr>
        </p:sp>
        <p:sp>
          <p:nvSpPr>
            <p:cNvPr id="199" name="Google Shape;199;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Clr>
                  <a:srgbClr val="000000"/>
                </a:buClr>
                <a:buSzPts val="1999"/>
                <a:buFont typeface="Arial"/>
                <a:buNone/>
              </a:pPr>
              <a:r>
                <a:rPr b="1" i="0" lang="en-US" sz="1999" u="none" cap="none" strike="noStrike">
                  <a:solidFill>
                    <a:srgbClr val="29303C"/>
                  </a:solidFill>
                  <a:latin typeface="Arial"/>
                  <a:ea typeface="Arial"/>
                  <a:cs typeface="Arial"/>
                  <a:sym typeface="Arial"/>
                </a:rPr>
                <a:t>Elasticidad: </a:t>
              </a:r>
              <a:r>
                <a:rPr b="0" i="0" lang="en-US" sz="1999" u="none" cap="none" strike="noStrike">
                  <a:solidFill>
                    <a:srgbClr val="29303C"/>
                  </a:solidFill>
                  <a:latin typeface="Arial"/>
                  <a:ea typeface="Arial"/>
                  <a:cs typeface="Arial"/>
                  <a:sym typeface="Arial"/>
                </a:rPr>
                <a:t> Se tiene la capacidad de reducir y aumentar la escala cuando sea necesario</a:t>
              </a:r>
              <a:endParaRPr b="0" i="0" sz="1400" u="none" cap="none" strike="noStrike">
                <a:solidFill>
                  <a:srgbClr val="000000"/>
                </a:solidFill>
                <a:latin typeface="Arial"/>
                <a:ea typeface="Arial"/>
                <a:cs typeface="Arial"/>
                <a:sym typeface="Arial"/>
              </a:endParaRPr>
            </a:p>
          </p:txBody>
        </p:sp>
      </p:grpSp>
      <p:grpSp>
        <p:nvGrpSpPr>
          <p:cNvPr id="200" name="Google Shape;200;p6"/>
          <p:cNvGrpSpPr/>
          <p:nvPr/>
        </p:nvGrpSpPr>
        <p:grpSpPr>
          <a:xfrm>
            <a:off x="8206148" y="5861325"/>
            <a:ext cx="8771798" cy="682626"/>
            <a:chOff x="0" y="-38100"/>
            <a:chExt cx="11695731" cy="910167"/>
          </a:xfrm>
        </p:grpSpPr>
        <p:sp>
          <p:nvSpPr>
            <p:cNvPr id="201" name="Google Shape;201;p6"/>
            <p:cNvSpPr/>
            <p:nvPr/>
          </p:nvSpPr>
          <p:spPr>
            <a:xfrm rot="5400000">
              <a:off x="226" y="12474"/>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8" r="-30" t="0"/>
              </a:stretch>
            </a:blipFill>
            <a:ln>
              <a:noFill/>
            </a:ln>
          </p:spPr>
        </p:sp>
        <p:sp>
          <p:nvSpPr>
            <p:cNvPr id="202" name="Google Shape;202;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Clr>
                  <a:srgbClr val="000000"/>
                </a:buClr>
                <a:buSzPts val="1999"/>
                <a:buFont typeface="Arial"/>
                <a:buNone/>
              </a:pPr>
              <a:r>
                <a:rPr b="1" i="0" lang="en-US" sz="1999" u="none" cap="none" strike="noStrike">
                  <a:solidFill>
                    <a:srgbClr val="29303C"/>
                  </a:solidFill>
                  <a:latin typeface="Arial"/>
                  <a:ea typeface="Arial"/>
                  <a:cs typeface="Arial"/>
                  <a:sym typeface="Arial"/>
                </a:rPr>
                <a:t>Alta disponibilidad y tolerancia a los fallos</a:t>
              </a:r>
              <a:r>
                <a:rPr b="0" i="0" lang="en-US" sz="1999" u="none" cap="none" strike="noStrike">
                  <a:solidFill>
                    <a:srgbClr val="29303C"/>
                  </a:solidFill>
                  <a:latin typeface="Arial"/>
                  <a:ea typeface="Arial"/>
                  <a:cs typeface="Arial"/>
                  <a:sym typeface="Arial"/>
                </a:rPr>
                <a:t>: Se construye a través de los centros de datos (data centers) de los proveedores.</a:t>
              </a:r>
              <a:endParaRPr b="0" i="0" sz="1400" u="none" cap="none" strike="noStrike">
                <a:solidFill>
                  <a:srgbClr val="000000"/>
                </a:solidFill>
                <a:latin typeface="Arial"/>
                <a:ea typeface="Arial"/>
                <a:cs typeface="Arial"/>
                <a:sym typeface="Arial"/>
              </a:endParaRPr>
            </a:p>
          </p:txBody>
        </p:sp>
      </p:grpSp>
      <p:grpSp>
        <p:nvGrpSpPr>
          <p:cNvPr id="203" name="Google Shape;203;p6"/>
          <p:cNvGrpSpPr/>
          <p:nvPr/>
        </p:nvGrpSpPr>
        <p:grpSpPr>
          <a:xfrm>
            <a:off x="8206148" y="7252819"/>
            <a:ext cx="8771798" cy="682626"/>
            <a:chOff x="0" y="-38100"/>
            <a:chExt cx="11695731" cy="910167"/>
          </a:xfrm>
        </p:grpSpPr>
        <p:sp>
          <p:nvSpPr>
            <p:cNvPr id="204" name="Google Shape;204;p6"/>
            <p:cNvSpPr/>
            <p:nvPr/>
          </p:nvSpPr>
          <p:spPr>
            <a:xfrm rot="5400000">
              <a:off x="226" y="40137"/>
              <a:ext cx="532260" cy="532712"/>
            </a:xfrm>
            <a:custGeom>
              <a:rect b="b" l="l" r="r" t="t"/>
              <a:pathLst>
                <a:path extrusionOk="0" h="532712" w="532260">
                  <a:moveTo>
                    <a:pt x="0" y="0"/>
                  </a:moveTo>
                  <a:lnTo>
                    <a:pt x="532260" y="0"/>
                  </a:lnTo>
                  <a:lnTo>
                    <a:pt x="532260" y="532712"/>
                  </a:lnTo>
                  <a:lnTo>
                    <a:pt x="0" y="532712"/>
                  </a:lnTo>
                  <a:lnTo>
                    <a:pt x="0" y="0"/>
                  </a:lnTo>
                  <a:close/>
                </a:path>
              </a:pathLst>
            </a:custGeom>
            <a:blipFill rotWithShape="1">
              <a:blip r:embed="rId4">
                <a:alphaModFix/>
              </a:blip>
              <a:stretch>
                <a:fillRect b="0" l="-48" r="-30" t="0"/>
              </a:stretch>
            </a:blipFill>
            <a:ln>
              <a:noFill/>
            </a:ln>
          </p:spPr>
        </p:sp>
        <p:sp>
          <p:nvSpPr>
            <p:cNvPr id="205" name="Google Shape;205;p6"/>
            <p:cNvSpPr txBox="1"/>
            <p:nvPr/>
          </p:nvSpPr>
          <p:spPr>
            <a:xfrm>
              <a:off x="1093551" y="-38100"/>
              <a:ext cx="10602180"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Clr>
                  <a:srgbClr val="000000"/>
                </a:buClr>
                <a:buSzPts val="1999"/>
                <a:buFont typeface="Arial"/>
                <a:buNone/>
              </a:pPr>
              <a:r>
                <a:rPr b="1" i="0" lang="en-US" sz="1999" u="none" cap="none" strike="noStrike">
                  <a:solidFill>
                    <a:srgbClr val="29303C"/>
                  </a:solidFill>
                  <a:latin typeface="Arial"/>
                  <a:ea typeface="Arial"/>
                  <a:cs typeface="Arial"/>
                  <a:sym typeface="Arial"/>
                </a:rPr>
                <a:t>Agilidad: </a:t>
              </a:r>
              <a:r>
                <a:rPr b="0" i="0" lang="en-US" sz="1999" u="none" cap="none" strike="noStrike">
                  <a:solidFill>
                    <a:srgbClr val="29303C"/>
                  </a:solidFill>
                  <a:latin typeface="Arial"/>
                  <a:ea typeface="Arial"/>
                  <a:cs typeface="Arial"/>
                  <a:sym typeface="Arial"/>
                </a:rPr>
                <a:t>Es posible desarrollar, testear y lanzar rápidamente aplicaciones de software</a:t>
              </a:r>
              <a:endParaRPr b="0" i="0" sz="1400" u="none" cap="none" strike="noStrike">
                <a:solidFill>
                  <a:srgbClr val="000000"/>
                </a:solidFill>
                <a:latin typeface="Arial"/>
                <a:ea typeface="Arial"/>
                <a:cs typeface="Arial"/>
                <a:sym typeface="Arial"/>
              </a:endParaRPr>
            </a:p>
          </p:txBody>
        </p:sp>
      </p:grpSp>
      <p:sp>
        <p:nvSpPr>
          <p:cNvPr id="206" name="Google Shape;206;p6"/>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5">
              <a:alphaModFix/>
            </a:blip>
            <a:stretch>
              <a:fillRect b="0" l="0" r="0" t="0"/>
            </a:stretch>
          </a:blipFill>
          <a:ln>
            <a:noFill/>
          </a:ln>
        </p:spPr>
      </p:sp>
      <p:sp>
        <p:nvSpPr>
          <p:cNvPr id="207" name="Google Shape;207;p6"/>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6">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grpSp>
        <p:nvGrpSpPr>
          <p:cNvPr id="212" name="Google Shape;212;p7"/>
          <p:cNvGrpSpPr/>
          <p:nvPr/>
        </p:nvGrpSpPr>
        <p:grpSpPr>
          <a:xfrm>
            <a:off x="1028700" y="1078706"/>
            <a:ext cx="7230691" cy="1725941"/>
            <a:chOff x="0" y="66675"/>
            <a:chExt cx="9640922" cy="2301255"/>
          </a:xfrm>
        </p:grpSpPr>
        <p:sp>
          <p:nvSpPr>
            <p:cNvPr id="213" name="Google Shape;213;p7"/>
            <p:cNvSpPr txBox="1"/>
            <p:nvPr/>
          </p:nvSpPr>
          <p:spPr>
            <a:xfrm>
              <a:off x="0" y="66675"/>
              <a:ext cx="9640922" cy="1152948"/>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Clr>
                  <a:srgbClr val="000000"/>
                </a:buClr>
                <a:buSzPts val="6024"/>
                <a:buFont typeface="Arial"/>
                <a:buNone/>
              </a:pPr>
              <a:r>
                <a:rPr b="0" i="0" lang="en-US" sz="6024" u="none" cap="none" strike="noStrike">
                  <a:solidFill>
                    <a:srgbClr val="29303C"/>
                  </a:solidFill>
                  <a:latin typeface="Hammersmith One"/>
                  <a:ea typeface="Hammersmith One"/>
                  <a:cs typeface="Hammersmith One"/>
                  <a:sym typeface="Hammersmith One"/>
                </a:rPr>
                <a:t>CARACTERÍSTICAS</a:t>
              </a:r>
              <a:endParaRPr b="0" i="0" sz="1400" u="none" cap="none" strike="noStrike">
                <a:solidFill>
                  <a:srgbClr val="000000"/>
                </a:solidFill>
                <a:latin typeface="Arial"/>
                <a:ea typeface="Arial"/>
                <a:cs typeface="Arial"/>
                <a:sym typeface="Arial"/>
              </a:endParaRPr>
            </a:p>
          </p:txBody>
        </p:sp>
        <p:sp>
          <p:nvSpPr>
            <p:cNvPr id="214" name="Google Shape;214;p7"/>
            <p:cNvSpPr/>
            <p:nvPr/>
          </p:nvSpPr>
          <p:spPr>
            <a:xfrm>
              <a:off x="0" y="1934553"/>
              <a:ext cx="5864091" cy="433377"/>
            </a:xfrm>
            <a:custGeom>
              <a:rect b="b" l="l" r="r" t="t"/>
              <a:pathLst>
                <a:path extrusionOk="0" h="433377" w="5864091">
                  <a:moveTo>
                    <a:pt x="0" y="0"/>
                  </a:moveTo>
                  <a:lnTo>
                    <a:pt x="5864091" y="0"/>
                  </a:lnTo>
                  <a:lnTo>
                    <a:pt x="5864091" y="433377"/>
                  </a:lnTo>
                  <a:lnTo>
                    <a:pt x="0" y="433377"/>
                  </a:lnTo>
                  <a:lnTo>
                    <a:pt x="0" y="0"/>
                  </a:lnTo>
                  <a:close/>
                </a:path>
              </a:pathLst>
            </a:custGeom>
            <a:blipFill rotWithShape="1">
              <a:blip r:embed="rId3">
                <a:alphaModFix/>
              </a:blip>
              <a:stretch>
                <a:fillRect b="-1042441" l="-169" r="-7084" t="-308517"/>
              </a:stretch>
            </a:blipFill>
            <a:ln>
              <a:noFill/>
            </a:ln>
          </p:spPr>
        </p:sp>
      </p:grpSp>
      <p:grpSp>
        <p:nvGrpSpPr>
          <p:cNvPr id="215" name="Google Shape;215;p7"/>
          <p:cNvGrpSpPr/>
          <p:nvPr/>
        </p:nvGrpSpPr>
        <p:grpSpPr>
          <a:xfrm>
            <a:off x="1028700" y="4786337"/>
            <a:ext cx="4005225" cy="4837961"/>
            <a:chOff x="0" y="-28575"/>
            <a:chExt cx="5340300" cy="6450614"/>
          </a:xfrm>
        </p:grpSpPr>
        <p:sp>
          <p:nvSpPr>
            <p:cNvPr id="216" name="Google Shape;216;p7"/>
            <p:cNvSpPr txBox="1"/>
            <p:nvPr/>
          </p:nvSpPr>
          <p:spPr>
            <a:xfrm>
              <a:off x="0" y="-28575"/>
              <a:ext cx="5340153" cy="731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NUBE PRIVADA</a:t>
              </a:r>
              <a:endParaRPr b="0" i="0" sz="1400" u="none" cap="none" strike="noStrike">
                <a:solidFill>
                  <a:srgbClr val="000000"/>
                </a:solidFill>
                <a:latin typeface="Arial"/>
                <a:ea typeface="Arial"/>
                <a:cs typeface="Arial"/>
                <a:sym typeface="Arial"/>
              </a:endParaRPr>
            </a:p>
          </p:txBody>
        </p:sp>
        <p:sp>
          <p:nvSpPr>
            <p:cNvPr id="217" name="Google Shape;217;p7"/>
            <p:cNvSpPr txBox="1"/>
            <p:nvPr/>
          </p:nvSpPr>
          <p:spPr>
            <a:xfrm>
              <a:off x="0" y="915539"/>
              <a:ext cx="5340300" cy="550650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Acceso restringido para una única organización.</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Seguridad al tener recursos dedicados.</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Personalización sobre la configuración de la infraestructura</a:t>
              </a:r>
              <a:endParaRPr b="0" i="0" sz="1400" u="none" cap="none" strike="noStrike">
                <a:solidFill>
                  <a:srgbClr val="000000"/>
                </a:solidFill>
                <a:latin typeface="Arial"/>
                <a:ea typeface="Arial"/>
                <a:cs typeface="Arial"/>
                <a:sym typeface="Arial"/>
              </a:endParaRPr>
            </a:p>
          </p:txBody>
        </p:sp>
      </p:grpSp>
      <p:grpSp>
        <p:nvGrpSpPr>
          <p:cNvPr id="218" name="Google Shape;218;p7"/>
          <p:cNvGrpSpPr/>
          <p:nvPr/>
        </p:nvGrpSpPr>
        <p:grpSpPr>
          <a:xfrm>
            <a:off x="6911845" y="4786337"/>
            <a:ext cx="4005225" cy="5312035"/>
            <a:chOff x="0" y="-28575"/>
            <a:chExt cx="5340300" cy="7082714"/>
          </a:xfrm>
        </p:grpSpPr>
        <p:sp>
          <p:nvSpPr>
            <p:cNvPr id="219" name="Google Shape;219;p7"/>
            <p:cNvSpPr txBox="1"/>
            <p:nvPr/>
          </p:nvSpPr>
          <p:spPr>
            <a:xfrm>
              <a:off x="0" y="-28575"/>
              <a:ext cx="5340153" cy="731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NUBE PÚBLICA </a:t>
              </a:r>
              <a:endParaRPr b="0" i="0" sz="1400" u="none" cap="none" strike="noStrike">
                <a:solidFill>
                  <a:srgbClr val="000000"/>
                </a:solidFill>
                <a:latin typeface="Arial"/>
                <a:ea typeface="Arial"/>
                <a:cs typeface="Arial"/>
                <a:sym typeface="Arial"/>
              </a:endParaRPr>
            </a:p>
          </p:txBody>
        </p:sp>
        <p:sp>
          <p:nvSpPr>
            <p:cNvPr id="220" name="Google Shape;220;p7"/>
            <p:cNvSpPr txBox="1"/>
            <p:nvPr/>
          </p:nvSpPr>
          <p:spPr>
            <a:xfrm>
              <a:off x="0" y="915539"/>
              <a:ext cx="5340300" cy="613860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Acceso general a los servicios de la nube .</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Rentabilidad en la economía de escala.</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Escalabilidad para en el aumento o reducción de recursos según las necesidades del usuario.</a:t>
              </a:r>
              <a:endParaRPr b="0" i="0" sz="1400" u="none" cap="none" strike="noStrike">
                <a:solidFill>
                  <a:srgbClr val="000000"/>
                </a:solidFill>
                <a:latin typeface="Arial"/>
                <a:ea typeface="Arial"/>
                <a:cs typeface="Arial"/>
                <a:sym typeface="Arial"/>
              </a:endParaRPr>
            </a:p>
          </p:txBody>
        </p:sp>
      </p:grpSp>
      <p:grpSp>
        <p:nvGrpSpPr>
          <p:cNvPr id="221" name="Google Shape;221;p7"/>
          <p:cNvGrpSpPr/>
          <p:nvPr/>
        </p:nvGrpSpPr>
        <p:grpSpPr>
          <a:xfrm>
            <a:off x="12407054" y="4786337"/>
            <a:ext cx="4005225" cy="3890261"/>
            <a:chOff x="0" y="-28575"/>
            <a:chExt cx="5340300" cy="5187014"/>
          </a:xfrm>
        </p:grpSpPr>
        <p:sp>
          <p:nvSpPr>
            <p:cNvPr id="222" name="Google Shape;222;p7"/>
            <p:cNvSpPr txBox="1"/>
            <p:nvPr/>
          </p:nvSpPr>
          <p:spPr>
            <a:xfrm>
              <a:off x="0" y="-28575"/>
              <a:ext cx="5340153" cy="73130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NUBE HÍBRIDA</a:t>
              </a:r>
              <a:endParaRPr b="0" i="0" sz="1400" u="none" cap="none" strike="noStrike">
                <a:solidFill>
                  <a:srgbClr val="000000"/>
                </a:solidFill>
                <a:latin typeface="Arial"/>
                <a:ea typeface="Arial"/>
                <a:cs typeface="Arial"/>
                <a:sym typeface="Arial"/>
              </a:endParaRPr>
            </a:p>
          </p:txBody>
        </p:sp>
        <p:sp>
          <p:nvSpPr>
            <p:cNvPr id="223" name="Google Shape;223;p7"/>
            <p:cNvSpPr txBox="1"/>
            <p:nvPr/>
          </p:nvSpPr>
          <p:spPr>
            <a:xfrm>
              <a:off x="0" y="915539"/>
              <a:ext cx="5340300" cy="4242900"/>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Integración entre núbes públicas y privadas.</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0" i="0" sz="2199" u="none" cap="none" strike="noStrike">
                <a:solidFill>
                  <a:srgbClr val="29303C"/>
                </a:solidFill>
                <a:latin typeface="Arial"/>
                <a:ea typeface="Arial"/>
                <a:cs typeface="Arial"/>
                <a:sym typeface="Arial"/>
              </a:endParaRPr>
            </a:p>
            <a:p>
              <a:pPr indent="-237490" lvl="1" marL="474979" marR="0" rtl="0" algn="l">
                <a:lnSpc>
                  <a:spcPct val="140018"/>
                </a:lnSpc>
                <a:spcBef>
                  <a:spcPts val="0"/>
                </a:spcBef>
                <a:spcAft>
                  <a:spcPts val="0"/>
                </a:spcAft>
                <a:buClr>
                  <a:srgbClr val="29303C"/>
                </a:buClr>
                <a:buSzPts val="2199"/>
                <a:buFont typeface="Arial"/>
                <a:buChar char="•"/>
              </a:pPr>
              <a:r>
                <a:rPr b="0" i="0" lang="en-US" sz="2199" u="none" cap="none" strike="noStrike">
                  <a:solidFill>
                    <a:srgbClr val="29303C"/>
                  </a:solidFill>
                  <a:latin typeface="Arial"/>
                  <a:ea typeface="Arial"/>
                  <a:cs typeface="Arial"/>
                  <a:sym typeface="Arial"/>
                </a:rPr>
                <a:t>Flexibilidad para guardar datos sensibles en nubes privadas y datos menos esenciales en públicas.</a:t>
              </a:r>
              <a:endParaRPr b="0" i="0" sz="1400" u="none" cap="none" strike="noStrike">
                <a:solidFill>
                  <a:srgbClr val="000000"/>
                </a:solidFill>
                <a:latin typeface="Arial"/>
                <a:ea typeface="Arial"/>
                <a:cs typeface="Arial"/>
                <a:sym typeface="Arial"/>
              </a:endParaRPr>
            </a:p>
          </p:txBody>
        </p:sp>
      </p:grpSp>
      <p:sp>
        <p:nvSpPr>
          <p:cNvPr id="224" name="Google Shape;224;p7"/>
          <p:cNvSpPr/>
          <p:nvPr/>
        </p:nvSpPr>
        <p:spPr>
          <a:xfrm rot="5400000">
            <a:off x="12872655" y="4108524"/>
            <a:ext cx="10861953" cy="802736"/>
          </a:xfrm>
          <a:custGeom>
            <a:rect b="b" l="l" r="r" t="t"/>
            <a:pathLst>
              <a:path extrusionOk="0" h="802736" w="10861953">
                <a:moveTo>
                  <a:pt x="0" y="0"/>
                </a:moveTo>
                <a:lnTo>
                  <a:pt x="10861953" y="0"/>
                </a:lnTo>
                <a:lnTo>
                  <a:pt x="10861953" y="802736"/>
                </a:lnTo>
                <a:lnTo>
                  <a:pt x="0" y="802736"/>
                </a:lnTo>
                <a:lnTo>
                  <a:pt x="0" y="0"/>
                </a:lnTo>
                <a:close/>
              </a:path>
            </a:pathLst>
          </a:custGeom>
          <a:blipFill rotWithShape="1">
            <a:blip r:embed="rId3">
              <a:alphaModFix/>
            </a:blip>
            <a:stretch>
              <a:fillRect b="-1042441" l="-169" r="-7084" t="-308517"/>
            </a:stretch>
          </a:blipFill>
          <a:ln>
            <a:noFill/>
          </a:ln>
        </p:spPr>
      </p:sp>
      <p:sp>
        <p:nvSpPr>
          <p:cNvPr id="225" name="Google Shape;225;p7"/>
          <p:cNvSpPr/>
          <p:nvPr/>
        </p:nvSpPr>
        <p:spPr>
          <a:xfrm>
            <a:off x="8184132" y="3329808"/>
            <a:ext cx="847149" cy="1042353"/>
          </a:xfrm>
          <a:custGeom>
            <a:rect b="b" l="l" r="r" t="t"/>
            <a:pathLst>
              <a:path extrusionOk="0" h="1042353" w="847149">
                <a:moveTo>
                  <a:pt x="0" y="0"/>
                </a:moveTo>
                <a:lnTo>
                  <a:pt x="847148" y="0"/>
                </a:lnTo>
                <a:lnTo>
                  <a:pt x="847148" y="1042353"/>
                </a:lnTo>
                <a:lnTo>
                  <a:pt x="0" y="1042353"/>
                </a:lnTo>
                <a:lnTo>
                  <a:pt x="0" y="0"/>
                </a:lnTo>
                <a:close/>
              </a:path>
            </a:pathLst>
          </a:custGeom>
          <a:blipFill rotWithShape="1">
            <a:blip r:embed="rId4">
              <a:alphaModFix/>
            </a:blip>
            <a:stretch>
              <a:fillRect b="0" l="0" r="0" t="0"/>
            </a:stretch>
          </a:blipFill>
          <a:ln>
            <a:noFill/>
          </a:ln>
        </p:spPr>
      </p:sp>
      <p:sp>
        <p:nvSpPr>
          <p:cNvPr id="226" name="Google Shape;226;p7"/>
          <p:cNvSpPr/>
          <p:nvPr/>
        </p:nvSpPr>
        <p:spPr>
          <a:xfrm>
            <a:off x="2448100" y="3329808"/>
            <a:ext cx="1042353" cy="1042353"/>
          </a:xfrm>
          <a:custGeom>
            <a:rect b="b" l="l" r="r" t="t"/>
            <a:pathLst>
              <a:path extrusionOk="0" h="1042353" w="1042353">
                <a:moveTo>
                  <a:pt x="0" y="0"/>
                </a:moveTo>
                <a:lnTo>
                  <a:pt x="1042353" y="0"/>
                </a:lnTo>
                <a:lnTo>
                  <a:pt x="1042353" y="1042353"/>
                </a:lnTo>
                <a:lnTo>
                  <a:pt x="0" y="1042353"/>
                </a:lnTo>
                <a:lnTo>
                  <a:pt x="0" y="0"/>
                </a:lnTo>
                <a:close/>
              </a:path>
            </a:pathLst>
          </a:custGeom>
          <a:blipFill rotWithShape="1">
            <a:blip r:embed="rId5">
              <a:alphaModFix/>
            </a:blip>
            <a:stretch>
              <a:fillRect b="0" l="0" r="0" t="0"/>
            </a:stretch>
          </a:blipFill>
          <a:ln>
            <a:noFill/>
          </a:ln>
        </p:spPr>
      </p:sp>
      <p:sp>
        <p:nvSpPr>
          <p:cNvPr id="227" name="Google Shape;227;p7"/>
          <p:cNvSpPr/>
          <p:nvPr/>
        </p:nvSpPr>
        <p:spPr>
          <a:xfrm>
            <a:off x="13727105" y="3329808"/>
            <a:ext cx="1139024" cy="1035476"/>
          </a:xfrm>
          <a:custGeom>
            <a:rect b="b" l="l" r="r" t="t"/>
            <a:pathLst>
              <a:path extrusionOk="0" h="1035476" w="1139024">
                <a:moveTo>
                  <a:pt x="0" y="0"/>
                </a:moveTo>
                <a:lnTo>
                  <a:pt x="1139024" y="0"/>
                </a:lnTo>
                <a:lnTo>
                  <a:pt x="1139024" y="1035477"/>
                </a:lnTo>
                <a:lnTo>
                  <a:pt x="0" y="103547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B923"/>
        </a:solidFill>
      </p:bgPr>
    </p:bg>
    <p:spTree>
      <p:nvGrpSpPr>
        <p:cNvPr id="231" name="Shape 231"/>
        <p:cNvGrpSpPr/>
        <p:nvPr/>
      </p:nvGrpSpPr>
      <p:grpSpPr>
        <a:xfrm>
          <a:off x="0" y="0"/>
          <a:ext cx="0" cy="0"/>
          <a:chOff x="0" y="0"/>
          <a:chExt cx="0" cy="0"/>
        </a:xfrm>
      </p:grpSpPr>
      <p:sp>
        <p:nvSpPr>
          <p:cNvPr id="232" name="Google Shape;232;p8"/>
          <p:cNvSpPr/>
          <p:nvPr/>
        </p:nvSpPr>
        <p:spPr>
          <a:xfrm>
            <a:off x="-288614" y="-267999"/>
            <a:ext cx="7338976" cy="10822997"/>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8"/>
          <p:cNvSpPr/>
          <p:nvPr/>
        </p:nvSpPr>
        <p:spPr>
          <a:xfrm>
            <a:off x="854458" y="6471891"/>
            <a:ext cx="3727446" cy="275471"/>
          </a:xfrm>
          <a:custGeom>
            <a:rect b="b" l="l" r="r" t="t"/>
            <a:pathLst>
              <a:path extrusionOk="0" h="275471" w="3727446">
                <a:moveTo>
                  <a:pt x="0" y="0"/>
                </a:moveTo>
                <a:lnTo>
                  <a:pt x="3727446" y="0"/>
                </a:lnTo>
                <a:lnTo>
                  <a:pt x="3727446" y="275471"/>
                </a:lnTo>
                <a:lnTo>
                  <a:pt x="0" y="275471"/>
                </a:lnTo>
                <a:lnTo>
                  <a:pt x="0" y="0"/>
                </a:lnTo>
                <a:close/>
              </a:path>
            </a:pathLst>
          </a:custGeom>
          <a:blipFill rotWithShape="1">
            <a:blip r:embed="rId3">
              <a:alphaModFix/>
            </a:blip>
            <a:stretch>
              <a:fillRect b="-1042441" l="-169" r="-7084" t="-308517"/>
            </a:stretch>
          </a:blipFill>
          <a:ln>
            <a:noFill/>
          </a:ln>
        </p:spPr>
      </p:sp>
      <p:sp>
        <p:nvSpPr>
          <p:cNvPr id="234" name="Google Shape;234;p8"/>
          <p:cNvSpPr txBox="1"/>
          <p:nvPr/>
        </p:nvSpPr>
        <p:spPr>
          <a:xfrm>
            <a:off x="854449" y="2248150"/>
            <a:ext cx="5890500" cy="38784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Arial"/>
                <a:ea typeface="Arial"/>
                <a:cs typeface="Arial"/>
                <a:sym typeface="Arial"/>
              </a:rPr>
              <a:t>TIPOS DE CLOUD COMPUTING</a:t>
            </a:r>
            <a:endParaRPr b="0" i="0" sz="1400" u="none" cap="none" strike="noStrike">
              <a:solidFill>
                <a:srgbClr val="000000"/>
              </a:solidFill>
              <a:latin typeface="Arial"/>
              <a:ea typeface="Arial"/>
              <a:cs typeface="Arial"/>
              <a:sym typeface="Arial"/>
            </a:endParaRPr>
          </a:p>
        </p:txBody>
      </p:sp>
      <p:sp>
        <p:nvSpPr>
          <p:cNvPr id="235" name="Google Shape;235;p8"/>
          <p:cNvSpPr/>
          <p:nvPr/>
        </p:nvSpPr>
        <p:spPr>
          <a:xfrm rot="5400000">
            <a:off x="1035086" y="8768124"/>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4">
              <a:alphaModFix/>
            </a:blip>
            <a:stretch>
              <a:fillRect b="0" l="0" r="0" t="0"/>
            </a:stretch>
          </a:blipFill>
          <a:ln>
            <a:noFill/>
          </a:ln>
        </p:spPr>
      </p:sp>
      <p:sp>
        <p:nvSpPr>
          <p:cNvPr id="236" name="Google Shape;236;p8"/>
          <p:cNvSpPr txBox="1"/>
          <p:nvPr/>
        </p:nvSpPr>
        <p:spPr>
          <a:xfrm>
            <a:off x="7789042" y="1000125"/>
            <a:ext cx="11030308" cy="555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000000"/>
                </a:solidFill>
                <a:latin typeface="Hammersmith One"/>
                <a:ea typeface="Hammersmith One"/>
                <a:cs typeface="Hammersmith One"/>
                <a:sym typeface="Hammersmith One"/>
              </a:rPr>
              <a:t>Infraestructura como servicio (IaaS)</a:t>
            </a:r>
            <a:endParaRPr b="0" i="0" sz="1400" u="none" cap="none" strike="noStrike">
              <a:solidFill>
                <a:srgbClr val="000000"/>
              </a:solidFill>
              <a:latin typeface="Arial"/>
              <a:ea typeface="Arial"/>
              <a:cs typeface="Arial"/>
              <a:sym typeface="Arial"/>
            </a:endParaRPr>
          </a:p>
        </p:txBody>
      </p:sp>
      <p:sp>
        <p:nvSpPr>
          <p:cNvPr id="237" name="Google Shape;237;p8"/>
          <p:cNvSpPr txBox="1"/>
          <p:nvPr/>
        </p:nvSpPr>
        <p:spPr>
          <a:xfrm>
            <a:off x="7789042" y="1508125"/>
            <a:ext cx="11030308" cy="1108075"/>
          </a:xfrm>
          <a:prstGeom prst="rect">
            <a:avLst/>
          </a:prstGeom>
          <a:noFill/>
          <a:ln>
            <a:noFill/>
          </a:ln>
        </p:spPr>
        <p:txBody>
          <a:bodyPr anchorCtr="0" anchor="t" bIns="0" lIns="0" spcFirstLastPara="1" rIns="0" wrap="square" tIns="0">
            <a:spAutoFit/>
          </a:bodyPr>
          <a:lstStyle/>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Servicios para arquitectos Cloud</a:t>
            </a:r>
            <a:endParaRPr b="0" i="0" sz="1400" u="none" cap="none" strike="noStrike">
              <a:solidFill>
                <a:srgbClr val="000000"/>
              </a:solidFill>
              <a:latin typeface="Arial"/>
              <a:ea typeface="Arial"/>
              <a:cs typeface="Arial"/>
              <a:sym typeface="Arial"/>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Ofrece servidores, networking, almacenamiento, etc</a:t>
            </a:r>
            <a:endParaRPr b="0" i="0" sz="1400" u="none" cap="none" strike="noStrike">
              <a:solidFill>
                <a:srgbClr val="000000"/>
              </a:solidFill>
              <a:latin typeface="Arial"/>
              <a:ea typeface="Arial"/>
              <a:cs typeface="Arial"/>
              <a:sym typeface="Arial"/>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El arquitecto Cloud diseña la solución a medida</a:t>
            </a:r>
            <a:endParaRPr b="0" i="0" sz="1400" u="none" cap="none" strike="noStrike">
              <a:solidFill>
                <a:srgbClr val="000000"/>
              </a:solidFill>
              <a:latin typeface="Arial"/>
              <a:ea typeface="Arial"/>
              <a:cs typeface="Arial"/>
              <a:sym typeface="Arial"/>
            </a:endParaRPr>
          </a:p>
        </p:txBody>
      </p:sp>
      <p:sp>
        <p:nvSpPr>
          <p:cNvPr id="238" name="Google Shape;238;p8"/>
          <p:cNvSpPr txBox="1"/>
          <p:nvPr/>
        </p:nvSpPr>
        <p:spPr>
          <a:xfrm>
            <a:off x="7717762" y="3762624"/>
            <a:ext cx="10919427" cy="555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000000"/>
                </a:solidFill>
                <a:latin typeface="Hammersmith One"/>
                <a:ea typeface="Hammersmith One"/>
                <a:cs typeface="Hammersmith One"/>
                <a:sym typeface="Hammersmith One"/>
              </a:rPr>
              <a:t>Plataforma como servicio (PaaS)</a:t>
            </a:r>
            <a:endParaRPr b="0" i="0" sz="1400" u="none" cap="none" strike="noStrike">
              <a:solidFill>
                <a:srgbClr val="000000"/>
              </a:solidFill>
              <a:latin typeface="Arial"/>
              <a:ea typeface="Arial"/>
              <a:cs typeface="Arial"/>
              <a:sym typeface="Arial"/>
            </a:endParaRPr>
          </a:p>
        </p:txBody>
      </p:sp>
      <p:sp>
        <p:nvSpPr>
          <p:cNvPr id="239" name="Google Shape;239;p8"/>
          <p:cNvSpPr txBox="1"/>
          <p:nvPr/>
        </p:nvSpPr>
        <p:spPr>
          <a:xfrm>
            <a:off x="7717762" y="4271886"/>
            <a:ext cx="10919427" cy="1108075"/>
          </a:xfrm>
          <a:prstGeom prst="rect">
            <a:avLst/>
          </a:prstGeom>
          <a:noFill/>
          <a:ln>
            <a:noFill/>
          </a:ln>
        </p:spPr>
        <p:txBody>
          <a:bodyPr anchorCtr="0" anchor="t" bIns="0" lIns="0" spcFirstLastPara="1" rIns="0" wrap="square" tIns="0">
            <a:spAutoFit/>
          </a:bodyPr>
          <a:lstStyle/>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Plataformas enfocadas a programadores.</a:t>
            </a:r>
            <a:endParaRPr b="0" i="0" sz="1400" u="none" cap="none" strike="noStrike">
              <a:solidFill>
                <a:srgbClr val="000000"/>
              </a:solidFill>
              <a:latin typeface="Arial"/>
              <a:ea typeface="Arial"/>
              <a:cs typeface="Arial"/>
              <a:sym typeface="Arial"/>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Permite y facilita el despliegue de aplicaciones</a:t>
            </a:r>
            <a:endParaRPr b="0" i="0" sz="1400" u="none" cap="none" strike="noStrike">
              <a:solidFill>
                <a:srgbClr val="000000"/>
              </a:solidFill>
              <a:latin typeface="Arial"/>
              <a:ea typeface="Arial"/>
              <a:cs typeface="Arial"/>
              <a:sym typeface="Arial"/>
            </a:endParaRPr>
          </a:p>
          <a:p>
            <a:pPr indent="-229393" lvl="1" marL="458787" marR="0" rtl="0" algn="l">
              <a:lnSpc>
                <a:spcPct val="140018"/>
              </a:lnSpc>
              <a:spcBef>
                <a:spcPts val="0"/>
              </a:spcBef>
              <a:spcAft>
                <a:spcPts val="0"/>
              </a:spcAft>
              <a:buClr>
                <a:srgbClr val="000000"/>
              </a:buClr>
              <a:buSzPts val="2124"/>
              <a:buFont typeface="Arial"/>
              <a:buChar char="•"/>
            </a:pPr>
            <a:r>
              <a:rPr b="0" i="0" lang="en-US" sz="2124" u="none" cap="none" strike="noStrike">
                <a:solidFill>
                  <a:srgbClr val="000000"/>
                </a:solidFill>
                <a:latin typeface="Arial"/>
                <a:ea typeface="Arial"/>
                <a:cs typeface="Arial"/>
                <a:sym typeface="Arial"/>
              </a:rPr>
              <a:t>No se debe preocupar por la infraestructura.</a:t>
            </a:r>
            <a:endParaRPr b="0" i="0" sz="1400" u="none" cap="none" strike="noStrike">
              <a:solidFill>
                <a:srgbClr val="000000"/>
              </a:solidFill>
              <a:latin typeface="Arial"/>
              <a:ea typeface="Arial"/>
              <a:cs typeface="Arial"/>
              <a:sym typeface="Arial"/>
            </a:endParaRPr>
          </a:p>
        </p:txBody>
      </p:sp>
      <p:sp>
        <p:nvSpPr>
          <p:cNvPr id="240" name="Google Shape;240;p8"/>
          <p:cNvSpPr txBox="1"/>
          <p:nvPr/>
        </p:nvSpPr>
        <p:spPr>
          <a:xfrm>
            <a:off x="7717762" y="6718787"/>
            <a:ext cx="10776865" cy="555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000000"/>
                </a:solidFill>
                <a:latin typeface="Hammersmith One"/>
                <a:ea typeface="Hammersmith One"/>
                <a:cs typeface="Hammersmith One"/>
                <a:sym typeface="Hammersmith One"/>
              </a:rPr>
              <a:t> Software como servicio (SaaS)</a:t>
            </a:r>
            <a:endParaRPr b="0" i="0" sz="1400" u="none" cap="none" strike="noStrike">
              <a:solidFill>
                <a:srgbClr val="000000"/>
              </a:solidFill>
              <a:latin typeface="Arial"/>
              <a:ea typeface="Arial"/>
              <a:cs typeface="Arial"/>
              <a:sym typeface="Arial"/>
            </a:endParaRPr>
          </a:p>
        </p:txBody>
      </p:sp>
      <p:sp>
        <p:nvSpPr>
          <p:cNvPr id="241" name="Google Shape;241;p8"/>
          <p:cNvSpPr txBox="1"/>
          <p:nvPr/>
        </p:nvSpPr>
        <p:spPr>
          <a:xfrm>
            <a:off x="7789042" y="7236312"/>
            <a:ext cx="10776865" cy="1153795"/>
          </a:xfrm>
          <a:prstGeom prst="rect">
            <a:avLst/>
          </a:prstGeom>
          <a:noFill/>
          <a:ln>
            <a:noFill/>
          </a:ln>
        </p:spPr>
        <p:txBody>
          <a:bodyPr anchorCtr="0" anchor="t" bIns="0" lIns="0" spcFirstLastPara="1" rIns="0" wrap="square" tIns="0">
            <a:spAutoFit/>
          </a:bodyPr>
          <a:lstStyle/>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Arial"/>
                <a:ea typeface="Arial"/>
                <a:cs typeface="Arial"/>
                <a:sym typeface="Arial"/>
              </a:rPr>
              <a:t>Software para el usuario final</a:t>
            </a:r>
            <a:endParaRPr b="0" i="0" sz="1400" u="none" cap="none" strike="noStrike">
              <a:solidFill>
                <a:srgbClr val="000000"/>
              </a:solidFill>
              <a:latin typeface="Arial"/>
              <a:ea typeface="Arial"/>
              <a:cs typeface="Arial"/>
              <a:sym typeface="Arial"/>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Arial"/>
                <a:ea typeface="Arial"/>
                <a:cs typeface="Arial"/>
                <a:sym typeface="Arial"/>
              </a:rPr>
              <a:t>No requiere necesariamente una instalación, se usa desde la web o App.</a:t>
            </a:r>
            <a:endParaRPr b="0" i="0" sz="1400" u="none" cap="none" strike="noStrike">
              <a:solidFill>
                <a:srgbClr val="000000"/>
              </a:solidFill>
              <a:latin typeface="Arial"/>
              <a:ea typeface="Arial"/>
              <a:cs typeface="Arial"/>
              <a:sym typeface="Arial"/>
            </a:endParaRPr>
          </a:p>
          <a:p>
            <a:pPr indent="-237490" lvl="1" marL="474979" marR="0" rtl="0" algn="l">
              <a:lnSpc>
                <a:spcPct val="140018"/>
              </a:lnSpc>
              <a:spcBef>
                <a:spcPts val="0"/>
              </a:spcBef>
              <a:spcAft>
                <a:spcPts val="0"/>
              </a:spcAft>
              <a:buClr>
                <a:srgbClr val="000000"/>
              </a:buClr>
              <a:buSzPts val="2199"/>
              <a:buFont typeface="Arial"/>
              <a:buChar char="•"/>
            </a:pPr>
            <a:r>
              <a:rPr b="0" i="0" lang="en-US" sz="2199" u="none" cap="none" strike="noStrike">
                <a:solidFill>
                  <a:srgbClr val="000000"/>
                </a:solidFill>
                <a:latin typeface="Arial"/>
                <a:ea typeface="Arial"/>
                <a:cs typeface="Arial"/>
                <a:sym typeface="Arial"/>
              </a:rPr>
              <a:t>No se requieren grandes conocimientos técnicos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9"/>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247" name="Google Shape;247;p9"/>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
        <p:nvSpPr>
          <p:cNvPr id="248" name="Google Shape;248;p9"/>
          <p:cNvSpPr txBox="1"/>
          <p:nvPr/>
        </p:nvSpPr>
        <p:spPr>
          <a:xfrm>
            <a:off x="1028700" y="1993900"/>
            <a:ext cx="13613550" cy="6270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Infraestructura como servicio: </a:t>
            </a:r>
            <a:endParaRPr b="0" i="0" sz="1400" u="none" cap="none" strike="noStrike">
              <a:solidFill>
                <a:srgbClr val="000000"/>
              </a:solidFill>
              <a:latin typeface="Arial"/>
              <a:ea typeface="Arial"/>
              <a:cs typeface="Arial"/>
              <a:sym typeface="Arial"/>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Amazon EC2 (en AWS) </a:t>
            </a:r>
            <a:endParaRPr b="0" i="0" sz="1400" u="none" cap="none" strike="noStrike">
              <a:solidFill>
                <a:srgbClr val="000000"/>
              </a:solidFill>
              <a:latin typeface="Arial"/>
              <a:ea typeface="Arial"/>
              <a:cs typeface="Arial"/>
              <a:sym typeface="Arial"/>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GCP, Azure, Rackspace, Digital Ocean, Linode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t/>
            </a:r>
            <a:endParaRPr b="0"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Plataforma como servicio: </a:t>
            </a:r>
            <a:endParaRPr b="0" i="0" sz="1400" u="none" cap="none" strike="noStrike">
              <a:solidFill>
                <a:srgbClr val="000000"/>
              </a:solidFill>
              <a:latin typeface="Arial"/>
              <a:ea typeface="Arial"/>
              <a:cs typeface="Arial"/>
              <a:sym typeface="Arial"/>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Elastic Beanstalk (en AWS)</a:t>
            </a:r>
            <a:endParaRPr b="0" i="0" sz="1400" u="none" cap="none" strike="noStrike">
              <a:solidFill>
                <a:srgbClr val="000000"/>
              </a:solidFill>
              <a:latin typeface="Arial"/>
              <a:ea typeface="Arial"/>
              <a:cs typeface="Arial"/>
              <a:sym typeface="Arial"/>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Heroku, Google App Engine (GCP), Windows Azure (Microsoft)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t/>
            </a:r>
            <a:endParaRPr b="0"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rPr b="0" i="0" lang="en-US" sz="3500" u="none" cap="none" strike="noStrike">
                <a:solidFill>
                  <a:srgbClr val="29303C"/>
                </a:solidFill>
                <a:latin typeface="Hammersmith One"/>
                <a:ea typeface="Hammersmith One"/>
                <a:cs typeface="Hammersmith One"/>
                <a:sym typeface="Hammersmith One"/>
              </a:rPr>
              <a:t> Software como servicio:</a:t>
            </a:r>
            <a:endParaRPr b="0" i="0" sz="1400" u="none" cap="none" strike="noStrike">
              <a:solidFill>
                <a:srgbClr val="000000"/>
              </a:solidFill>
              <a:latin typeface="Arial"/>
              <a:ea typeface="Arial"/>
              <a:cs typeface="Arial"/>
              <a:sym typeface="Arial"/>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Rekognition, Polly, Translate</a:t>
            </a:r>
            <a:endParaRPr b="0" i="0" sz="1400" u="none" cap="none" strike="noStrike">
              <a:solidFill>
                <a:srgbClr val="000000"/>
              </a:solidFill>
              <a:latin typeface="Arial"/>
              <a:ea typeface="Arial"/>
              <a:cs typeface="Arial"/>
              <a:sym typeface="Arial"/>
            </a:endParaRPr>
          </a:p>
          <a:p>
            <a:pPr indent="-377825" lvl="1" marL="755651" marR="0" rtl="0" algn="l">
              <a:lnSpc>
                <a:spcPct val="130000"/>
              </a:lnSpc>
              <a:spcBef>
                <a:spcPts val="0"/>
              </a:spcBef>
              <a:spcAft>
                <a:spcPts val="0"/>
              </a:spcAft>
              <a:buClr>
                <a:srgbClr val="29303C"/>
              </a:buClr>
              <a:buSzPts val="3500"/>
              <a:buFont typeface="Arial"/>
              <a:buChar char="•"/>
            </a:pPr>
            <a:r>
              <a:rPr b="0" i="0" lang="en-US" sz="3500" u="none" cap="none" strike="noStrike">
                <a:solidFill>
                  <a:srgbClr val="29303C"/>
                </a:solidFill>
                <a:latin typeface="Arial"/>
                <a:ea typeface="Arial"/>
                <a:cs typeface="Arial"/>
                <a:sym typeface="Arial"/>
              </a:rPr>
              <a:t>Google Apps (Gmail), Dropbox, Zoom</a:t>
            </a:r>
            <a:endParaRPr b="0" i="0" sz="1400" u="none" cap="none" strike="noStrike">
              <a:solidFill>
                <a:srgbClr val="000000"/>
              </a:solidFill>
              <a:latin typeface="Arial"/>
              <a:ea typeface="Arial"/>
              <a:cs typeface="Arial"/>
              <a:sym typeface="Arial"/>
            </a:endParaRPr>
          </a:p>
        </p:txBody>
      </p:sp>
      <p:sp>
        <p:nvSpPr>
          <p:cNvPr id="249" name="Google Shape;249;p9"/>
          <p:cNvSpPr/>
          <p:nvPr/>
        </p:nvSpPr>
        <p:spPr>
          <a:xfrm>
            <a:off x="13522855" y="6679153"/>
            <a:ext cx="2238790" cy="2238790"/>
          </a:xfrm>
          <a:custGeom>
            <a:rect b="b" l="l" r="r" t="t"/>
            <a:pathLst>
              <a:path extrusionOk="0" h="2238790" w="2238790">
                <a:moveTo>
                  <a:pt x="0" y="0"/>
                </a:moveTo>
                <a:lnTo>
                  <a:pt x="2238791" y="0"/>
                </a:lnTo>
                <a:lnTo>
                  <a:pt x="2238791" y="2238790"/>
                </a:lnTo>
                <a:lnTo>
                  <a:pt x="0" y="2238790"/>
                </a:lnTo>
                <a:lnTo>
                  <a:pt x="0" y="0"/>
                </a:lnTo>
                <a:close/>
              </a:path>
            </a:pathLst>
          </a:custGeom>
          <a:blipFill rotWithShape="1">
            <a:blip r:embed="rId5">
              <a:alphaModFix/>
            </a:blip>
            <a:stretch>
              <a:fillRect b="0" l="0" r="0" t="0"/>
            </a:stretch>
          </a:blipFill>
          <a:ln>
            <a:noFill/>
          </a:ln>
        </p:spPr>
      </p:sp>
      <p:sp>
        <p:nvSpPr>
          <p:cNvPr id="250" name="Google Shape;250;p9"/>
          <p:cNvSpPr/>
          <p:nvPr/>
        </p:nvSpPr>
        <p:spPr>
          <a:xfrm>
            <a:off x="15495998" y="3881684"/>
            <a:ext cx="2270188" cy="2270188"/>
          </a:xfrm>
          <a:custGeom>
            <a:rect b="b" l="l" r="r" t="t"/>
            <a:pathLst>
              <a:path extrusionOk="0" h="2270188" w="2270188">
                <a:moveTo>
                  <a:pt x="0" y="0"/>
                </a:moveTo>
                <a:lnTo>
                  <a:pt x="2270188" y="0"/>
                </a:lnTo>
                <a:lnTo>
                  <a:pt x="2270188" y="2270188"/>
                </a:lnTo>
                <a:lnTo>
                  <a:pt x="0" y="2270188"/>
                </a:lnTo>
                <a:lnTo>
                  <a:pt x="0" y="0"/>
                </a:lnTo>
                <a:close/>
              </a:path>
            </a:pathLst>
          </a:custGeom>
          <a:blipFill rotWithShape="1">
            <a:blip r:embed="rId6">
              <a:alphaModFix/>
            </a:blip>
            <a:stretch>
              <a:fillRect b="0" l="0" r="0" t="0"/>
            </a:stretch>
          </a:blipFill>
          <a:ln>
            <a:noFill/>
          </a:ln>
        </p:spPr>
      </p:sp>
      <p:sp>
        <p:nvSpPr>
          <p:cNvPr id="251" name="Google Shape;251;p9"/>
          <p:cNvSpPr/>
          <p:nvPr/>
        </p:nvSpPr>
        <p:spPr>
          <a:xfrm>
            <a:off x="12422105" y="1610630"/>
            <a:ext cx="2790392" cy="2159521"/>
          </a:xfrm>
          <a:custGeom>
            <a:rect b="b" l="l" r="r" t="t"/>
            <a:pathLst>
              <a:path extrusionOk="0" h="2159521" w="2790392">
                <a:moveTo>
                  <a:pt x="0" y="0"/>
                </a:moveTo>
                <a:lnTo>
                  <a:pt x="2790392" y="0"/>
                </a:lnTo>
                <a:lnTo>
                  <a:pt x="2790392" y="2159521"/>
                </a:lnTo>
                <a:lnTo>
                  <a:pt x="0" y="2159521"/>
                </a:lnTo>
                <a:lnTo>
                  <a:pt x="0" y="0"/>
                </a:lnTo>
                <a:close/>
              </a:path>
            </a:pathLst>
          </a:custGeom>
          <a:blipFill rotWithShape="1">
            <a:blip r:embed="rId7">
              <a:alphaModFix/>
            </a:blip>
            <a:stretch>
              <a:fillRect b="0" l="0" r="0" t="0"/>
            </a:stretch>
          </a:blipFill>
          <a:ln>
            <a:noFill/>
          </a:ln>
        </p:spPr>
      </p:sp>
      <p:sp>
        <p:nvSpPr>
          <p:cNvPr id="252" name="Google Shape;252;p9"/>
          <p:cNvSpPr txBox="1"/>
          <p:nvPr/>
        </p:nvSpPr>
        <p:spPr>
          <a:xfrm>
            <a:off x="4055886" y="706675"/>
            <a:ext cx="11950330" cy="682149"/>
          </a:xfrm>
          <a:prstGeom prst="rect">
            <a:avLst/>
          </a:prstGeom>
          <a:noFill/>
          <a:ln>
            <a:noFill/>
          </a:ln>
        </p:spPr>
        <p:txBody>
          <a:bodyPr anchorCtr="0" anchor="t" bIns="0" lIns="0" spcFirstLastPara="1" rIns="0" wrap="square" tIns="0">
            <a:spAutoFit/>
          </a:bodyPr>
          <a:lstStyle/>
          <a:p>
            <a:pPr indent="0" lvl="0" marL="0" marR="0" rtl="0" algn="l">
              <a:lnSpc>
                <a:spcPct val="109991"/>
              </a:lnSpc>
              <a:spcBef>
                <a:spcPts val="0"/>
              </a:spcBef>
              <a:spcAft>
                <a:spcPts val="0"/>
              </a:spcAft>
              <a:buClr>
                <a:srgbClr val="000000"/>
              </a:buClr>
              <a:buSzPts val="4744"/>
              <a:buFont typeface="Arial"/>
              <a:buNone/>
            </a:pPr>
            <a:r>
              <a:rPr b="0" i="0" lang="en-US" sz="4744" u="none" cap="none" strike="noStrike">
                <a:solidFill>
                  <a:srgbClr val="29303C"/>
                </a:solidFill>
                <a:latin typeface="Hammersmith One"/>
                <a:ea typeface="Hammersmith One"/>
                <a:cs typeface="Hammersmith One"/>
                <a:sym typeface="Hammersmith One"/>
              </a:rPr>
              <a:t>EJEMPLOS DE TIPOS DE CLOUD COMPUTING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0"/>
          <p:cNvSpPr/>
          <p:nvPr/>
        </p:nvSpPr>
        <p:spPr>
          <a:xfrm>
            <a:off x="2087586" y="3325747"/>
            <a:ext cx="4523401" cy="3635507"/>
          </a:xfrm>
          <a:custGeom>
            <a:rect b="b" l="l" r="r" t="t"/>
            <a:pathLst>
              <a:path extrusionOk="0" h="3635507" w="4523401">
                <a:moveTo>
                  <a:pt x="0" y="0"/>
                </a:moveTo>
                <a:lnTo>
                  <a:pt x="4523401" y="0"/>
                </a:lnTo>
                <a:lnTo>
                  <a:pt x="4523401" y="3635506"/>
                </a:lnTo>
                <a:lnTo>
                  <a:pt x="0" y="3635506"/>
                </a:lnTo>
                <a:lnTo>
                  <a:pt x="0" y="0"/>
                </a:lnTo>
                <a:close/>
              </a:path>
            </a:pathLst>
          </a:custGeom>
          <a:blipFill rotWithShape="1">
            <a:blip r:embed="rId3">
              <a:alphaModFix/>
            </a:blip>
            <a:stretch>
              <a:fillRect b="0" l="0" r="0" t="0"/>
            </a:stretch>
          </a:blipFill>
          <a:ln>
            <a:noFill/>
          </a:ln>
        </p:spPr>
      </p:sp>
      <p:sp>
        <p:nvSpPr>
          <p:cNvPr id="258" name="Google Shape;258;p10"/>
          <p:cNvSpPr txBox="1"/>
          <p:nvPr/>
        </p:nvSpPr>
        <p:spPr>
          <a:xfrm>
            <a:off x="7464731" y="1146068"/>
            <a:ext cx="9521700" cy="925800"/>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Clr>
                <a:srgbClr val="000000"/>
              </a:buClr>
              <a:buSzPts val="6015"/>
              <a:buFont typeface="Arial"/>
              <a:buNone/>
            </a:pPr>
            <a:r>
              <a:rPr b="0" i="0" lang="en-US" sz="6015" u="none" cap="none" strike="noStrike">
                <a:solidFill>
                  <a:srgbClr val="29303C"/>
                </a:solidFill>
                <a:latin typeface="Hammersmith One"/>
                <a:ea typeface="Hammersmith One"/>
                <a:cs typeface="Hammersmith One"/>
                <a:sym typeface="Hammersmith One"/>
              </a:rPr>
              <a:t>GOOGLE CLOUD PLATFORM</a:t>
            </a:r>
            <a:endParaRPr b="0" i="0" sz="1400" u="none" cap="none" strike="noStrike">
              <a:solidFill>
                <a:srgbClr val="000000"/>
              </a:solidFill>
              <a:latin typeface="Arial"/>
              <a:ea typeface="Arial"/>
              <a:cs typeface="Arial"/>
              <a:sym typeface="Arial"/>
            </a:endParaRPr>
          </a:p>
        </p:txBody>
      </p:sp>
      <p:sp>
        <p:nvSpPr>
          <p:cNvPr id="259" name="Google Shape;259;p10"/>
          <p:cNvSpPr txBox="1"/>
          <p:nvPr/>
        </p:nvSpPr>
        <p:spPr>
          <a:xfrm>
            <a:off x="7298956" y="2424263"/>
            <a:ext cx="9514500" cy="6087000"/>
          </a:xfrm>
          <a:prstGeom prst="rect">
            <a:avLst/>
          </a:prstGeom>
          <a:noFill/>
          <a:ln>
            <a:noFill/>
          </a:ln>
        </p:spPr>
        <p:txBody>
          <a:bodyPr anchorCtr="0" anchor="t" bIns="0" lIns="0" spcFirstLastPara="1" rIns="0" wrap="square" tIns="0">
            <a:spAutoFit/>
          </a:bodyPr>
          <a:lstStyle/>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Google Cloud Platform (GCP) es la platraforma de servicios en la nube proporcionada por Google.</a:t>
            </a:r>
            <a:endParaRPr b="0" i="0" sz="14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825"/>
              <a:buFont typeface="Arial"/>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Ofrece más de 90 servicios y recursos informáticos que permiten a las empresas desarrollar, implementar y gestionar aplicaciones y servicios en la infraestructura de Google.</a:t>
            </a:r>
            <a:endParaRPr b="0" i="0" sz="14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825"/>
              <a:buFont typeface="Arial"/>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La plataforma busca ofrecer soluciones eficientes y rentables, respaldadas por la red global de centros de datos de Google.</a:t>
            </a:r>
            <a:endParaRPr b="0" i="0" sz="1400" u="none" cap="none" strike="noStrike">
              <a:solidFill>
                <a:srgbClr val="000000"/>
              </a:solidFill>
              <a:latin typeface="Arial"/>
              <a:ea typeface="Arial"/>
              <a:cs typeface="Arial"/>
              <a:sym typeface="Arial"/>
            </a:endParaRPr>
          </a:p>
        </p:txBody>
      </p:sp>
      <p:sp>
        <p:nvSpPr>
          <p:cNvPr id="260" name="Google Shape;260;p10"/>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261" name="Google Shape;261;p10"/>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1"/>
          <p:cNvSpPr/>
          <p:nvPr/>
        </p:nvSpPr>
        <p:spPr>
          <a:xfrm>
            <a:off x="1171262" y="1941005"/>
            <a:ext cx="16230600" cy="7317296"/>
          </a:xfrm>
          <a:custGeom>
            <a:rect b="b" l="l" r="r" t="t"/>
            <a:pathLst>
              <a:path extrusionOk="0" h="7317296" w="16230600">
                <a:moveTo>
                  <a:pt x="0" y="0"/>
                </a:moveTo>
                <a:lnTo>
                  <a:pt x="16230600" y="0"/>
                </a:lnTo>
                <a:lnTo>
                  <a:pt x="16230600" y="7317295"/>
                </a:lnTo>
                <a:lnTo>
                  <a:pt x="0" y="7317295"/>
                </a:lnTo>
                <a:lnTo>
                  <a:pt x="0" y="0"/>
                </a:lnTo>
                <a:close/>
              </a:path>
            </a:pathLst>
          </a:custGeom>
          <a:blipFill rotWithShape="1">
            <a:blip r:embed="rId3">
              <a:alphaModFix/>
            </a:blip>
            <a:stretch>
              <a:fillRect b="0" l="0" r="0" t="0"/>
            </a:stretch>
          </a:blipFill>
          <a:ln>
            <a:noFill/>
          </a:ln>
        </p:spPr>
      </p:sp>
      <p:sp>
        <p:nvSpPr>
          <p:cNvPr id="267" name="Google Shape;267;p11"/>
          <p:cNvSpPr txBox="1"/>
          <p:nvPr/>
        </p:nvSpPr>
        <p:spPr>
          <a:xfrm>
            <a:off x="5753346" y="630937"/>
            <a:ext cx="6781307" cy="852675"/>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Clr>
                <a:srgbClr val="000000"/>
              </a:buClr>
              <a:buSzPts val="6015"/>
              <a:buFont typeface="Arial"/>
              <a:buNone/>
            </a:pPr>
            <a:r>
              <a:rPr b="0" i="0" lang="en-US" sz="6015" u="none" cap="none" strike="noStrike">
                <a:solidFill>
                  <a:srgbClr val="29303C"/>
                </a:solidFill>
                <a:latin typeface="Hammersmith One"/>
                <a:ea typeface="Hammersmith One"/>
                <a:cs typeface="Hammersmith One"/>
                <a:sym typeface="Hammersmith One"/>
              </a:rPr>
              <a:t>SERVICIOS DE GCP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2"/>
          <p:cNvSpPr/>
          <p:nvPr/>
        </p:nvSpPr>
        <p:spPr>
          <a:xfrm>
            <a:off x="1618493" y="2164090"/>
            <a:ext cx="5802551" cy="5802551"/>
          </a:xfrm>
          <a:custGeom>
            <a:rect b="b" l="l" r="r" t="t"/>
            <a:pathLst>
              <a:path extrusionOk="0" h="5802551" w="5802551">
                <a:moveTo>
                  <a:pt x="0" y="0"/>
                </a:moveTo>
                <a:lnTo>
                  <a:pt x="5802552" y="0"/>
                </a:lnTo>
                <a:lnTo>
                  <a:pt x="5802552" y="5802551"/>
                </a:lnTo>
                <a:lnTo>
                  <a:pt x="0" y="5802551"/>
                </a:lnTo>
                <a:lnTo>
                  <a:pt x="0" y="0"/>
                </a:lnTo>
                <a:close/>
              </a:path>
            </a:pathLst>
          </a:custGeom>
          <a:blipFill rotWithShape="1">
            <a:blip r:embed="rId3">
              <a:alphaModFix/>
            </a:blip>
            <a:stretch>
              <a:fillRect b="0" l="0" r="0" t="0"/>
            </a:stretch>
          </a:blipFill>
          <a:ln>
            <a:noFill/>
          </a:ln>
        </p:spPr>
      </p:sp>
      <p:sp>
        <p:nvSpPr>
          <p:cNvPr id="273" name="Google Shape;273;p12"/>
          <p:cNvSpPr txBox="1"/>
          <p:nvPr/>
        </p:nvSpPr>
        <p:spPr>
          <a:xfrm>
            <a:off x="9144000" y="2037482"/>
            <a:ext cx="6702106" cy="852675"/>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Clr>
                <a:srgbClr val="000000"/>
              </a:buClr>
              <a:buSzPts val="6015"/>
              <a:buFont typeface="Arial"/>
              <a:buNone/>
            </a:pPr>
            <a:r>
              <a:rPr b="0" i="0" lang="en-US" sz="6015" u="none" cap="none" strike="noStrike">
                <a:solidFill>
                  <a:srgbClr val="29303C"/>
                </a:solidFill>
                <a:latin typeface="Hammersmith One"/>
                <a:ea typeface="Hammersmith One"/>
                <a:cs typeface="Hammersmith One"/>
                <a:sym typeface="Hammersmith One"/>
              </a:rPr>
              <a:t>MICROSOFT AZURE</a:t>
            </a:r>
            <a:endParaRPr b="0" i="0" sz="1400" u="none" cap="none" strike="noStrike">
              <a:solidFill>
                <a:srgbClr val="000000"/>
              </a:solidFill>
              <a:latin typeface="Arial"/>
              <a:ea typeface="Arial"/>
              <a:cs typeface="Arial"/>
              <a:sym typeface="Arial"/>
            </a:endParaRPr>
          </a:p>
        </p:txBody>
      </p:sp>
      <p:sp>
        <p:nvSpPr>
          <p:cNvPr id="274" name="Google Shape;274;p12"/>
          <p:cNvSpPr txBox="1"/>
          <p:nvPr/>
        </p:nvSpPr>
        <p:spPr>
          <a:xfrm>
            <a:off x="7737848" y="3297172"/>
            <a:ext cx="9514409" cy="4564695"/>
          </a:xfrm>
          <a:prstGeom prst="rect">
            <a:avLst/>
          </a:prstGeom>
          <a:noFill/>
          <a:ln>
            <a:noFill/>
          </a:ln>
        </p:spPr>
        <p:txBody>
          <a:bodyPr anchorCtr="0" anchor="t" bIns="0" lIns="0" spcFirstLastPara="1" rIns="0" wrap="square" tIns="0">
            <a:spAutoFit/>
          </a:bodyPr>
          <a:lstStyle/>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Azure es una plataforma de servicios en la nube ofrecida por Microsoft. </a:t>
            </a:r>
            <a:endParaRPr b="0" i="0" sz="14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825"/>
              <a:buFont typeface="Arial"/>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Este proveedor pone a nuestra disposición una amplia gama de servicios y recursos informáticos.</a:t>
            </a:r>
            <a:endParaRPr b="0" i="0" sz="14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825"/>
              <a:buFont typeface="Arial"/>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Le permite a las organizaciones desarrollar, implementar y administrar sus aplicaciones y servicios por medio de la infraestructura de Microsoft y centros de datos distribuidos en todo el mundo.</a:t>
            </a:r>
            <a:endParaRPr b="0" i="0" sz="1400" u="none" cap="none" strike="noStrike">
              <a:solidFill>
                <a:srgbClr val="000000"/>
              </a:solidFill>
              <a:latin typeface="Arial"/>
              <a:ea typeface="Arial"/>
              <a:cs typeface="Arial"/>
              <a:sym typeface="Arial"/>
            </a:endParaRPr>
          </a:p>
        </p:txBody>
      </p:sp>
      <p:sp>
        <p:nvSpPr>
          <p:cNvPr id="275" name="Google Shape;275;p12"/>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276" name="Google Shape;276;p12"/>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3"/>
          <p:cNvSpPr/>
          <p:nvPr/>
        </p:nvSpPr>
        <p:spPr>
          <a:xfrm>
            <a:off x="578775" y="1483613"/>
            <a:ext cx="16680525" cy="7944100"/>
          </a:xfrm>
          <a:custGeom>
            <a:rect b="b" l="l" r="r" t="t"/>
            <a:pathLst>
              <a:path extrusionOk="0" h="7944100" w="16680525">
                <a:moveTo>
                  <a:pt x="0" y="0"/>
                </a:moveTo>
                <a:lnTo>
                  <a:pt x="16680525" y="0"/>
                </a:lnTo>
                <a:lnTo>
                  <a:pt x="16680525" y="7944100"/>
                </a:lnTo>
                <a:lnTo>
                  <a:pt x="0" y="7944100"/>
                </a:lnTo>
                <a:lnTo>
                  <a:pt x="0" y="0"/>
                </a:lnTo>
                <a:close/>
              </a:path>
            </a:pathLst>
          </a:custGeom>
          <a:blipFill rotWithShape="1">
            <a:blip r:embed="rId3">
              <a:alphaModFix/>
            </a:blip>
            <a:stretch>
              <a:fillRect b="0" l="0" r="0" t="0"/>
            </a:stretch>
          </a:blipFill>
          <a:ln>
            <a:noFill/>
          </a:ln>
        </p:spPr>
      </p:sp>
      <p:sp>
        <p:nvSpPr>
          <p:cNvPr id="282" name="Google Shape;282;p13"/>
          <p:cNvSpPr txBox="1"/>
          <p:nvPr/>
        </p:nvSpPr>
        <p:spPr>
          <a:xfrm>
            <a:off x="5159339" y="630937"/>
            <a:ext cx="7969322" cy="852675"/>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Clr>
                <a:srgbClr val="000000"/>
              </a:buClr>
              <a:buSzPts val="6015"/>
              <a:buFont typeface="Arial"/>
              <a:buNone/>
            </a:pPr>
            <a:r>
              <a:rPr b="0" i="0" lang="en-US" sz="6015" u="none" cap="none" strike="noStrike">
                <a:solidFill>
                  <a:srgbClr val="29303C"/>
                </a:solidFill>
                <a:latin typeface="Hammersmith One"/>
                <a:ea typeface="Hammersmith One"/>
                <a:cs typeface="Hammersmith One"/>
                <a:sym typeface="Hammersmith One"/>
              </a:rPr>
              <a:t>SERVICIOS DE AZURE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4"/>
          <p:cNvSpPr/>
          <p:nvPr/>
        </p:nvSpPr>
        <p:spPr>
          <a:xfrm>
            <a:off x="1642191" y="3491487"/>
            <a:ext cx="5518208" cy="3304027"/>
          </a:xfrm>
          <a:custGeom>
            <a:rect b="b" l="l" r="r" t="t"/>
            <a:pathLst>
              <a:path extrusionOk="0" h="3304027" w="5518208">
                <a:moveTo>
                  <a:pt x="0" y="0"/>
                </a:moveTo>
                <a:lnTo>
                  <a:pt x="5518208" y="0"/>
                </a:lnTo>
                <a:lnTo>
                  <a:pt x="5518208" y="3304026"/>
                </a:lnTo>
                <a:lnTo>
                  <a:pt x="0" y="3304026"/>
                </a:lnTo>
                <a:lnTo>
                  <a:pt x="0" y="0"/>
                </a:lnTo>
                <a:close/>
              </a:path>
            </a:pathLst>
          </a:custGeom>
          <a:blipFill rotWithShape="1">
            <a:blip r:embed="rId3">
              <a:alphaModFix/>
            </a:blip>
            <a:stretch>
              <a:fillRect b="0" l="0" r="0" t="0"/>
            </a:stretch>
          </a:blipFill>
          <a:ln>
            <a:noFill/>
          </a:ln>
        </p:spPr>
      </p:sp>
      <p:sp>
        <p:nvSpPr>
          <p:cNvPr id="288" name="Google Shape;288;p14"/>
          <p:cNvSpPr txBox="1"/>
          <p:nvPr/>
        </p:nvSpPr>
        <p:spPr>
          <a:xfrm>
            <a:off x="8249029" y="2005801"/>
            <a:ext cx="8492048" cy="857453"/>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Clr>
                <a:srgbClr val="000000"/>
              </a:buClr>
              <a:buSzPts val="6015"/>
              <a:buFont typeface="Arial"/>
              <a:buNone/>
            </a:pPr>
            <a:r>
              <a:rPr b="0" i="0" lang="en-US" sz="6015" u="none" cap="none" strike="noStrike">
                <a:solidFill>
                  <a:srgbClr val="29303C"/>
                </a:solidFill>
                <a:latin typeface="Hammersmith One"/>
                <a:ea typeface="Hammersmith One"/>
                <a:cs typeface="Hammersmith One"/>
                <a:sym typeface="Hammersmith One"/>
              </a:rPr>
              <a:t>AMAZON WEB SERVICES</a:t>
            </a:r>
            <a:endParaRPr b="0" i="0" sz="1400" u="none" cap="none" strike="noStrike">
              <a:solidFill>
                <a:srgbClr val="000000"/>
              </a:solidFill>
              <a:latin typeface="Arial"/>
              <a:ea typeface="Arial"/>
              <a:cs typeface="Arial"/>
              <a:sym typeface="Arial"/>
            </a:endParaRPr>
          </a:p>
        </p:txBody>
      </p:sp>
      <p:sp>
        <p:nvSpPr>
          <p:cNvPr id="289" name="Google Shape;289;p14"/>
          <p:cNvSpPr txBox="1"/>
          <p:nvPr/>
        </p:nvSpPr>
        <p:spPr>
          <a:xfrm>
            <a:off x="7737848" y="2944747"/>
            <a:ext cx="9514500" cy="6087000"/>
          </a:xfrm>
          <a:prstGeom prst="rect">
            <a:avLst/>
          </a:prstGeom>
          <a:noFill/>
          <a:ln>
            <a:noFill/>
          </a:ln>
        </p:spPr>
        <p:txBody>
          <a:bodyPr anchorCtr="0" anchor="t" bIns="0" lIns="0" spcFirstLastPara="1" rIns="0" wrap="square" tIns="0">
            <a:spAutoFit/>
          </a:bodyPr>
          <a:lstStyle/>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Amazon Web Services (AWS) es una plataforma de servicios ofrecida por Amazon. </a:t>
            </a:r>
            <a:endParaRPr b="0" i="0" sz="14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825"/>
              <a:buFont typeface="Arial"/>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Es uno de los proveedores de computación en la nube más grandes y ampliamente utilizados del mundo.</a:t>
            </a:r>
            <a:endParaRPr b="0" i="0" sz="14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825"/>
              <a:buFont typeface="Arial"/>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Nos ofrece más de 200 servicios integrales de centros de datos a nivel mundial. </a:t>
            </a:r>
            <a:endParaRPr b="0" i="0" sz="14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825"/>
              <a:buFont typeface="Arial"/>
              <a:buNone/>
            </a:pPr>
            <a:r>
              <a:t/>
            </a:r>
            <a:endParaRPr b="0" i="0" sz="2825" u="none" cap="none" strike="noStrike">
              <a:solidFill>
                <a:srgbClr val="29303C"/>
              </a:solidFill>
              <a:latin typeface="Arial"/>
              <a:ea typeface="Arial"/>
              <a:cs typeface="Arial"/>
              <a:sym typeface="Arial"/>
            </a:endParaRPr>
          </a:p>
          <a:p>
            <a:pPr indent="-304982" lvl="1" marL="609967" marR="0" rtl="0" algn="l">
              <a:lnSpc>
                <a:spcPct val="129981"/>
              </a:lnSpc>
              <a:spcBef>
                <a:spcPts val="0"/>
              </a:spcBef>
              <a:spcAft>
                <a:spcPts val="0"/>
              </a:spcAft>
              <a:buClr>
                <a:srgbClr val="29303C"/>
              </a:buClr>
              <a:buSzPts val="2825"/>
              <a:buFont typeface="Arial"/>
              <a:buChar char="•"/>
            </a:pPr>
            <a:r>
              <a:rPr b="0" i="0" lang="en-US" sz="2825" u="none" cap="none" strike="noStrike">
                <a:solidFill>
                  <a:srgbClr val="29303C"/>
                </a:solidFill>
                <a:latin typeface="Arial"/>
                <a:ea typeface="Arial"/>
                <a:cs typeface="Arial"/>
                <a:sym typeface="Arial"/>
              </a:rPr>
              <a:t>Es utilizado por las compañías más grandes y organismos gubernamentales líderes.</a:t>
            </a:r>
            <a:endParaRPr b="0" i="0" sz="1400" u="none" cap="none" strike="noStrike">
              <a:solidFill>
                <a:srgbClr val="000000"/>
              </a:solidFill>
              <a:latin typeface="Arial"/>
              <a:ea typeface="Arial"/>
              <a:cs typeface="Arial"/>
              <a:sym typeface="Arial"/>
            </a:endParaRPr>
          </a:p>
        </p:txBody>
      </p:sp>
      <p:sp>
        <p:nvSpPr>
          <p:cNvPr id="290" name="Google Shape;290;p14"/>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291" name="Google Shape;291;p14"/>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5"/>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3">
              <a:alphaModFix/>
            </a:blip>
            <a:stretch>
              <a:fillRect b="0" l="0" r="0" t="0"/>
            </a:stretch>
          </a:blipFill>
          <a:ln>
            <a:noFill/>
          </a:ln>
        </p:spPr>
      </p:sp>
      <p:sp>
        <p:nvSpPr>
          <p:cNvPr id="297" name="Google Shape;297;p15"/>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4">
              <a:alphaModFix/>
            </a:blip>
            <a:stretch>
              <a:fillRect b="0" l="0" r="0" t="0"/>
            </a:stretch>
          </a:blipFill>
          <a:ln>
            <a:noFill/>
          </a:ln>
        </p:spPr>
      </p:sp>
      <p:sp>
        <p:nvSpPr>
          <p:cNvPr id="298" name="Google Shape;298;p15"/>
          <p:cNvSpPr/>
          <p:nvPr/>
        </p:nvSpPr>
        <p:spPr>
          <a:xfrm>
            <a:off x="11512698" y="2583673"/>
            <a:ext cx="5746602" cy="5938155"/>
          </a:xfrm>
          <a:custGeom>
            <a:rect b="b" l="l" r="r" t="t"/>
            <a:pathLst>
              <a:path extrusionOk="0" h="5938155" w="5746602">
                <a:moveTo>
                  <a:pt x="0" y="0"/>
                </a:moveTo>
                <a:lnTo>
                  <a:pt x="5746602" y="0"/>
                </a:lnTo>
                <a:lnTo>
                  <a:pt x="5746602" y="5938155"/>
                </a:lnTo>
                <a:lnTo>
                  <a:pt x="0" y="5938155"/>
                </a:lnTo>
                <a:lnTo>
                  <a:pt x="0" y="0"/>
                </a:lnTo>
                <a:close/>
              </a:path>
            </a:pathLst>
          </a:custGeom>
          <a:blipFill rotWithShape="1">
            <a:blip r:embed="rId5">
              <a:alphaModFix/>
            </a:blip>
            <a:stretch>
              <a:fillRect b="0" l="0" r="0" t="0"/>
            </a:stretch>
          </a:blipFill>
          <a:ln>
            <a:noFill/>
          </a:ln>
        </p:spPr>
      </p:sp>
      <p:sp>
        <p:nvSpPr>
          <p:cNvPr id="299" name="Google Shape;299;p15"/>
          <p:cNvSpPr txBox="1"/>
          <p:nvPr/>
        </p:nvSpPr>
        <p:spPr>
          <a:xfrm>
            <a:off x="669960" y="1085850"/>
            <a:ext cx="16948080" cy="857453"/>
          </a:xfrm>
          <a:prstGeom prst="rect">
            <a:avLst/>
          </a:prstGeom>
          <a:noFill/>
          <a:ln>
            <a:noFill/>
          </a:ln>
        </p:spPr>
        <p:txBody>
          <a:bodyPr anchorCtr="0" anchor="t" bIns="0" lIns="0" spcFirstLastPara="1" rIns="0" wrap="square" tIns="0">
            <a:spAutoFit/>
          </a:bodyPr>
          <a:lstStyle/>
          <a:p>
            <a:pPr indent="0" lvl="0" marL="0" marR="0" rtl="0" algn="just">
              <a:lnSpc>
                <a:spcPct val="110008"/>
              </a:lnSpc>
              <a:spcBef>
                <a:spcPts val="0"/>
              </a:spcBef>
              <a:spcAft>
                <a:spcPts val="0"/>
              </a:spcAft>
              <a:buClr>
                <a:srgbClr val="000000"/>
              </a:buClr>
              <a:buSzPts val="6015"/>
              <a:buFont typeface="Arial"/>
              <a:buNone/>
            </a:pPr>
            <a:r>
              <a:rPr b="0" i="0" lang="en-US" sz="6015" u="none" cap="none" strike="noStrike">
                <a:solidFill>
                  <a:srgbClr val="29303C"/>
                </a:solidFill>
                <a:latin typeface="Hammersmith One"/>
                <a:ea typeface="Hammersmith One"/>
                <a:cs typeface="Hammersmith One"/>
                <a:sym typeface="Hammersmith One"/>
              </a:rPr>
              <a:t>REGIONES Y ZONAS DE DISPONIBILIDAD DE AWS</a:t>
            </a:r>
            <a:endParaRPr b="0" i="0" sz="1400" u="none" cap="none" strike="noStrike">
              <a:solidFill>
                <a:srgbClr val="000000"/>
              </a:solidFill>
              <a:latin typeface="Arial"/>
              <a:ea typeface="Arial"/>
              <a:cs typeface="Arial"/>
              <a:sym typeface="Arial"/>
            </a:endParaRPr>
          </a:p>
        </p:txBody>
      </p:sp>
      <p:sp>
        <p:nvSpPr>
          <p:cNvPr id="300" name="Google Shape;300;p15"/>
          <p:cNvSpPr txBox="1"/>
          <p:nvPr/>
        </p:nvSpPr>
        <p:spPr>
          <a:xfrm>
            <a:off x="669960" y="2545573"/>
            <a:ext cx="9781622" cy="5614589"/>
          </a:xfrm>
          <a:prstGeom prst="rect">
            <a:avLst/>
          </a:prstGeom>
          <a:noFill/>
          <a:ln>
            <a:noFill/>
          </a:ln>
        </p:spPr>
        <p:txBody>
          <a:bodyPr anchorCtr="0" anchor="t" bIns="0" lIns="0" spcFirstLastPara="1" rIns="0" wrap="square" tIns="0">
            <a:spAutoFit/>
          </a:bodyPr>
          <a:lstStyle/>
          <a:p>
            <a:pPr indent="-367721" lvl="1" marL="735442" marR="0" rtl="0" algn="l">
              <a:lnSpc>
                <a:spcPct val="130005"/>
              </a:lnSpc>
              <a:spcBef>
                <a:spcPts val="0"/>
              </a:spcBef>
              <a:spcAft>
                <a:spcPts val="0"/>
              </a:spcAft>
              <a:buClr>
                <a:srgbClr val="29303C"/>
              </a:buClr>
              <a:buSzPts val="3406"/>
              <a:buFont typeface="Arial"/>
              <a:buChar char="•"/>
            </a:pPr>
            <a:r>
              <a:rPr b="1" i="0" lang="en-US" sz="3406" u="none" cap="none" strike="noStrike">
                <a:solidFill>
                  <a:srgbClr val="29303C"/>
                </a:solidFill>
                <a:latin typeface="Arial"/>
                <a:ea typeface="Arial"/>
                <a:cs typeface="Arial"/>
                <a:sym typeface="Arial"/>
              </a:rPr>
              <a:t>Una región</a:t>
            </a:r>
            <a:r>
              <a:rPr b="0" i="0" lang="en-US" sz="3406" u="none" cap="none" strike="noStrike">
                <a:solidFill>
                  <a:srgbClr val="29303C"/>
                </a:solidFill>
                <a:latin typeface="Arial"/>
                <a:ea typeface="Arial"/>
                <a:cs typeface="Arial"/>
                <a:sym typeface="Arial"/>
              </a:rPr>
              <a:t> es un grupo de centros de datos  y la mayoría de los servicios de AWS son de ámbito regional</a:t>
            </a:r>
            <a:endParaRPr b="0" i="0" sz="1400" u="none" cap="none" strike="noStrike">
              <a:solidFill>
                <a:srgbClr val="000000"/>
              </a:solidFill>
              <a:latin typeface="Arial"/>
              <a:ea typeface="Arial"/>
              <a:cs typeface="Arial"/>
              <a:sym typeface="Arial"/>
            </a:endParaRPr>
          </a:p>
          <a:p>
            <a:pPr indent="-367721" lvl="1" marL="735442" marR="0" rtl="0" algn="l">
              <a:lnSpc>
                <a:spcPct val="130005"/>
              </a:lnSpc>
              <a:spcBef>
                <a:spcPts val="0"/>
              </a:spcBef>
              <a:spcAft>
                <a:spcPts val="0"/>
              </a:spcAft>
              <a:buClr>
                <a:srgbClr val="29303C"/>
              </a:buClr>
              <a:buSzPts val="3406"/>
              <a:buFont typeface="Arial"/>
              <a:buChar char="•"/>
            </a:pPr>
            <a:r>
              <a:rPr b="1" i="0" lang="en-US" sz="3406" u="none" cap="none" strike="noStrike">
                <a:solidFill>
                  <a:srgbClr val="29303C"/>
                </a:solidFill>
                <a:latin typeface="Arial"/>
                <a:ea typeface="Arial"/>
                <a:cs typeface="Arial"/>
                <a:sym typeface="Arial"/>
              </a:rPr>
              <a:t>Cada región </a:t>
            </a:r>
            <a:r>
              <a:rPr b="0" i="0" lang="en-US" sz="3406" u="none" cap="none" strike="noStrike">
                <a:solidFill>
                  <a:srgbClr val="29303C"/>
                </a:solidFill>
                <a:latin typeface="Arial"/>
                <a:ea typeface="Arial"/>
                <a:cs typeface="Arial"/>
                <a:sym typeface="Arial"/>
              </a:rPr>
              <a:t>tiene muchas zonas de disponibilidad [ZA]</a:t>
            </a:r>
            <a:endParaRPr b="0" i="0" sz="1400" u="none" cap="none" strike="noStrike">
              <a:solidFill>
                <a:srgbClr val="000000"/>
              </a:solidFill>
              <a:latin typeface="Arial"/>
              <a:ea typeface="Arial"/>
              <a:cs typeface="Arial"/>
              <a:sym typeface="Arial"/>
            </a:endParaRPr>
          </a:p>
          <a:p>
            <a:pPr indent="-367721" lvl="1" marL="735442" marR="0" rtl="0" algn="l">
              <a:lnSpc>
                <a:spcPct val="130005"/>
              </a:lnSpc>
              <a:spcBef>
                <a:spcPts val="0"/>
              </a:spcBef>
              <a:spcAft>
                <a:spcPts val="0"/>
              </a:spcAft>
              <a:buClr>
                <a:srgbClr val="29303C"/>
              </a:buClr>
              <a:buSzPts val="3406"/>
              <a:buFont typeface="Arial"/>
              <a:buChar char="•"/>
            </a:pPr>
            <a:r>
              <a:rPr b="1" i="0" lang="en-US" sz="3406" u="none" cap="none" strike="noStrike">
                <a:solidFill>
                  <a:srgbClr val="29303C"/>
                </a:solidFill>
                <a:latin typeface="Arial"/>
                <a:ea typeface="Arial"/>
                <a:cs typeface="Arial"/>
                <a:sym typeface="Arial"/>
              </a:rPr>
              <a:t>Cada ZA </a:t>
            </a:r>
            <a:r>
              <a:rPr b="0" i="0" lang="en-US" sz="3406" u="none" cap="none" strike="noStrike">
                <a:solidFill>
                  <a:srgbClr val="29303C"/>
                </a:solidFill>
                <a:latin typeface="Arial"/>
                <a:ea typeface="Arial"/>
                <a:cs typeface="Arial"/>
                <a:sym typeface="Arial"/>
              </a:rPr>
              <a:t>está aislada y es uno o varios centros de datos discretos con alimentación, red y conectividad redundantes</a:t>
            </a:r>
            <a:endParaRPr b="0" i="0" sz="1400" u="none" cap="none" strike="noStrike">
              <a:solidFill>
                <a:srgbClr val="000000"/>
              </a:solidFill>
              <a:latin typeface="Arial"/>
              <a:ea typeface="Arial"/>
              <a:cs typeface="Arial"/>
              <a:sym typeface="Arial"/>
            </a:endParaRPr>
          </a:p>
          <a:p>
            <a:pPr indent="-367721" lvl="1" marL="735442" marR="0" rtl="0" algn="l">
              <a:lnSpc>
                <a:spcPct val="130005"/>
              </a:lnSpc>
              <a:spcBef>
                <a:spcPts val="0"/>
              </a:spcBef>
              <a:spcAft>
                <a:spcPts val="0"/>
              </a:spcAft>
              <a:buClr>
                <a:srgbClr val="29303C"/>
              </a:buClr>
              <a:buSzPts val="3406"/>
              <a:buFont typeface="Arial"/>
              <a:buChar char="•"/>
            </a:pPr>
            <a:r>
              <a:rPr b="0" i="0" lang="en-US" sz="3406" u="none" cap="none" strike="noStrike">
                <a:solidFill>
                  <a:srgbClr val="29303C"/>
                </a:solidFill>
                <a:latin typeface="Arial"/>
                <a:ea typeface="Arial"/>
                <a:cs typeface="Arial"/>
                <a:sym typeface="Arial"/>
              </a:rPr>
              <a:t>Sabiendo esto, </a:t>
            </a:r>
            <a:r>
              <a:rPr b="1" i="0" lang="en-US" sz="3406" u="none" cap="none" strike="noStrike">
                <a:solidFill>
                  <a:srgbClr val="29303C"/>
                </a:solidFill>
                <a:latin typeface="Arial"/>
                <a:ea typeface="Arial"/>
                <a:cs typeface="Arial"/>
                <a:sym typeface="Arial"/>
              </a:rPr>
              <a:t>los servicios pueden ser regionales o globales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6"/>
          <p:cNvSpPr/>
          <p:nvPr/>
        </p:nvSpPr>
        <p:spPr>
          <a:xfrm>
            <a:off x="3242469" y="6130362"/>
            <a:ext cx="11945060" cy="3731756"/>
          </a:xfrm>
          <a:custGeom>
            <a:rect b="b" l="l" r="r" t="t"/>
            <a:pathLst>
              <a:path extrusionOk="0" h="3731756" w="11945060">
                <a:moveTo>
                  <a:pt x="0" y="0"/>
                </a:moveTo>
                <a:lnTo>
                  <a:pt x="11945061" y="0"/>
                </a:lnTo>
                <a:lnTo>
                  <a:pt x="11945061" y="3731756"/>
                </a:lnTo>
                <a:lnTo>
                  <a:pt x="0" y="3731756"/>
                </a:lnTo>
                <a:lnTo>
                  <a:pt x="0" y="0"/>
                </a:lnTo>
                <a:close/>
              </a:path>
            </a:pathLst>
          </a:custGeom>
          <a:blipFill rotWithShape="1">
            <a:blip r:embed="rId3">
              <a:alphaModFix/>
            </a:blip>
            <a:stretch>
              <a:fillRect b="-1811" l="0" r="0" t="-1812"/>
            </a:stretch>
          </a:blipFill>
          <a:ln>
            <a:noFill/>
          </a:ln>
        </p:spPr>
      </p:sp>
      <p:sp>
        <p:nvSpPr>
          <p:cNvPr id="306" name="Google Shape;306;p16"/>
          <p:cNvSpPr txBox="1"/>
          <p:nvPr/>
        </p:nvSpPr>
        <p:spPr>
          <a:xfrm>
            <a:off x="789977" y="344150"/>
            <a:ext cx="8049600" cy="10773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Arial"/>
                <a:ea typeface="Arial"/>
                <a:cs typeface="Arial"/>
                <a:sym typeface="Arial"/>
              </a:rPr>
              <a:t>FACTURACIÓN</a:t>
            </a:r>
            <a:endParaRPr b="0" i="0" sz="1400" u="none" cap="none" strike="noStrike">
              <a:solidFill>
                <a:srgbClr val="000000"/>
              </a:solidFill>
              <a:latin typeface="Arial"/>
              <a:ea typeface="Arial"/>
              <a:cs typeface="Arial"/>
              <a:sym typeface="Arial"/>
            </a:endParaRPr>
          </a:p>
        </p:txBody>
      </p:sp>
      <p:sp>
        <p:nvSpPr>
          <p:cNvPr id="307" name="Google Shape;307;p16"/>
          <p:cNvSpPr txBox="1"/>
          <p:nvPr/>
        </p:nvSpPr>
        <p:spPr>
          <a:xfrm>
            <a:off x="789970" y="1528280"/>
            <a:ext cx="16850100" cy="22341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199"/>
              <a:buFont typeface="Arial"/>
              <a:buNone/>
            </a:pPr>
            <a:r>
              <a:rPr b="0" i="0" lang="en-US" sz="2199" u="none" cap="none" strike="noStrike">
                <a:solidFill>
                  <a:srgbClr val="29303C"/>
                </a:solidFill>
                <a:latin typeface="Arial"/>
                <a:ea typeface="Arial"/>
                <a:cs typeface="Arial"/>
                <a:sym typeface="Arial"/>
              </a:rPr>
              <a:t>La página “Facturas” mostrará los cargos estimados más recientes según los servicios medidos hasta la fecha,  nos brinda dará una visión mensual de los costos facturables para los periodos de facturación mensual que aún no se hayan cerrado.</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0" i="0" sz="2199" u="none" cap="none" strike="noStrike">
              <a:solidFill>
                <a:srgbClr val="29303C"/>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rPr b="0" i="0" lang="en-US" sz="2199" u="none" cap="none" strike="noStrike">
                <a:solidFill>
                  <a:srgbClr val="29303C"/>
                </a:solidFill>
                <a:latin typeface="Arial"/>
                <a:ea typeface="Arial"/>
                <a:cs typeface="Arial"/>
                <a:sym typeface="Arial"/>
              </a:rPr>
              <a:t>Las facturas son generadas al completar el ciclo de facturación mensual o al completar una compra única o suscripción.</a:t>
            </a:r>
            <a:endParaRPr b="0" i="0" sz="14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2199"/>
              <a:buFont typeface="Arial"/>
              <a:buNone/>
            </a:pPr>
            <a:r>
              <a:t/>
            </a:r>
            <a:endParaRPr b="0" i="0" sz="2199" u="none" cap="none" strike="noStrike">
              <a:solidFill>
                <a:srgbClr val="29303C"/>
              </a:solidFill>
              <a:latin typeface="Arial"/>
              <a:ea typeface="Arial"/>
              <a:cs typeface="Arial"/>
              <a:sym typeface="Arial"/>
            </a:endParaRPr>
          </a:p>
        </p:txBody>
      </p:sp>
      <p:sp>
        <p:nvSpPr>
          <p:cNvPr id="308" name="Google Shape;308;p16"/>
          <p:cNvSpPr txBox="1"/>
          <p:nvPr/>
        </p:nvSpPr>
        <p:spPr>
          <a:xfrm>
            <a:off x="647976" y="3510750"/>
            <a:ext cx="9269400" cy="10773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Arial"/>
                <a:ea typeface="Arial"/>
                <a:cs typeface="Arial"/>
                <a:sym typeface="Arial"/>
              </a:rPr>
              <a:t>PRESUPUESTOS</a:t>
            </a:r>
            <a:endParaRPr b="0" i="0" sz="1400" u="none" cap="none" strike="noStrike">
              <a:solidFill>
                <a:srgbClr val="000000"/>
              </a:solidFill>
              <a:latin typeface="Arial"/>
              <a:ea typeface="Arial"/>
              <a:cs typeface="Arial"/>
              <a:sym typeface="Arial"/>
            </a:endParaRPr>
          </a:p>
        </p:txBody>
      </p:sp>
      <p:sp>
        <p:nvSpPr>
          <p:cNvPr id="309" name="Google Shape;309;p16"/>
          <p:cNvSpPr txBox="1"/>
          <p:nvPr/>
        </p:nvSpPr>
        <p:spPr>
          <a:xfrm>
            <a:off x="647971" y="4698200"/>
            <a:ext cx="16850059" cy="115379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Clr>
                <a:srgbClr val="000000"/>
              </a:buClr>
              <a:buSzPts val="2199"/>
              <a:buFont typeface="Arial"/>
              <a:buNone/>
            </a:pPr>
            <a:r>
              <a:rPr b="1" i="0" lang="en-US" sz="2199" u="none" cap="none" strike="noStrike">
                <a:solidFill>
                  <a:srgbClr val="29303C"/>
                </a:solidFill>
                <a:latin typeface="Arial"/>
                <a:ea typeface="Arial"/>
                <a:cs typeface="Arial"/>
                <a:sym typeface="Arial"/>
              </a:rPr>
              <a:t>AWS Budgets </a:t>
            </a:r>
            <a:r>
              <a:rPr b="0" i="0" lang="en-US" sz="2199" u="none" cap="none" strike="noStrike">
                <a:solidFill>
                  <a:srgbClr val="29303C"/>
                </a:solidFill>
                <a:latin typeface="Arial"/>
                <a:ea typeface="Arial"/>
                <a:cs typeface="Arial"/>
                <a:sym typeface="Arial"/>
              </a:rPr>
              <a:t>nos ofrece la posibilidad de crear presupuestos personalizados o presupuestos predefinidos (plantillas) que nos alertan cuando los costos o el uso de nuestros servicios superan o se prevé que superarán el importe presupuestado, este tiene un límite gratuito de 62 días de presupuesto por mes (2 presupuestos que actúan de forma asimultánea).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7"/>
          <p:cNvSpPr txBox="1"/>
          <p:nvPr/>
        </p:nvSpPr>
        <p:spPr>
          <a:xfrm>
            <a:off x="6166085" y="2931687"/>
            <a:ext cx="5955830"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Hammersmith One"/>
                <a:ea typeface="Hammersmith One"/>
                <a:cs typeface="Hammersmith One"/>
                <a:sym typeface="Hammersmith One"/>
              </a:rPr>
              <a:t>PARTE PRÁTICA</a:t>
            </a:r>
            <a:endParaRPr b="0" i="0" sz="1400" u="none" cap="none" strike="noStrike">
              <a:solidFill>
                <a:srgbClr val="000000"/>
              </a:solidFill>
              <a:latin typeface="Arial"/>
              <a:ea typeface="Arial"/>
              <a:cs typeface="Arial"/>
              <a:sym typeface="Arial"/>
            </a:endParaRPr>
          </a:p>
        </p:txBody>
      </p:sp>
      <p:sp>
        <p:nvSpPr>
          <p:cNvPr id="315" name="Google Shape;315;p17"/>
          <p:cNvSpPr txBox="1"/>
          <p:nvPr/>
        </p:nvSpPr>
        <p:spPr>
          <a:xfrm>
            <a:off x="2162609" y="3978275"/>
            <a:ext cx="13962781" cy="22733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Arial"/>
                <a:ea typeface="Arial"/>
                <a:cs typeface="Arial"/>
                <a:sym typeface="Arial"/>
              </a:rPr>
              <a:t>ENTORNO DE LOS PROVEEDORES Y CREACIÓN DE PRESUPUESTOS</a:t>
            </a:r>
            <a:endParaRPr b="0" i="0" sz="1400" u="none" cap="none" strike="noStrike">
              <a:solidFill>
                <a:srgbClr val="000000"/>
              </a:solidFill>
              <a:latin typeface="Arial"/>
              <a:ea typeface="Arial"/>
              <a:cs typeface="Arial"/>
              <a:sym typeface="Arial"/>
            </a:endParaRPr>
          </a:p>
        </p:txBody>
      </p:sp>
      <p:sp>
        <p:nvSpPr>
          <p:cNvPr id="316" name="Google Shape;316;p17"/>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317" name="Google Shape;317;p17"/>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8"/>
          <p:cNvSpPr/>
          <p:nvPr/>
        </p:nvSpPr>
        <p:spPr>
          <a:xfrm rot="5400000">
            <a:off x="1035086" y="1228236"/>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323" name="Google Shape;323;p18"/>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4">
              <a:alphaModFix/>
            </a:blip>
            <a:stretch>
              <a:fillRect b="0" l="0" r="0" t="0"/>
            </a:stretch>
          </a:blipFill>
          <a:ln>
            <a:noFill/>
          </a:ln>
        </p:spPr>
      </p:sp>
      <p:sp>
        <p:nvSpPr>
          <p:cNvPr id="324" name="Google Shape;324;p18"/>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5">
              <a:alphaModFix/>
            </a:blip>
            <a:stretch>
              <a:fillRect b="0" l="0" r="0" t="0"/>
            </a:stretch>
          </a:blipFill>
          <a:ln>
            <a:noFill/>
          </a:ln>
        </p:spPr>
      </p:sp>
      <p:sp>
        <p:nvSpPr>
          <p:cNvPr id="325" name="Google Shape;325;p18"/>
          <p:cNvSpPr txBox="1"/>
          <p:nvPr/>
        </p:nvSpPr>
        <p:spPr>
          <a:xfrm>
            <a:off x="3865129" y="1230119"/>
            <a:ext cx="10557741" cy="755869"/>
          </a:xfrm>
          <a:prstGeom prst="rect">
            <a:avLst/>
          </a:prstGeom>
          <a:noFill/>
          <a:ln>
            <a:noFill/>
          </a:ln>
        </p:spPr>
        <p:txBody>
          <a:bodyPr anchorCtr="0" anchor="t" bIns="0" lIns="0" spcFirstLastPara="1" rIns="0" wrap="square" tIns="0">
            <a:spAutoFit/>
          </a:bodyPr>
          <a:lstStyle/>
          <a:p>
            <a:pPr indent="0" lvl="0" marL="0" marR="0" rtl="0" algn="l">
              <a:lnSpc>
                <a:spcPct val="109998"/>
              </a:lnSpc>
              <a:spcBef>
                <a:spcPts val="0"/>
              </a:spcBef>
              <a:spcAft>
                <a:spcPts val="0"/>
              </a:spcAft>
              <a:buClr>
                <a:srgbClr val="000000"/>
              </a:buClr>
              <a:buSzPts val="5361"/>
              <a:buFont typeface="Arial"/>
              <a:buNone/>
            </a:pPr>
            <a:r>
              <a:rPr b="0" i="0" lang="en-US" sz="5361" u="none" cap="none" strike="noStrike">
                <a:solidFill>
                  <a:srgbClr val="29303C"/>
                </a:solidFill>
                <a:latin typeface="Hammersmith One"/>
                <a:ea typeface="Hammersmith One"/>
                <a:cs typeface="Hammersmith One"/>
                <a:sym typeface="Hammersmith One"/>
              </a:rPr>
              <a:t>CONCEPTOS CLAVES APRENDIDOS</a:t>
            </a:r>
            <a:endParaRPr b="0" i="0" sz="1400" u="none" cap="none" strike="noStrike">
              <a:solidFill>
                <a:srgbClr val="000000"/>
              </a:solidFill>
              <a:latin typeface="Arial"/>
              <a:ea typeface="Arial"/>
              <a:cs typeface="Arial"/>
              <a:sym typeface="Arial"/>
            </a:endParaRPr>
          </a:p>
        </p:txBody>
      </p:sp>
      <p:sp>
        <p:nvSpPr>
          <p:cNvPr id="326" name="Google Shape;326;p18"/>
          <p:cNvSpPr txBox="1"/>
          <p:nvPr/>
        </p:nvSpPr>
        <p:spPr>
          <a:xfrm>
            <a:off x="3865125" y="2134413"/>
            <a:ext cx="14183400" cy="6141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Concepto y beneficios de Cloud Computing</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Modelos de despliegue de la nube (pública, privada e híbrida)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Modelos de servicio en Cloud Computing: IaaS, PaaS y SaaS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Comparativa entre principales proveedores: AWS, Azure y GCP</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t/>
            </a:r>
            <a:endParaRPr b="1" i="0" sz="3500" u="none" cap="none" strike="noStrike">
              <a:solidFill>
                <a:srgbClr val="29303C"/>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500"/>
              <a:buFont typeface="Arial"/>
              <a:buNone/>
            </a:pPr>
            <a:r>
              <a:rPr b="1" i="0" lang="en-US" sz="3500" u="none" cap="none" strike="noStrike">
                <a:solidFill>
                  <a:srgbClr val="29303C"/>
                </a:solidFill>
                <a:latin typeface="Arial"/>
                <a:ea typeface="Arial"/>
                <a:cs typeface="Arial"/>
                <a:sym typeface="Arial"/>
              </a:rPr>
              <a:t>Facturación y control de presupuesto en servicios cloud</a:t>
            </a:r>
            <a:endParaRPr b="0" i="0" sz="1400" u="none" cap="none" strike="noStrike">
              <a:solidFill>
                <a:srgbClr val="000000"/>
              </a:solidFill>
              <a:latin typeface="Arial"/>
              <a:ea typeface="Arial"/>
              <a:cs typeface="Arial"/>
              <a:sym typeface="Arial"/>
            </a:endParaRPr>
          </a:p>
        </p:txBody>
      </p:sp>
      <p:grpSp>
        <p:nvGrpSpPr>
          <p:cNvPr id="327" name="Google Shape;327;p18"/>
          <p:cNvGrpSpPr/>
          <p:nvPr/>
        </p:nvGrpSpPr>
        <p:grpSpPr>
          <a:xfrm>
            <a:off x="2905062" y="1986000"/>
            <a:ext cx="731002" cy="760368"/>
            <a:chOff x="0" y="0"/>
            <a:chExt cx="974670" cy="1013824"/>
          </a:xfrm>
        </p:grpSpPr>
        <p:sp>
          <p:nvSpPr>
            <p:cNvPr id="328" name="Google Shape;328;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330" name="Google Shape;330;p18"/>
          <p:cNvGrpSpPr/>
          <p:nvPr/>
        </p:nvGrpSpPr>
        <p:grpSpPr>
          <a:xfrm>
            <a:off x="2905062" y="3405516"/>
            <a:ext cx="731002" cy="760368"/>
            <a:chOff x="0" y="0"/>
            <a:chExt cx="974670" cy="1013824"/>
          </a:xfrm>
        </p:grpSpPr>
        <p:sp>
          <p:nvSpPr>
            <p:cNvPr id="331" name="Google Shape;331;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333" name="Google Shape;333;p18"/>
          <p:cNvGrpSpPr/>
          <p:nvPr/>
        </p:nvGrpSpPr>
        <p:grpSpPr>
          <a:xfrm>
            <a:off x="2905062" y="4825036"/>
            <a:ext cx="731003" cy="760368"/>
            <a:chOff x="0" y="0"/>
            <a:chExt cx="974670" cy="1013824"/>
          </a:xfrm>
        </p:grpSpPr>
        <p:sp>
          <p:nvSpPr>
            <p:cNvPr id="334" name="Google Shape;334;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8"/>
            <p:cNvSpPr txBox="1"/>
            <p:nvPr/>
          </p:nvSpPr>
          <p:spPr>
            <a:xfrm>
              <a:off x="194570" y="64529"/>
              <a:ext cx="585531" cy="835237"/>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grpSp>
        <p:nvGrpSpPr>
          <p:cNvPr id="336" name="Google Shape;336;p18"/>
          <p:cNvGrpSpPr/>
          <p:nvPr/>
        </p:nvGrpSpPr>
        <p:grpSpPr>
          <a:xfrm>
            <a:off x="2905062" y="6208795"/>
            <a:ext cx="731002" cy="760368"/>
            <a:chOff x="0" y="0"/>
            <a:chExt cx="974670" cy="1013824"/>
          </a:xfrm>
        </p:grpSpPr>
        <p:sp>
          <p:nvSpPr>
            <p:cNvPr id="337" name="Google Shape;337;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grpSp>
      <p:grpSp>
        <p:nvGrpSpPr>
          <p:cNvPr id="339" name="Google Shape;339;p18"/>
          <p:cNvGrpSpPr/>
          <p:nvPr/>
        </p:nvGrpSpPr>
        <p:grpSpPr>
          <a:xfrm>
            <a:off x="2905062" y="7592580"/>
            <a:ext cx="731002" cy="760368"/>
            <a:chOff x="0" y="0"/>
            <a:chExt cx="974670" cy="1013824"/>
          </a:xfrm>
        </p:grpSpPr>
        <p:sp>
          <p:nvSpPr>
            <p:cNvPr id="340" name="Google Shape;340;p18"/>
            <p:cNvSpPr/>
            <p:nvPr/>
          </p:nvSpPr>
          <p:spPr>
            <a:xfrm>
              <a:off x="0" y="0"/>
              <a:ext cx="974670" cy="1013824"/>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18"/>
            <p:cNvSpPr txBox="1"/>
            <p:nvPr/>
          </p:nvSpPr>
          <p:spPr>
            <a:xfrm>
              <a:off x="194570" y="64529"/>
              <a:ext cx="585600" cy="805200"/>
            </a:xfrm>
            <a:prstGeom prst="rect">
              <a:avLst/>
            </a:prstGeom>
            <a:noFill/>
            <a:ln>
              <a:noFill/>
            </a:ln>
          </p:spPr>
          <p:txBody>
            <a:bodyPr anchorCtr="0" anchor="t" bIns="0" lIns="0" spcFirstLastPara="1" rIns="0" wrap="square" tIns="0">
              <a:spAutoFit/>
            </a:bodyPr>
            <a:lstStyle/>
            <a:p>
              <a:pPr indent="0" lvl="0" marL="0" marR="0" rtl="0" algn="ctr">
                <a:lnSpc>
                  <a:spcPct val="130020"/>
                </a:lnSpc>
                <a:spcBef>
                  <a:spcPts val="0"/>
                </a:spcBef>
                <a:spcAft>
                  <a:spcPts val="0"/>
                </a:spcAft>
                <a:buClr>
                  <a:srgbClr val="000000"/>
                </a:buClr>
                <a:buSzPts val="3924"/>
                <a:buFont typeface="Arial"/>
                <a:buNone/>
              </a:pPr>
              <a:r>
                <a:rPr b="1" i="0" lang="en-US" sz="3924" u="none" cap="none" strike="noStrike">
                  <a:solidFill>
                    <a:srgbClr val="29303C"/>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9"/>
          <p:cNvSpPr txBox="1"/>
          <p:nvPr/>
        </p:nvSpPr>
        <p:spPr>
          <a:xfrm>
            <a:off x="5416647" y="644847"/>
            <a:ext cx="7454705"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Hammersmith One"/>
                <a:ea typeface="Hammersmith One"/>
                <a:cs typeface="Hammersmith One"/>
                <a:sym typeface="Hammersmith One"/>
              </a:rPr>
              <a:t>VALOR O ACTITUD</a:t>
            </a:r>
            <a:endParaRPr b="0" i="0" sz="1400" u="none" cap="none" strike="noStrike">
              <a:solidFill>
                <a:srgbClr val="000000"/>
              </a:solidFill>
              <a:latin typeface="Arial"/>
              <a:ea typeface="Arial"/>
              <a:cs typeface="Arial"/>
              <a:sym typeface="Arial"/>
            </a:endParaRPr>
          </a:p>
        </p:txBody>
      </p:sp>
      <p:sp>
        <p:nvSpPr>
          <p:cNvPr id="347" name="Google Shape;347;p19"/>
          <p:cNvSpPr txBox="1"/>
          <p:nvPr/>
        </p:nvSpPr>
        <p:spPr>
          <a:xfrm>
            <a:off x="1998641" y="2050953"/>
            <a:ext cx="13855455" cy="6255369"/>
          </a:xfrm>
          <a:prstGeom prst="rect">
            <a:avLst/>
          </a:prstGeom>
          <a:noFill/>
          <a:ln>
            <a:noFill/>
          </a:ln>
        </p:spPr>
        <p:txBody>
          <a:bodyPr anchorCtr="0" anchor="t" bIns="0" lIns="0" spcFirstLastPara="1" rIns="0" wrap="square" tIns="0">
            <a:spAutoFit/>
          </a:bodyPr>
          <a:lstStyle/>
          <a:p>
            <a:pPr indent="0" lvl="0" marL="0" marR="0" rtl="0" algn="ctr">
              <a:lnSpc>
                <a:spcPct val="129994"/>
              </a:lnSpc>
              <a:spcBef>
                <a:spcPts val="0"/>
              </a:spcBef>
              <a:spcAft>
                <a:spcPts val="0"/>
              </a:spcAft>
              <a:buClr>
                <a:srgbClr val="000000"/>
              </a:buClr>
              <a:buSzPts val="5451"/>
              <a:buFont typeface="Arial"/>
              <a:buNone/>
            </a:pPr>
            <a:r>
              <a:rPr b="1" i="0" lang="en-US" sz="5451" u="none" cap="none" strike="noStrike">
                <a:solidFill>
                  <a:srgbClr val="FFB923"/>
                </a:solidFill>
                <a:latin typeface="Arial"/>
                <a:ea typeface="Arial"/>
                <a:cs typeface="Arial"/>
                <a:sym typeface="Arial"/>
              </a:rPr>
              <a:t>Responsabilidad</a:t>
            </a:r>
            <a:endParaRPr b="0" i="0" sz="1400" u="none" cap="none" strike="noStrike">
              <a:solidFill>
                <a:srgbClr val="000000"/>
              </a:solidFill>
              <a:latin typeface="Arial"/>
              <a:ea typeface="Arial"/>
              <a:cs typeface="Arial"/>
              <a:sym typeface="Arial"/>
            </a:endParaRPr>
          </a:p>
          <a:p>
            <a:pPr indent="-588461" lvl="1" marL="1176921" marR="0" rtl="0" algn="l">
              <a:lnSpc>
                <a:spcPct val="129994"/>
              </a:lnSpc>
              <a:spcBef>
                <a:spcPts val="0"/>
              </a:spcBef>
              <a:spcAft>
                <a:spcPts val="0"/>
              </a:spcAft>
              <a:buClr>
                <a:srgbClr val="29303C"/>
              </a:buClr>
              <a:buSzPts val="5451"/>
              <a:buFont typeface="Arial"/>
              <a:buChar char="•"/>
            </a:pPr>
            <a:r>
              <a:rPr b="0" i="0" lang="en-US" sz="5451" u="none" cap="none" strike="noStrike">
                <a:solidFill>
                  <a:srgbClr val="29303C"/>
                </a:solidFill>
                <a:latin typeface="Arial"/>
                <a:ea typeface="Arial"/>
                <a:cs typeface="Arial"/>
                <a:sym typeface="Arial"/>
              </a:rPr>
              <a:t>Ser responsable al entregar los ejercicios solicitados del curso.</a:t>
            </a:r>
            <a:endParaRPr b="0" i="0" sz="1400" u="none" cap="none" strike="noStrike">
              <a:solidFill>
                <a:srgbClr val="000000"/>
              </a:solidFill>
              <a:latin typeface="Arial"/>
              <a:ea typeface="Arial"/>
              <a:cs typeface="Arial"/>
              <a:sym typeface="Arial"/>
            </a:endParaRPr>
          </a:p>
          <a:p>
            <a:pPr indent="-588461" lvl="1" marL="1176921" marR="0" rtl="0" algn="l">
              <a:lnSpc>
                <a:spcPct val="129994"/>
              </a:lnSpc>
              <a:spcBef>
                <a:spcPts val="0"/>
              </a:spcBef>
              <a:spcAft>
                <a:spcPts val="0"/>
              </a:spcAft>
              <a:buClr>
                <a:srgbClr val="29303C"/>
              </a:buClr>
              <a:buSzPts val="5451"/>
              <a:buFont typeface="Arial"/>
              <a:buChar char="•"/>
            </a:pPr>
            <a:r>
              <a:rPr b="0" i="0" lang="en-US" sz="5451" u="none" cap="none" strike="noStrike">
                <a:solidFill>
                  <a:srgbClr val="29303C"/>
                </a:solidFill>
                <a:latin typeface="Arial"/>
                <a:ea typeface="Arial"/>
                <a:cs typeface="Arial"/>
                <a:sym typeface="Arial"/>
              </a:rPr>
              <a:t>Cumplir con los tiempos establecidos de cortos, ht, practicas, etc.</a:t>
            </a:r>
            <a:endParaRPr b="0" i="0" sz="1400" u="none" cap="none" strike="noStrike">
              <a:solidFill>
                <a:srgbClr val="000000"/>
              </a:solidFill>
              <a:latin typeface="Arial"/>
              <a:ea typeface="Arial"/>
              <a:cs typeface="Arial"/>
              <a:sym typeface="Arial"/>
            </a:endParaRPr>
          </a:p>
          <a:p>
            <a:pPr indent="-588461" lvl="1" marL="1176921" marR="0" rtl="0" algn="l">
              <a:lnSpc>
                <a:spcPct val="129994"/>
              </a:lnSpc>
              <a:spcBef>
                <a:spcPts val="0"/>
              </a:spcBef>
              <a:spcAft>
                <a:spcPts val="0"/>
              </a:spcAft>
              <a:buClr>
                <a:srgbClr val="29303C"/>
              </a:buClr>
              <a:buSzPts val="5451"/>
              <a:buFont typeface="Arial"/>
              <a:buChar char="•"/>
            </a:pPr>
            <a:r>
              <a:rPr b="0" i="0" lang="en-US" sz="5451" u="none" cap="none" strike="noStrike">
                <a:solidFill>
                  <a:srgbClr val="29303C"/>
                </a:solidFill>
                <a:latin typeface="Arial"/>
                <a:ea typeface="Arial"/>
                <a:cs typeface="Arial"/>
                <a:sym typeface="Arial"/>
              </a:rPr>
              <a:t>Cumplir con la división del trabajo en grupo.</a:t>
            </a:r>
            <a:endParaRPr b="0" i="0" sz="1400" u="none" cap="none" strike="noStrike">
              <a:solidFill>
                <a:srgbClr val="000000"/>
              </a:solidFill>
              <a:latin typeface="Arial"/>
              <a:ea typeface="Arial"/>
              <a:cs typeface="Arial"/>
              <a:sym typeface="Arial"/>
            </a:endParaRPr>
          </a:p>
        </p:txBody>
      </p:sp>
      <p:sp>
        <p:nvSpPr>
          <p:cNvPr id="348" name="Google Shape;348;p19"/>
          <p:cNvSpPr/>
          <p:nvPr/>
        </p:nvSpPr>
        <p:spPr>
          <a:xfrm flipH="1" rot="-5252869">
            <a:off x="7166333" y="2041017"/>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3">
              <a:alphaModFix/>
            </a:blip>
            <a:stretch>
              <a:fillRect b="0" l="0" r="0" t="0"/>
            </a:stretch>
          </a:blipFill>
          <a:ln>
            <a:noFill/>
          </a:ln>
        </p:spPr>
      </p:sp>
      <p:sp>
        <p:nvSpPr>
          <p:cNvPr id="349" name="Google Shape;349;p19"/>
          <p:cNvSpPr/>
          <p:nvPr/>
        </p:nvSpPr>
        <p:spPr>
          <a:xfrm flipH="1" rot="-5252869">
            <a:off x="7357019" y="2212036"/>
            <a:ext cx="3138698" cy="18364721"/>
          </a:xfrm>
          <a:custGeom>
            <a:rect b="b" l="l" r="r" t="t"/>
            <a:pathLst>
              <a:path extrusionOk="0" h="18364721" w="3138698">
                <a:moveTo>
                  <a:pt x="3138698" y="0"/>
                </a:moveTo>
                <a:lnTo>
                  <a:pt x="0" y="0"/>
                </a:lnTo>
                <a:lnTo>
                  <a:pt x="0" y="18364721"/>
                </a:lnTo>
                <a:lnTo>
                  <a:pt x="3138698" y="18364721"/>
                </a:lnTo>
                <a:lnTo>
                  <a:pt x="3138698"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0"/>
          <p:cNvSpPr/>
          <p:nvPr/>
        </p:nvSpPr>
        <p:spPr>
          <a:xfrm>
            <a:off x="-242146" y="-201788"/>
            <a:ext cx="7408840" cy="10690576"/>
          </a:xfrm>
          <a:prstGeom prst="rect">
            <a:avLst/>
          </a:prstGeom>
          <a:solidFill>
            <a:srgbClr val="FFB9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0"/>
          <p:cNvSpPr/>
          <p:nvPr/>
        </p:nvSpPr>
        <p:spPr>
          <a:xfrm rot="5400000">
            <a:off x="1035086" y="8288411"/>
            <a:ext cx="689712" cy="702485"/>
          </a:xfrm>
          <a:custGeom>
            <a:rect b="b" l="l" r="r" t="t"/>
            <a:pathLst>
              <a:path extrusionOk="0" h="702485" w="689712">
                <a:moveTo>
                  <a:pt x="0" y="0"/>
                </a:moveTo>
                <a:lnTo>
                  <a:pt x="689713" y="0"/>
                </a:lnTo>
                <a:lnTo>
                  <a:pt x="689713" y="702485"/>
                </a:lnTo>
                <a:lnTo>
                  <a:pt x="0" y="702485"/>
                </a:lnTo>
                <a:lnTo>
                  <a:pt x="0" y="0"/>
                </a:lnTo>
                <a:close/>
              </a:path>
            </a:pathLst>
          </a:custGeom>
          <a:blipFill rotWithShape="1">
            <a:blip r:embed="rId3">
              <a:alphaModFix/>
            </a:blip>
            <a:stretch>
              <a:fillRect b="0" l="0" r="0" t="0"/>
            </a:stretch>
          </a:blipFill>
          <a:ln>
            <a:noFill/>
          </a:ln>
        </p:spPr>
      </p:sp>
      <p:sp>
        <p:nvSpPr>
          <p:cNvPr id="356" name="Google Shape;356;p20"/>
          <p:cNvSpPr txBox="1"/>
          <p:nvPr/>
        </p:nvSpPr>
        <p:spPr>
          <a:xfrm>
            <a:off x="935917" y="1369165"/>
            <a:ext cx="5294859" cy="941387"/>
          </a:xfrm>
          <a:prstGeom prst="rect">
            <a:avLst/>
          </a:prstGeom>
          <a:noFill/>
          <a:ln>
            <a:noFill/>
          </a:ln>
        </p:spPr>
        <p:txBody>
          <a:bodyPr anchorCtr="0" anchor="t" bIns="0" lIns="0" spcFirstLastPara="1" rIns="0" wrap="square" tIns="0">
            <a:spAutoFit/>
          </a:bodyPr>
          <a:lstStyle/>
          <a:p>
            <a:pPr indent="0" lvl="0" marL="0" marR="0" rtl="0" algn="l">
              <a:lnSpc>
                <a:spcPct val="110009"/>
              </a:lnSpc>
              <a:spcBef>
                <a:spcPts val="0"/>
              </a:spcBef>
              <a:spcAft>
                <a:spcPts val="0"/>
              </a:spcAft>
              <a:buClr>
                <a:srgbClr val="000000"/>
              </a:buClr>
              <a:buSzPts val="6624"/>
              <a:buFont typeface="Arial"/>
              <a:buNone/>
            </a:pPr>
            <a:r>
              <a:rPr b="0" i="0" lang="en-US" sz="6624" u="none" cap="none" strike="noStrike">
                <a:solidFill>
                  <a:srgbClr val="FFFFFF"/>
                </a:solidFill>
                <a:latin typeface="Hammersmith One"/>
                <a:ea typeface="Hammersmith One"/>
                <a:cs typeface="Hammersmith One"/>
                <a:sym typeface="Hammersmith One"/>
              </a:rPr>
              <a:t>REFERENCIAS</a:t>
            </a:r>
            <a:endParaRPr b="0" i="0" sz="1400" u="none" cap="none" strike="noStrike">
              <a:solidFill>
                <a:srgbClr val="000000"/>
              </a:solidFill>
              <a:latin typeface="Arial"/>
              <a:ea typeface="Arial"/>
              <a:cs typeface="Arial"/>
              <a:sym typeface="Arial"/>
            </a:endParaRPr>
          </a:p>
        </p:txBody>
      </p:sp>
      <p:sp>
        <p:nvSpPr>
          <p:cNvPr id="357" name="Google Shape;357;p20"/>
          <p:cNvSpPr/>
          <p:nvPr/>
        </p:nvSpPr>
        <p:spPr>
          <a:xfrm>
            <a:off x="935917" y="2310552"/>
            <a:ext cx="3863467" cy="285524"/>
          </a:xfrm>
          <a:custGeom>
            <a:rect b="b" l="l" r="r" t="t"/>
            <a:pathLst>
              <a:path extrusionOk="0" h="285524" w="3863467">
                <a:moveTo>
                  <a:pt x="0" y="0"/>
                </a:moveTo>
                <a:lnTo>
                  <a:pt x="3863468" y="0"/>
                </a:lnTo>
                <a:lnTo>
                  <a:pt x="3863468" y="285524"/>
                </a:lnTo>
                <a:lnTo>
                  <a:pt x="0" y="285524"/>
                </a:lnTo>
                <a:lnTo>
                  <a:pt x="0" y="0"/>
                </a:lnTo>
                <a:close/>
              </a:path>
            </a:pathLst>
          </a:custGeom>
          <a:blipFill rotWithShape="1">
            <a:blip r:embed="rId4">
              <a:alphaModFix/>
            </a:blip>
            <a:stretch>
              <a:fillRect b="-1042441" l="-169" r="-7084" t="-308517"/>
            </a:stretch>
          </a:blipFill>
          <a:ln>
            <a:noFill/>
          </a:ln>
        </p:spPr>
      </p:sp>
      <p:sp>
        <p:nvSpPr>
          <p:cNvPr id="358" name="Google Shape;358;p20"/>
          <p:cNvSpPr txBox="1"/>
          <p:nvPr/>
        </p:nvSpPr>
        <p:spPr>
          <a:xfrm>
            <a:off x="7783366" y="391961"/>
            <a:ext cx="9514500" cy="9687900"/>
          </a:xfrm>
          <a:prstGeom prst="rect">
            <a:avLst/>
          </a:prstGeom>
          <a:noFill/>
          <a:ln>
            <a:noFill/>
          </a:ln>
        </p:spPr>
        <p:txBody>
          <a:bodyPr anchorCtr="0" anchor="t" bIns="0" lIns="0" spcFirstLastPara="1" rIns="0" wrap="square" tIns="0">
            <a:spAutoFit/>
          </a:bodyPr>
          <a:lstStyle/>
          <a:p>
            <a:pPr indent="-298632" lvl="1" marL="609967" marR="0" rtl="0" algn="l">
              <a:lnSpc>
                <a:spcPct val="129981"/>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¿What is cloud Computing? </a:t>
            </a:r>
            <a:r>
              <a:rPr b="0" i="0" lang="en-US" sz="2725" u="none" cap="none" strike="noStrike">
                <a:solidFill>
                  <a:srgbClr val="29303C"/>
                </a:solidFill>
                <a:latin typeface="Arial"/>
                <a:ea typeface="Arial"/>
                <a:cs typeface="Arial"/>
                <a:sym typeface="Arial"/>
              </a:rPr>
              <a:t>(n.d.). [Video]. Amazon Web Services, Inc. https://aws.amazon.com/es/what-is-cloud-computing/</a:t>
            </a:r>
            <a:endParaRPr b="0" i="0" sz="13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725"/>
              <a:buFont typeface="Arial"/>
              <a:buNone/>
            </a:pPr>
            <a:r>
              <a:t/>
            </a:r>
            <a:endParaRPr b="0" i="0" sz="2725" u="none" cap="none" strike="noStrike">
              <a:solidFill>
                <a:srgbClr val="29303C"/>
              </a:solidFill>
              <a:latin typeface="Arial"/>
              <a:ea typeface="Arial"/>
              <a:cs typeface="Arial"/>
              <a:sym typeface="Arial"/>
            </a:endParaRPr>
          </a:p>
          <a:p>
            <a:pPr indent="-298632" lvl="1" marL="609967" marR="0" rtl="0" algn="l">
              <a:lnSpc>
                <a:spcPct val="129981"/>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Products and Services | Google Cloud.</a:t>
            </a:r>
            <a:r>
              <a:rPr b="0" i="0" lang="en-US" sz="2725" u="none" cap="none" strike="noStrike">
                <a:solidFill>
                  <a:srgbClr val="29303C"/>
                </a:solidFill>
                <a:latin typeface="Arial"/>
                <a:ea typeface="Arial"/>
                <a:cs typeface="Arial"/>
                <a:sym typeface="Arial"/>
              </a:rPr>
              <a:t> (n.d.). Google Cloud. https://cloud.google.com/products</a:t>
            </a:r>
            <a:endParaRPr b="0" i="0" sz="13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725"/>
              <a:buFont typeface="Arial"/>
              <a:buNone/>
            </a:pPr>
            <a:r>
              <a:t/>
            </a:r>
            <a:endParaRPr b="0" i="0" sz="2725" u="none" cap="none" strike="noStrike">
              <a:solidFill>
                <a:srgbClr val="29303C"/>
              </a:solidFill>
              <a:latin typeface="Arial"/>
              <a:ea typeface="Arial"/>
              <a:cs typeface="Arial"/>
              <a:sym typeface="Arial"/>
            </a:endParaRPr>
          </a:p>
          <a:p>
            <a:pPr indent="-298632" lvl="1" marL="609967" marR="0" rtl="0" algn="l">
              <a:lnSpc>
                <a:spcPct val="129981"/>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Directory of Azure Cloud Services | Microsoft Azure. </a:t>
            </a:r>
            <a:r>
              <a:rPr b="0" i="0" lang="en-US" sz="2725" u="none" cap="none" strike="noStrike">
                <a:solidFill>
                  <a:srgbClr val="29303C"/>
                </a:solidFill>
                <a:latin typeface="Arial"/>
                <a:ea typeface="Arial"/>
                <a:cs typeface="Arial"/>
                <a:sym typeface="Arial"/>
              </a:rPr>
              <a:t>(n.d.). https://azure.microsoft.com/en-us/products</a:t>
            </a:r>
            <a:endParaRPr b="0" i="0" sz="13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725"/>
              <a:buFont typeface="Arial"/>
              <a:buNone/>
            </a:pPr>
            <a:r>
              <a:t/>
            </a:r>
            <a:endParaRPr b="0" i="0" sz="2725" u="none" cap="none" strike="noStrike">
              <a:solidFill>
                <a:srgbClr val="29303C"/>
              </a:solidFill>
              <a:latin typeface="Arial"/>
              <a:ea typeface="Arial"/>
              <a:cs typeface="Arial"/>
              <a:sym typeface="Arial"/>
            </a:endParaRPr>
          </a:p>
          <a:p>
            <a:pPr indent="-298632" lvl="1" marL="609967" marR="0" rtl="0" algn="l">
              <a:lnSpc>
                <a:spcPct val="129981"/>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Types of cloud computing - Overview of Amazon Web Services.</a:t>
            </a:r>
            <a:r>
              <a:rPr b="0" i="0" lang="en-US" sz="2725" u="none" cap="none" strike="noStrike">
                <a:solidFill>
                  <a:srgbClr val="29303C"/>
                </a:solidFill>
                <a:latin typeface="Arial"/>
                <a:ea typeface="Arial"/>
                <a:cs typeface="Arial"/>
                <a:sym typeface="Arial"/>
              </a:rPr>
              <a:t> (n.d.). https://docs.aws.amazon.com/whitepapers/latest/aws-overview/types-of-cloud-computing.html</a:t>
            </a:r>
            <a:endParaRPr b="0" i="0" sz="1300" u="none" cap="none" strike="noStrike">
              <a:solidFill>
                <a:srgbClr val="000000"/>
              </a:solidFill>
              <a:latin typeface="Arial"/>
              <a:ea typeface="Arial"/>
              <a:cs typeface="Arial"/>
              <a:sym typeface="Arial"/>
            </a:endParaRPr>
          </a:p>
          <a:p>
            <a:pPr indent="-298632" lvl="1" marL="609967" marR="0" rtl="0" algn="l">
              <a:lnSpc>
                <a:spcPct val="129981"/>
              </a:lnSpc>
              <a:spcBef>
                <a:spcPts val="0"/>
              </a:spcBef>
              <a:spcAft>
                <a:spcPts val="0"/>
              </a:spcAft>
              <a:buClr>
                <a:srgbClr val="29303C"/>
              </a:buClr>
              <a:buSzPts val="2725"/>
              <a:buFont typeface="Arial"/>
              <a:buChar char="•"/>
            </a:pPr>
            <a:r>
              <a:rPr b="1" i="0" lang="en-US" sz="2725" u="none" cap="none" strike="noStrike">
                <a:solidFill>
                  <a:srgbClr val="29303C"/>
                </a:solidFill>
                <a:latin typeface="Arial"/>
                <a:ea typeface="Arial"/>
                <a:cs typeface="Arial"/>
                <a:sym typeface="Arial"/>
              </a:rPr>
              <a:t>Modelos de servicio en la nube | Tipos de cloud computing |</a:t>
            </a:r>
            <a:r>
              <a:rPr b="0" i="0" lang="en-US" sz="2725" u="none" cap="none" strike="noStrike">
                <a:solidFill>
                  <a:srgbClr val="29303C"/>
                </a:solidFill>
                <a:latin typeface="Arial"/>
                <a:ea typeface="Arial"/>
                <a:cs typeface="Arial"/>
                <a:sym typeface="Arial"/>
              </a:rPr>
              <a:t> AWS. (n.d.). Amazon Web Services, Inc. https://aws.amazon.com/es/types-of-cloud-computing/</a:t>
            </a:r>
            <a:endParaRPr b="0" i="0" sz="1300" u="none" cap="none" strike="noStrike">
              <a:solidFill>
                <a:srgbClr val="000000"/>
              </a:solidFill>
              <a:latin typeface="Arial"/>
              <a:ea typeface="Arial"/>
              <a:cs typeface="Arial"/>
              <a:sym typeface="Arial"/>
            </a:endParaRPr>
          </a:p>
          <a:p>
            <a:pPr indent="0" lvl="0" marL="0" marR="0" rtl="0" algn="l">
              <a:lnSpc>
                <a:spcPct val="129981"/>
              </a:lnSpc>
              <a:spcBef>
                <a:spcPts val="0"/>
              </a:spcBef>
              <a:spcAft>
                <a:spcPts val="0"/>
              </a:spcAft>
              <a:buClr>
                <a:srgbClr val="000000"/>
              </a:buClr>
              <a:buSzPts val="2725"/>
              <a:buFont typeface="Arial"/>
              <a:buNone/>
            </a:pPr>
            <a:r>
              <a:t/>
            </a:r>
            <a:endParaRPr b="0" i="0" sz="2725" u="none" cap="none" strike="noStrike">
              <a:solidFill>
                <a:srgbClr val="29303C"/>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1"/>
          <p:cNvSpPr txBox="1"/>
          <p:nvPr/>
        </p:nvSpPr>
        <p:spPr>
          <a:xfrm>
            <a:off x="3207779" y="4022725"/>
            <a:ext cx="11872442" cy="1120775"/>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Hammersmith One"/>
                <a:ea typeface="Hammersmith One"/>
                <a:cs typeface="Hammersmith One"/>
                <a:sym typeface="Hammersmith One"/>
              </a:rPr>
              <a:t>¡GRACIAS POR SU ATENCIÓN!</a:t>
            </a:r>
            <a:endParaRPr b="0" i="0" sz="1400" u="none" cap="none" strike="noStrike">
              <a:solidFill>
                <a:srgbClr val="000000"/>
              </a:solidFill>
              <a:latin typeface="Arial"/>
              <a:ea typeface="Arial"/>
              <a:cs typeface="Arial"/>
              <a:sym typeface="Arial"/>
            </a:endParaRPr>
          </a:p>
        </p:txBody>
      </p:sp>
      <p:sp>
        <p:nvSpPr>
          <p:cNvPr id="364" name="Google Shape;364;p21"/>
          <p:cNvSpPr/>
          <p:nvPr/>
        </p:nvSpPr>
        <p:spPr>
          <a:xfrm flipH="1" rot="5679621">
            <a:off x="7672969" y="926401"/>
            <a:ext cx="3138698" cy="18364721"/>
          </a:xfrm>
          <a:custGeom>
            <a:rect b="b" l="l" r="r" t="t"/>
            <a:pathLst>
              <a:path extrusionOk="0" h="18364721" w="3138698">
                <a:moveTo>
                  <a:pt x="0" y="18364721"/>
                </a:moveTo>
                <a:lnTo>
                  <a:pt x="3138698" y="18364721"/>
                </a:lnTo>
                <a:lnTo>
                  <a:pt x="3138698" y="0"/>
                </a:lnTo>
                <a:lnTo>
                  <a:pt x="0" y="0"/>
                </a:lnTo>
                <a:lnTo>
                  <a:pt x="0" y="18364721"/>
                </a:lnTo>
                <a:close/>
              </a:path>
            </a:pathLst>
          </a:custGeom>
          <a:blipFill rotWithShape="1">
            <a:blip r:embed="rId3">
              <a:alphaModFix/>
            </a:blip>
            <a:stretch>
              <a:fillRect b="0" l="0" r="0" t="0"/>
            </a:stretch>
          </a:blipFill>
          <a:ln>
            <a:noFill/>
          </a:ln>
        </p:spPr>
      </p:sp>
      <p:sp>
        <p:nvSpPr>
          <p:cNvPr id="365" name="Google Shape;365;p21"/>
          <p:cNvSpPr/>
          <p:nvPr/>
        </p:nvSpPr>
        <p:spPr>
          <a:xfrm flipH="1" rot="5679621">
            <a:off x="7856925" y="1104639"/>
            <a:ext cx="3138698" cy="18364721"/>
          </a:xfrm>
          <a:custGeom>
            <a:rect b="b" l="l" r="r" t="t"/>
            <a:pathLst>
              <a:path extrusionOk="0" h="18364721" w="3138698">
                <a:moveTo>
                  <a:pt x="0" y="18364722"/>
                </a:moveTo>
                <a:lnTo>
                  <a:pt x="3138697" y="18364722"/>
                </a:lnTo>
                <a:lnTo>
                  <a:pt x="3138697" y="0"/>
                </a:lnTo>
                <a:lnTo>
                  <a:pt x="0" y="0"/>
                </a:lnTo>
                <a:lnTo>
                  <a:pt x="0" y="18364722"/>
                </a:lnTo>
                <a:close/>
              </a:path>
            </a:pathLst>
          </a:custGeom>
          <a:blipFill rotWithShape="1">
            <a:blip r:embed="rId4">
              <a:alphaModFix/>
            </a:blip>
            <a:stretch>
              <a:fillRect b="0" l="0" r="0" t="0"/>
            </a:stretch>
          </a:blipFill>
          <a:ln>
            <a:noFill/>
          </a:ln>
        </p:spPr>
      </p:sp>
      <p:sp>
        <p:nvSpPr>
          <p:cNvPr id="366" name="Google Shape;366;p21"/>
          <p:cNvSpPr txBox="1"/>
          <p:nvPr/>
        </p:nvSpPr>
        <p:spPr>
          <a:xfrm>
            <a:off x="6568559" y="5143500"/>
            <a:ext cx="5347500" cy="1077300"/>
          </a:xfrm>
          <a:prstGeom prst="rect">
            <a:avLst/>
          </a:prstGeom>
          <a:noFill/>
          <a:ln>
            <a:noFill/>
          </a:ln>
        </p:spPr>
        <p:txBody>
          <a:bodyPr anchorCtr="0" anchor="t" bIns="0" lIns="0" spcFirstLastPara="1" rIns="0" wrap="square" tIns="0">
            <a:spAutoFit/>
          </a:bodyPr>
          <a:lstStyle/>
          <a:p>
            <a:pPr indent="0" lvl="0" marL="0" marR="0" rtl="0" algn="ctr">
              <a:lnSpc>
                <a:spcPct val="130004"/>
              </a:lnSpc>
              <a:spcBef>
                <a:spcPts val="0"/>
              </a:spcBef>
              <a:spcAft>
                <a:spcPts val="0"/>
              </a:spcAft>
              <a:buClr>
                <a:srgbClr val="000000"/>
              </a:buClr>
              <a:buSzPts val="6999"/>
              <a:buFont typeface="Arial"/>
              <a:buNone/>
            </a:pPr>
            <a:r>
              <a:rPr b="0" i="0" lang="en-US" sz="6999" u="none" cap="none" strike="noStrike">
                <a:solidFill>
                  <a:srgbClr val="29303C"/>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