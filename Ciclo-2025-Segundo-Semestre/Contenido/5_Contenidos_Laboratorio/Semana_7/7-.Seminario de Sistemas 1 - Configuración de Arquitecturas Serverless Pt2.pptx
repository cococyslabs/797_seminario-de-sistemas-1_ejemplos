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10287000" cx="18288000"/>
  <p:notesSz cx="6858000" cy="9144000"/>
  <p:embeddedFontLst>
    <p:embeddedFont>
      <p:font typeface="Hammersmith One"/>
      <p:regular r:id="rId25"/>
    </p:embeddedFont>
    <p:embeddedFont>
      <p:font typeface="Open Sa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h8wW7bM8yJ4Tus1cuA9OL9qoTM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17B945-5AE8-4FC4-827C-F15EB3718321}">
  <a:tblStyle styleId="{9917B945-5AE8-4FC4-827C-F15EB371832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penSans-bold.fntdata"/><Relationship Id="rId25" Type="http://schemas.openxmlformats.org/officeDocument/2006/relationships/font" Target="fonts/HammersmithOne-regular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8" name="Google Shape;6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9" name="Google Shape;6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3" name="Google Shape;113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4" name="Google Shape;11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4" name="Google Shape;134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2" name="Google Shape;14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1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{9917B945-5AE8-4FC4-827C-F15EB3718321}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Martes, 22/07/2025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cap="none" strike="noStrike"/>
                        <a:t>19:00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163" name="Google Shape;163;p1"/>
          <p:cNvSpPr txBox="1"/>
          <p:nvPr/>
        </p:nvSpPr>
        <p:spPr>
          <a:xfrm>
            <a:off x="2880350" y="4516600"/>
            <a:ext cx="13584000" cy="1138713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[]</a:t>
            </a:r>
            <a:endParaRPr/>
          </a:p>
        </p:txBody>
      </p:sp>
      <p:sp>
        <p:nvSpPr>
          <p:cNvPr id="164" name="Google Shape;164;p1"/>
          <p:cNvSpPr txBox="1"/>
          <p:nvPr/>
        </p:nvSpPr>
        <p:spPr>
          <a:xfrm>
            <a:off x="2880350" y="5816015"/>
            <a:ext cx="11173200" cy="9848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2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7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de Arquitecturas Serverless” - II</a:t>
            </a:r>
            <a:endParaRPr/>
          </a:p>
        </p:txBody>
      </p:sp>
      <p:sp>
        <p:nvSpPr>
          <p:cNvPr id="173" name="Google Shape;173;p2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4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175" name="Google Shape;175;p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2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3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82" name="Google Shape;182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84" name="Google Shape;184;p3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2" l="-171" r="-7088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3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88" name="Google Shape;188;p3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89" name="Google Shape;189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91" name="Google Shape;191;p3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3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3"/>
          <p:cNvSpPr txBox="1"/>
          <p:nvPr/>
        </p:nvSpPr>
        <p:spPr>
          <a:xfrm>
            <a:off x="7337346" y="274507"/>
            <a:ext cx="347502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6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2335952" y="5933228"/>
            <a:ext cx="6068420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Crecimiento y Auge de Azure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2335952" y="7073780"/>
            <a:ext cx="79953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importantes de Azure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grpSp>
        <p:nvGrpSpPr>
          <p:cNvPr id="199" name="Google Shape;199;p3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200" name="Google Shape;200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202" name="Google Shape;202;p3"/>
          <p:cNvGrpSpPr/>
          <p:nvPr/>
        </p:nvGrpSpPr>
        <p:grpSpPr>
          <a:xfrm>
            <a:off x="11135161" y="5820388"/>
            <a:ext cx="731003" cy="760368"/>
            <a:chOff x="0" y="0"/>
            <a:chExt cx="974670" cy="1013824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2335952" y="7962736"/>
            <a:ext cx="8624532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Functions: Funciones sin servidor en Azure.</a:t>
            </a:r>
            <a:endParaRPr/>
          </a:p>
        </p:txBody>
      </p:sp>
      <p:sp>
        <p:nvSpPr>
          <p:cNvPr id="206" name="Google Shape;206;p3"/>
          <p:cNvSpPr txBox="1"/>
          <p:nvPr/>
        </p:nvSpPr>
        <p:spPr>
          <a:xfrm>
            <a:off x="12049149" y="5903233"/>
            <a:ext cx="5001394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Azure API Management.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15" name="Google Shape;215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4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218" name="Google Shape;218;p4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4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4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221" name="Google Shape;221;p4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4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4"/>
          <p:cNvSpPr/>
          <p:nvPr/>
        </p:nvSpPr>
        <p:spPr>
          <a:xfrm>
            <a:off x="3784368" y="1397642"/>
            <a:ext cx="10719263" cy="7034517"/>
          </a:xfrm>
          <a:custGeom>
            <a:rect b="b" l="l" r="r" t="t"/>
            <a:pathLst>
              <a:path extrusionOk="0" h="7034517" w="10719263">
                <a:moveTo>
                  <a:pt x="0" y="0"/>
                </a:moveTo>
                <a:lnTo>
                  <a:pt x="10719264" y="0"/>
                </a:lnTo>
                <a:lnTo>
                  <a:pt x="10719264" y="7034516"/>
                </a:lnTo>
                <a:lnTo>
                  <a:pt x="0" y="7034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4766204" y="283719"/>
            <a:ext cx="8755592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Crecimiento de Azure</a:t>
            </a:r>
            <a:endParaRPr/>
          </a:p>
        </p:txBody>
      </p:sp>
      <p:sp>
        <p:nvSpPr>
          <p:cNvPr id="225" name="Google Shape;225;p4"/>
          <p:cNvSpPr txBox="1"/>
          <p:nvPr/>
        </p:nvSpPr>
        <p:spPr>
          <a:xfrm>
            <a:off x="5717067" y="8403583"/>
            <a:ext cx="685386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2024 Azure a crecido un 15.67%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5"/>
          <p:cNvGrpSpPr/>
          <p:nvPr/>
        </p:nvGrpSpPr>
        <p:grpSpPr>
          <a:xfrm>
            <a:off x="1112241" y="1618304"/>
            <a:ext cx="731003" cy="760368"/>
            <a:chOff x="0" y="0"/>
            <a:chExt cx="974670" cy="1013824"/>
          </a:xfrm>
        </p:grpSpPr>
        <p:sp>
          <p:nvSpPr>
            <p:cNvPr id="231" name="Google Shape;231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33" name="Google Shape;233;p5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34" name="Google Shape;234;p5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5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5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37" name="Google Shape;237;p5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5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5"/>
          <p:cNvGrpSpPr/>
          <p:nvPr/>
        </p:nvGrpSpPr>
        <p:grpSpPr>
          <a:xfrm>
            <a:off x="1112241" y="4178417"/>
            <a:ext cx="731003" cy="760368"/>
            <a:chOff x="0" y="0"/>
            <a:chExt cx="974670" cy="1013824"/>
          </a:xfrm>
        </p:grpSpPr>
        <p:sp>
          <p:nvSpPr>
            <p:cNvPr id="240" name="Google Shape;240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42" name="Google Shape;242;p5"/>
          <p:cNvGrpSpPr/>
          <p:nvPr/>
        </p:nvGrpSpPr>
        <p:grpSpPr>
          <a:xfrm>
            <a:off x="1112241" y="6891410"/>
            <a:ext cx="731003" cy="760368"/>
            <a:chOff x="0" y="0"/>
            <a:chExt cx="974670" cy="1013824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2734922" y="351675"/>
            <a:ext cx="1025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PLANES DE AZURE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2010155" y="1741313"/>
            <a:ext cx="608884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SIEMPRE GRATUITOS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2035976" y="4301426"/>
            <a:ext cx="6924156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GRATUITOS DE 12 MESES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2035976" y="7014419"/>
            <a:ext cx="390012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DE PAGA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1112241" y="2559647"/>
            <a:ext cx="1506736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Conjunto de algunos servicios que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usarse de manera gratuita dentro de un límite por mes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luego de este límite se generan costos.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1112241" y="5119760"/>
            <a:ext cx="15067367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servicios seleccionados y limitados durante 1 año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al crear una nueva cuenta, luego de este periodo de tiempo se inicia la generación de costos.</a:t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1112241" y="7832753"/>
            <a:ext cx="1506736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aquellos servicios u opciones “Premium” que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generan costos desde el inicio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estos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usarse de manera “gratuita” con los 200 créditos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las cuentas recién creada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s, esto último en un lapso de 30 días.</a:t>
            </a:r>
            <a:endParaRPr/>
          </a:p>
        </p:txBody>
      </p:sp>
      <p:cxnSp>
        <p:nvCxnSpPr>
          <p:cNvPr id="252" name="Google Shape;252;p5"/>
          <p:cNvCxnSpPr/>
          <p:nvPr/>
        </p:nvCxnSpPr>
        <p:spPr>
          <a:xfrm flipH="1" rot="10800000">
            <a:off x="4491574" y="1322213"/>
            <a:ext cx="8937117" cy="19050"/>
          </a:xfrm>
          <a:prstGeom prst="straightConnector1">
            <a:avLst/>
          </a:prstGeom>
          <a:noFill/>
          <a:ln cap="flat" cmpd="sng" w="38100">
            <a:solidFill>
              <a:srgbClr val="0071C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6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58" name="Google Shape;258;p6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6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6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261" name="Google Shape;261;p6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6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6"/>
          <p:cNvSpPr/>
          <p:nvPr/>
        </p:nvSpPr>
        <p:spPr>
          <a:xfrm>
            <a:off x="9756881" y="1846184"/>
            <a:ext cx="7502419" cy="6067581"/>
          </a:xfrm>
          <a:custGeom>
            <a:rect b="b" l="l" r="r" t="t"/>
            <a:pathLst>
              <a:path extrusionOk="0" h="6067581" w="7502419">
                <a:moveTo>
                  <a:pt x="0" y="0"/>
                </a:moveTo>
                <a:lnTo>
                  <a:pt x="7502419" y="0"/>
                </a:lnTo>
                <a:lnTo>
                  <a:pt x="7502419" y="6067582"/>
                </a:lnTo>
                <a:lnTo>
                  <a:pt x="0" y="6067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1763249" y="439737"/>
            <a:ext cx="14761503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RECURSOS Y GRUPOS DE RECURSOS</a:t>
            </a:r>
            <a:endParaRPr/>
          </a:p>
        </p:txBody>
      </p:sp>
      <p:sp>
        <p:nvSpPr>
          <p:cNvPr id="265" name="Google Shape;265;p6"/>
          <p:cNvSpPr txBox="1"/>
          <p:nvPr/>
        </p:nvSpPr>
        <p:spPr>
          <a:xfrm>
            <a:off x="1028700" y="2895600"/>
            <a:ext cx="9337854" cy="393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Recurso:</a:t>
            </a:r>
            <a:r>
              <a:rPr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Elemento administrable disponible a través de Azure, por ejemplo:</a:t>
            </a:r>
            <a:endParaRPr/>
          </a:p>
          <a:p>
            <a:pPr indent="-431800" lvl="1" marL="863599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Máquinas Virtuales</a:t>
            </a:r>
            <a:endParaRPr/>
          </a:p>
          <a:p>
            <a:pPr indent="-431800" lvl="1" marL="863599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Aplicaciones Web</a:t>
            </a:r>
            <a:endParaRPr/>
          </a:p>
          <a:p>
            <a:pPr indent="-431800" lvl="1" marL="863599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99"/>
              <a:buFont typeface="Arial"/>
              <a:buChar char="•"/>
            </a:pPr>
            <a:r>
              <a:rPr b="0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7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71" name="Google Shape;271;p7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7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7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274" name="Google Shape;274;p7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7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7"/>
          <p:cNvSpPr/>
          <p:nvPr/>
        </p:nvSpPr>
        <p:spPr>
          <a:xfrm>
            <a:off x="10454445" y="2026026"/>
            <a:ext cx="6804855" cy="6234948"/>
          </a:xfrm>
          <a:custGeom>
            <a:rect b="b" l="l" r="r" t="t"/>
            <a:pathLst>
              <a:path extrusionOk="0" h="6234948" w="6804855">
                <a:moveTo>
                  <a:pt x="0" y="0"/>
                </a:moveTo>
                <a:lnTo>
                  <a:pt x="6804855" y="0"/>
                </a:lnTo>
                <a:lnTo>
                  <a:pt x="6804855" y="6234948"/>
                </a:lnTo>
                <a:lnTo>
                  <a:pt x="0" y="6234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330500" y="439725"/>
            <a:ext cx="17326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RECURSOS Y GRUPOS DE RECURSOS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1028700" y="2294830"/>
            <a:ext cx="9337854" cy="590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Grupos de Recursos: </a:t>
            </a:r>
            <a:r>
              <a:rPr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Contenedor que almacena los recursos relacionados con una solución de Azure</a:t>
            </a:r>
            <a:endParaRPr/>
          </a:p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incluir todos los recursos de la solución o solo aquellos que se desean administrar como grupo</a:t>
            </a:r>
            <a:endParaRPr/>
          </a:p>
          <a:p>
            <a:pPr indent="0" lvl="0" marL="0" marR="0" rtl="0" algn="l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8"/>
          <p:cNvGrpSpPr/>
          <p:nvPr/>
        </p:nvGrpSpPr>
        <p:grpSpPr>
          <a:xfrm>
            <a:off x="17551400" y="-144661"/>
            <a:ext cx="736600" cy="929568"/>
            <a:chOff x="0" y="-38100"/>
            <a:chExt cx="194002" cy="244824"/>
          </a:xfrm>
        </p:grpSpPr>
        <p:sp>
          <p:nvSpPr>
            <p:cNvPr id="284" name="Google Shape;284;p8"/>
            <p:cNvSpPr/>
            <p:nvPr/>
          </p:nvSpPr>
          <p:spPr>
            <a:xfrm>
              <a:off x="0" y="0"/>
              <a:ext cx="194002" cy="206724"/>
            </a:xfrm>
            <a:custGeom>
              <a:rect b="b" l="l" r="r" t="t"/>
              <a:pathLst>
                <a:path extrusionOk="0" h="206724" w="194002">
                  <a:moveTo>
                    <a:pt x="0" y="0"/>
                  </a:moveTo>
                  <a:lnTo>
                    <a:pt x="194002" y="0"/>
                  </a:lnTo>
                  <a:lnTo>
                    <a:pt x="194002" y="206724"/>
                  </a:lnTo>
                  <a:lnTo>
                    <a:pt x="0" y="206724"/>
                  </a:lnTo>
                  <a:close/>
                </a:path>
              </a:pathLst>
            </a:cu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8"/>
            <p:cNvSpPr txBox="1"/>
            <p:nvPr/>
          </p:nvSpPr>
          <p:spPr>
            <a:xfrm>
              <a:off x="0" y="-38100"/>
              <a:ext cx="194002" cy="244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8"/>
          <p:cNvGrpSpPr/>
          <p:nvPr/>
        </p:nvGrpSpPr>
        <p:grpSpPr>
          <a:xfrm>
            <a:off x="0" y="9738432"/>
            <a:ext cx="18288000" cy="548568"/>
            <a:chOff x="0" y="-38100"/>
            <a:chExt cx="4816593" cy="144479"/>
          </a:xfrm>
        </p:grpSpPr>
        <p:sp>
          <p:nvSpPr>
            <p:cNvPr id="287" name="Google Shape;287;p8"/>
            <p:cNvSpPr/>
            <p:nvPr/>
          </p:nvSpPr>
          <p:spPr>
            <a:xfrm>
              <a:off x="0" y="0"/>
              <a:ext cx="4816592" cy="106379"/>
            </a:xfrm>
            <a:custGeom>
              <a:rect b="b" l="l" r="r" t="t"/>
              <a:pathLst>
                <a:path extrusionOk="0" h="1063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6379"/>
                  </a:lnTo>
                  <a:lnTo>
                    <a:pt x="0" y="106379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8"/>
            <p:cNvSpPr txBox="1"/>
            <p:nvPr/>
          </p:nvSpPr>
          <p:spPr>
            <a:xfrm>
              <a:off x="0" y="-38100"/>
              <a:ext cx="4816593" cy="1444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8"/>
          <p:cNvSpPr/>
          <p:nvPr/>
        </p:nvSpPr>
        <p:spPr>
          <a:xfrm>
            <a:off x="10163931" y="2457483"/>
            <a:ext cx="7459631" cy="4876734"/>
          </a:xfrm>
          <a:custGeom>
            <a:rect b="b" l="l" r="r" t="t"/>
            <a:pathLst>
              <a:path extrusionOk="0" h="4876734" w="7459631">
                <a:moveTo>
                  <a:pt x="0" y="0"/>
                </a:moveTo>
                <a:lnTo>
                  <a:pt x="7459631" y="0"/>
                </a:lnTo>
                <a:lnTo>
                  <a:pt x="7459631" y="4876734"/>
                </a:lnTo>
                <a:lnTo>
                  <a:pt x="0" y="487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3823649" y="439725"/>
            <a:ext cx="8827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SUSCRIPCIONES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506316" y="1933575"/>
            <a:ext cx="9337854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Azure, el equivalente de una cuenta de AWS es la suscripción de Azure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 Las suscripciones de Azure son unidades lógicas de servicios de Azure que están vinculadas a una cuenta de Azure en un entorno de Microsoft Entra.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1016577" y="4867275"/>
            <a:ext cx="882759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Permiten organizar y controlar el acceso, costos y facturación.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Cada suscripción tiene límites en la cantidad y tipo de recursos que se pueden crear.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factura por suscripción, permitiendo un seguimiento detallado de los costos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93" name="Google Shape;293;p8"/>
          <p:cNvGrpSpPr/>
          <p:nvPr/>
        </p:nvGrpSpPr>
        <p:grpSpPr>
          <a:xfrm>
            <a:off x="17783175" y="247792"/>
            <a:ext cx="504825" cy="700017"/>
            <a:chOff x="0" y="-38100"/>
            <a:chExt cx="132958" cy="184367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132958" cy="146267"/>
            </a:xfrm>
            <a:custGeom>
              <a:rect b="b" l="l" r="r" t="t"/>
              <a:pathLst>
                <a:path extrusionOk="0" h="146267" w="132958">
                  <a:moveTo>
                    <a:pt x="0" y="0"/>
                  </a:moveTo>
                  <a:lnTo>
                    <a:pt x="132958" y="0"/>
                  </a:lnTo>
                  <a:lnTo>
                    <a:pt x="132958" y="146267"/>
                  </a:lnTo>
                  <a:lnTo>
                    <a:pt x="0" y="1462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0" y="-38100"/>
              <a:ext cx="132958" cy="184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4682388" y="5357157"/>
            <a:ext cx="8923225" cy="4394688"/>
          </a:xfrm>
          <a:custGeom>
            <a:rect b="b" l="l" r="r" t="t"/>
            <a:pathLst>
              <a:path extrusionOk="0" h="4394688" w="8923225">
                <a:moveTo>
                  <a:pt x="0" y="0"/>
                </a:moveTo>
                <a:lnTo>
                  <a:pt x="8923224" y="0"/>
                </a:lnTo>
                <a:lnTo>
                  <a:pt x="8923224" y="4394689"/>
                </a:lnTo>
                <a:lnTo>
                  <a:pt x="0" y="4394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1028700" y="504825"/>
            <a:ext cx="1405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 DE FUNCIONES</a:t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874689" y="1457325"/>
            <a:ext cx="16782995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Todas las funciones que se creen en Azure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deben agrupar en una Functions App.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Cada Function App requiere un plan de hospedaje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(Consumo, Premium o App Service Plan, etc)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 implementar estas soluciones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requiere de una cuenta de almacenamiento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la cuál generará costos.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1640885" y="3506215"/>
            <a:ext cx="6784892" cy="4545877"/>
          </a:xfrm>
          <a:custGeom>
            <a:rect b="b" l="l" r="r" t="t"/>
            <a:pathLst>
              <a:path extrusionOk="0" h="4545877" w="6784892">
                <a:moveTo>
                  <a:pt x="0" y="0"/>
                </a:moveTo>
                <a:lnTo>
                  <a:pt x="6784892" y="0"/>
                </a:lnTo>
                <a:lnTo>
                  <a:pt x="6784892" y="4545878"/>
                </a:lnTo>
                <a:lnTo>
                  <a:pt x="0" y="454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2" name="Google Shape;312;p10"/>
          <p:cNvGrpSpPr/>
          <p:nvPr/>
        </p:nvGrpSpPr>
        <p:grpSpPr>
          <a:xfrm>
            <a:off x="8858847" y="3643451"/>
            <a:ext cx="731003" cy="760368"/>
            <a:chOff x="0" y="0"/>
            <a:chExt cx="974670" cy="1013824"/>
          </a:xfrm>
        </p:grpSpPr>
        <p:sp>
          <p:nvSpPr>
            <p:cNvPr id="313" name="Google Shape;313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15" name="Google Shape;315;p10"/>
          <p:cNvGrpSpPr/>
          <p:nvPr/>
        </p:nvGrpSpPr>
        <p:grpSpPr>
          <a:xfrm>
            <a:off x="8858847" y="4813999"/>
            <a:ext cx="731003" cy="760368"/>
            <a:chOff x="0" y="0"/>
            <a:chExt cx="974670" cy="1013824"/>
          </a:xfrm>
        </p:grpSpPr>
        <p:sp>
          <p:nvSpPr>
            <p:cNvPr id="316" name="Google Shape;316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18" name="Google Shape;318;p10"/>
          <p:cNvSpPr txBox="1"/>
          <p:nvPr/>
        </p:nvSpPr>
        <p:spPr>
          <a:xfrm>
            <a:off x="9772835" y="3468115"/>
            <a:ext cx="6068420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Sólo se ejecuta cuando hay datos para procesar.</a:t>
            </a: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9772835" y="4615856"/>
            <a:ext cx="799536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No se paga por la función cuando no se hace uso de esta.</a:t>
            </a:r>
            <a:endParaRPr/>
          </a:p>
        </p:txBody>
      </p:sp>
      <p:grpSp>
        <p:nvGrpSpPr>
          <p:cNvPr id="320" name="Google Shape;320;p10"/>
          <p:cNvGrpSpPr/>
          <p:nvPr/>
        </p:nvGrpSpPr>
        <p:grpSpPr>
          <a:xfrm>
            <a:off x="8858847" y="5983942"/>
            <a:ext cx="731003" cy="760368"/>
            <a:chOff x="0" y="0"/>
            <a:chExt cx="974670" cy="1013824"/>
          </a:xfrm>
        </p:grpSpPr>
        <p:sp>
          <p:nvSpPr>
            <p:cNvPr id="321" name="Google Shape;321;p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23" name="Google Shape;323;p10"/>
          <p:cNvSpPr txBox="1"/>
          <p:nvPr/>
        </p:nvSpPr>
        <p:spPr>
          <a:xfrm>
            <a:off x="9772835" y="5785799"/>
            <a:ext cx="8098606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Si la función falla, no afecta a otras instancias de la función</a:t>
            </a:r>
            <a:endParaRPr/>
          </a:p>
        </p:txBody>
      </p:sp>
      <p:sp>
        <p:nvSpPr>
          <p:cNvPr id="324" name="Google Shape;324;p10"/>
          <p:cNvSpPr txBox="1"/>
          <p:nvPr/>
        </p:nvSpPr>
        <p:spPr>
          <a:xfrm>
            <a:off x="1297226" y="2168225"/>
            <a:ext cx="1360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AZURE FUNCTIONS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1330767" y="2383466"/>
            <a:ext cx="8132698" cy="5520069"/>
          </a:xfrm>
          <a:custGeom>
            <a:rect b="b" l="l" r="r" t="t"/>
            <a:pathLst>
              <a:path extrusionOk="0" h="5520069" w="8132698">
                <a:moveTo>
                  <a:pt x="0" y="0"/>
                </a:moveTo>
                <a:lnTo>
                  <a:pt x="8132698" y="0"/>
                </a:lnTo>
                <a:lnTo>
                  <a:pt x="8132698" y="5520068"/>
                </a:lnTo>
                <a:lnTo>
                  <a:pt x="0" y="5520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 txBox="1"/>
          <p:nvPr/>
        </p:nvSpPr>
        <p:spPr>
          <a:xfrm>
            <a:off x="2164826" y="971550"/>
            <a:ext cx="1220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API MANAGEMENT</a:t>
            </a:r>
            <a:endParaRPr/>
          </a:p>
        </p:txBody>
      </p:sp>
      <p:sp>
        <p:nvSpPr>
          <p:cNvPr id="333" name="Google Shape;333;p11"/>
          <p:cNvSpPr txBox="1"/>
          <p:nvPr/>
        </p:nvSpPr>
        <p:spPr>
          <a:xfrm>
            <a:off x="9663576" y="3152775"/>
            <a:ext cx="759572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APIs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definen mediante Operaciones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(endpoints) que se agrupan en Productos.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APIs se organizan en Secciones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(por ejemplo, backend, frontend) y se configuran mediante políticas XML.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2"/>
          <p:cNvGrpSpPr/>
          <p:nvPr/>
        </p:nvGrpSpPr>
        <p:grpSpPr>
          <a:xfrm>
            <a:off x="756298" y="2205449"/>
            <a:ext cx="731003" cy="760368"/>
            <a:chOff x="0" y="0"/>
            <a:chExt cx="974670" cy="1013824"/>
          </a:xfrm>
        </p:grpSpPr>
        <p:sp>
          <p:nvSpPr>
            <p:cNvPr id="339" name="Google Shape;339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41" name="Google Shape;341;p12"/>
          <p:cNvGrpSpPr/>
          <p:nvPr/>
        </p:nvGrpSpPr>
        <p:grpSpPr>
          <a:xfrm>
            <a:off x="756298" y="4848016"/>
            <a:ext cx="731003" cy="760368"/>
            <a:chOff x="0" y="0"/>
            <a:chExt cx="974670" cy="1013824"/>
          </a:xfrm>
        </p:grpSpPr>
        <p:sp>
          <p:nvSpPr>
            <p:cNvPr id="342" name="Google Shape;342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344" name="Google Shape;344;p12"/>
          <p:cNvSpPr txBox="1"/>
          <p:nvPr/>
        </p:nvSpPr>
        <p:spPr>
          <a:xfrm>
            <a:off x="1670286" y="2039829"/>
            <a:ext cx="9947111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Ofrece herramientas para monitorizar el uso de las APIs, permitiendo la identificación de patrones de uso y la detección de posibles problemas.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1670286" y="4676566"/>
            <a:ext cx="9359489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integra con otros servicios de Azure, como Logic Apps, App Services, y Function Apps</a:t>
            </a:r>
            <a:endParaRPr/>
          </a:p>
        </p:txBody>
      </p:sp>
      <p:grpSp>
        <p:nvGrpSpPr>
          <p:cNvPr id="346" name="Google Shape;346;p12"/>
          <p:cNvGrpSpPr/>
          <p:nvPr/>
        </p:nvGrpSpPr>
        <p:grpSpPr>
          <a:xfrm>
            <a:off x="756298" y="6684640"/>
            <a:ext cx="731003" cy="760368"/>
            <a:chOff x="0" y="0"/>
            <a:chExt cx="974670" cy="1013824"/>
          </a:xfrm>
        </p:grpSpPr>
        <p:sp>
          <p:nvSpPr>
            <p:cNvPr id="347" name="Google Shape;347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49" name="Google Shape;349;p12"/>
          <p:cNvSpPr txBox="1"/>
          <p:nvPr/>
        </p:nvSpPr>
        <p:spPr>
          <a:xfrm>
            <a:off x="1670286" y="6528544"/>
            <a:ext cx="9692819" cy="1680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 escalar las APIs según las necesidades de la organización, asegurando que puedan soportar grandes volúmenes de tráfico.</a:t>
            </a:r>
            <a:endParaRPr/>
          </a:p>
        </p:txBody>
      </p:sp>
      <p:sp>
        <p:nvSpPr>
          <p:cNvPr id="350" name="Google Shape;350;p12"/>
          <p:cNvSpPr txBox="1"/>
          <p:nvPr/>
        </p:nvSpPr>
        <p:spPr>
          <a:xfrm>
            <a:off x="3561373" y="887125"/>
            <a:ext cx="1280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API MANAGEMENT</a:t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11896671" y="2614157"/>
            <a:ext cx="5362629" cy="5362629"/>
          </a:xfrm>
          <a:custGeom>
            <a:rect b="b" l="l" r="r" t="t"/>
            <a:pathLst>
              <a:path extrusionOk="0" h="5362629" w="5362629">
                <a:moveTo>
                  <a:pt x="0" y="0"/>
                </a:moveTo>
                <a:lnTo>
                  <a:pt x="5362629" y="0"/>
                </a:lnTo>
                <a:lnTo>
                  <a:pt x="5362629" y="5362629"/>
                </a:lnTo>
                <a:lnTo>
                  <a:pt x="0" y="5362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"/>
          <p:cNvSpPr txBox="1"/>
          <p:nvPr/>
        </p:nvSpPr>
        <p:spPr>
          <a:xfrm>
            <a:off x="6166085" y="2878719"/>
            <a:ext cx="59558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359" name="Google Shape;359;p13"/>
          <p:cNvSpPr txBox="1"/>
          <p:nvPr/>
        </p:nvSpPr>
        <p:spPr>
          <a:xfrm>
            <a:off x="2162609" y="3925306"/>
            <a:ext cx="13962781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E IMPLEMENTACIÓN DE AZURE FUNCTIONS Y API MANAGEMENT</a:t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906729" y="2905125"/>
            <a:ext cx="16474542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071C6"/>
                </a:solidFill>
                <a:latin typeface="Arial"/>
                <a:ea typeface="Arial"/>
                <a:cs typeface="Arial"/>
                <a:sym typeface="Arial"/>
              </a:rPr>
              <a:t>Proactividad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Anticipar los problemas, como el monitorear el rendimiento de las aplicaciones a través de la implementación de alertas proactivas en los servicios.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Buscar aprender más allá de lo obligatorio.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Tomar la iniciativa en el desarrollo de los proyectos del curso</a:t>
            </a:r>
            <a:endParaRPr/>
          </a:p>
        </p:txBody>
      </p:sp>
      <p:sp>
        <p:nvSpPr>
          <p:cNvPr id="368" name="Google Shape;368;p14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3865129" y="2672534"/>
            <a:ext cx="6228308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Recursos y Grupos de Recursos</a:t>
            </a:r>
            <a:endParaRPr/>
          </a:p>
        </p:txBody>
      </p:sp>
      <p:grpSp>
        <p:nvGrpSpPr>
          <p:cNvPr id="379" name="Google Shape;379;p15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380" name="Google Shape;380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82" name="Google Shape;382;p15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383" name="Google Shape;383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85" name="Google Shape;385;p15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86" name="Google Shape;386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88" name="Google Shape;388;p15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89" name="Google Shape;389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071C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391" name="Google Shape;391;p15"/>
          <p:cNvSpPr txBox="1"/>
          <p:nvPr/>
        </p:nvSpPr>
        <p:spPr>
          <a:xfrm>
            <a:off x="3865129" y="3743996"/>
            <a:ext cx="4607421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Suscripciones de Azure</a:t>
            </a:r>
            <a:endParaRPr/>
          </a:p>
        </p:txBody>
      </p:sp>
      <p:sp>
        <p:nvSpPr>
          <p:cNvPr id="392" name="Google Shape;392;p15"/>
          <p:cNvSpPr txBox="1"/>
          <p:nvPr/>
        </p:nvSpPr>
        <p:spPr>
          <a:xfrm>
            <a:off x="3865129" y="4841875"/>
            <a:ext cx="3279874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Functions </a:t>
            </a:r>
            <a:endParaRPr/>
          </a:p>
        </p:txBody>
      </p:sp>
      <p:sp>
        <p:nvSpPr>
          <p:cNvPr id="393" name="Google Shape;393;p15"/>
          <p:cNvSpPr txBox="1"/>
          <p:nvPr/>
        </p:nvSpPr>
        <p:spPr>
          <a:xfrm>
            <a:off x="3865129" y="6067154"/>
            <a:ext cx="1128393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Azure Api Management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071C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2" l="-171" r="-7088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7744891" y="1000125"/>
            <a:ext cx="9514409" cy="502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Azure Functions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https://learn.microsoft.com/en-us/azure/azure-functions/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(n.d.). API Management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https://learn.microsoft.com/en-us/azure/api-management/ 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Zimmergren. (s. f.). Organize your Azure resources effectively - Cloud Adoption Framework. Microsoft Learn.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https://learn.microsoft.com/en-us/azure/cloud-adoption-framework/ready/azure-setup-guide/organize-resources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6527502" y="5086350"/>
            <a:ext cx="45726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Emerson</dc:creator>
</cp:coreProperties>
</file>