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y="10287000" cx="18288000"/>
  <p:notesSz cx="6858000" cy="9144000"/>
  <p:embeddedFontLst>
    <p:embeddedFont>
      <p:font typeface="Hammersmith One"/>
      <p:regular r:id="rId28"/>
    </p:embeddedFont>
    <p:embeddedFont>
      <p:font typeface="Open Sans"/>
      <p:bold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1" roundtripDataSignature="AMtx7mg1+K8Y3j3X3u3+AX3tFFid9IUr/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D840124-E0BE-4C55-8C83-04C370F69030}">
  <a:tblStyle styleId="{5D840124-E0BE-4C55-8C83-04C370F6903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font" Target="fonts/HammersmithOne-regular.fntdata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OpenSans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customschemas.google.com/relationships/presentationmetadata" Target="metadata"/><Relationship Id="rId30" Type="http://schemas.openxmlformats.org/officeDocument/2006/relationships/font" Target="fonts/OpenSans-bold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" name="Google Shape;18;p2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21" name="Google Shape;21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22" name="Google Shape;22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27" name="Google Shape;27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28" name="Google Shape;28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33" name="Google Shape;33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34" name="Google Shape;34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3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9" name="Google Shape;39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40" name="Google Shape;40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41" name="Google Shape;41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4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4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4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49" name="Google Shape;49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50" name="Google Shape;50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54" name="Google Shape;54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55" name="Google Shape;55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4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0" name="Google Shape;60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61" name="Google Shape;61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62" name="Google Shape;62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4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4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7" name="Google Shape;67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68" name="Google Shape;68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69" name="Google Shape;69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74" name="Google Shape;74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75" name="Google Shape;75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80" name="Google Shape;80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81" name="Google Shape;81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5" name="Google Shape;95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7" name="Google Shape;107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3" name="Google Shape;113;p2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4" name="Google Shape;114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3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p3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1" name="Google Shape;121;p3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2" name="Google Shape;122;p3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3" name="Google Shape;123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3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4" name="Google Shape;134;p3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5" name="Google Shape;135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3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2" name="Google Shape;142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8" name="Google Shape;148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3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4" name="Google Shape;154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4" name="Google Shape;84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hyperlink" Target="https://learn.microsoft.com/en-us/azure/storage/common/storage-introduction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6903" y="1"/>
            <a:ext cx="18254198" cy="1028700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2" name="Google Shape;162;p1"/>
          <p:cNvGraphicFramePr/>
          <p:nvPr/>
        </p:nvGraphicFramePr>
        <p:xfrm>
          <a:off x="10656401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{5D840124-E0BE-4C55-8C83-04C370F69030}</a:tableStyleId>
              </a:tblPr>
              <a:tblGrid>
                <a:gridCol w="3036400"/>
                <a:gridCol w="4344750"/>
              </a:tblGrid>
              <a:tr h="798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/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Martes, 22/07/2025</a:t>
                      </a:r>
                      <a:endParaRPr/>
                    </a:p>
                  </a:txBody>
                  <a:tcPr marT="182850" marB="182850" marR="182850" marL="182850"/>
                </a:tc>
              </a:tr>
              <a:tr h="798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/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19:00</a:t>
                      </a:r>
                      <a:endParaRPr/>
                    </a:p>
                  </a:txBody>
                  <a:tcPr marT="182850" marB="182850" marR="182850" marL="182850"/>
                </a:tc>
              </a:tr>
            </a:tbl>
          </a:graphicData>
        </a:graphic>
      </p:graphicFrame>
      <p:sp>
        <p:nvSpPr>
          <p:cNvPr id="163" name="Google Shape;163;p1"/>
          <p:cNvSpPr txBox="1"/>
          <p:nvPr/>
        </p:nvSpPr>
        <p:spPr>
          <a:xfrm>
            <a:off x="2880350" y="4516600"/>
            <a:ext cx="13584000" cy="1138713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Seminario de Sistemas 1 []</a:t>
            </a:r>
            <a:endParaRPr/>
          </a:p>
        </p:txBody>
      </p:sp>
      <p:sp>
        <p:nvSpPr>
          <p:cNvPr id="164" name="Google Shape;164;p1"/>
          <p:cNvSpPr txBox="1"/>
          <p:nvPr/>
        </p:nvSpPr>
        <p:spPr>
          <a:xfrm>
            <a:off x="2880350" y="5816015"/>
            <a:ext cx="11173200" cy="984824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Nombre Del Tutor.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" name="Google Shape;169;p3"/>
          <p:cNvGrpSpPr/>
          <p:nvPr/>
        </p:nvGrpSpPr>
        <p:grpSpPr>
          <a:xfrm>
            <a:off x="1421964" y="2747250"/>
            <a:ext cx="731003" cy="760368"/>
            <a:chOff x="0" y="0"/>
            <a:chExt cx="974670" cy="1013824"/>
          </a:xfrm>
        </p:grpSpPr>
        <p:sp>
          <p:nvSpPr>
            <p:cNvPr id="170" name="Google Shape;170;p3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3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 u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sp>
        <p:nvSpPr>
          <p:cNvPr id="172" name="Google Shape;172;p3"/>
          <p:cNvSpPr/>
          <p:nvPr/>
        </p:nvSpPr>
        <p:spPr>
          <a:xfrm rot="5400000">
            <a:off x="12857023" y="4742132"/>
            <a:ext cx="10861953" cy="802736"/>
          </a:xfrm>
          <a:custGeom>
            <a:rect b="b" l="l" r="r" t="t"/>
            <a:pathLst>
              <a:path extrusionOk="0" h="802736" w="10861953">
                <a:moveTo>
                  <a:pt x="0" y="0"/>
                </a:moveTo>
                <a:lnTo>
                  <a:pt x="10861954" y="0"/>
                </a:lnTo>
                <a:lnTo>
                  <a:pt x="10861954" y="802736"/>
                </a:lnTo>
                <a:lnTo>
                  <a:pt x="0" y="802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042592" l="-171" r="-7088" t="-30857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3" name="Google Shape;173;p3"/>
          <p:cNvGrpSpPr/>
          <p:nvPr/>
        </p:nvGrpSpPr>
        <p:grpSpPr>
          <a:xfrm>
            <a:off x="1421964" y="5820388"/>
            <a:ext cx="731003" cy="760368"/>
            <a:chOff x="0" y="0"/>
            <a:chExt cx="974670" cy="1013824"/>
          </a:xfrm>
        </p:grpSpPr>
        <p:sp>
          <p:nvSpPr>
            <p:cNvPr id="174" name="Google Shape;174;p3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3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176" name="Google Shape;176;p3"/>
          <p:cNvGrpSpPr/>
          <p:nvPr/>
        </p:nvGrpSpPr>
        <p:grpSpPr>
          <a:xfrm>
            <a:off x="1421964" y="6990935"/>
            <a:ext cx="731003" cy="760368"/>
            <a:chOff x="0" y="0"/>
            <a:chExt cx="974670" cy="1013824"/>
          </a:xfrm>
        </p:grpSpPr>
        <p:sp>
          <p:nvSpPr>
            <p:cNvPr id="177" name="Google Shape;177;p3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3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cxnSp>
        <p:nvCxnSpPr>
          <p:cNvPr id="179" name="Google Shape;179;p3"/>
          <p:cNvCxnSpPr/>
          <p:nvPr/>
        </p:nvCxnSpPr>
        <p:spPr>
          <a:xfrm>
            <a:off x="1211924" y="2318625"/>
            <a:ext cx="4643555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0" name="Google Shape;180;p3"/>
          <p:cNvCxnSpPr/>
          <p:nvPr/>
        </p:nvCxnSpPr>
        <p:spPr>
          <a:xfrm>
            <a:off x="1211924" y="5296513"/>
            <a:ext cx="2129220" cy="0"/>
          </a:xfrm>
          <a:prstGeom prst="straightConnector1">
            <a:avLst/>
          </a:prstGeom>
          <a:noFill/>
          <a:ln cap="flat" cmpd="sng" w="38100">
            <a:solidFill>
              <a:srgbClr val="29303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3"/>
          <p:cNvSpPr txBox="1"/>
          <p:nvPr/>
        </p:nvSpPr>
        <p:spPr>
          <a:xfrm>
            <a:off x="6722126" y="274500"/>
            <a:ext cx="40902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999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AGEN</a:t>
            </a:r>
            <a:r>
              <a:rPr b="1" lang="en-US" sz="6999">
                <a:solidFill>
                  <a:srgbClr val="29303C"/>
                </a:solidFill>
              </a:rPr>
              <a:t>D</a:t>
            </a:r>
            <a:r>
              <a:rPr b="1" lang="en-US" sz="6999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182" name="Google Shape;182;p3"/>
          <p:cNvSpPr txBox="1"/>
          <p:nvPr/>
        </p:nvSpPr>
        <p:spPr>
          <a:xfrm>
            <a:off x="2640377" y="2830096"/>
            <a:ext cx="1401532" cy="556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25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Foro 7</a:t>
            </a:r>
            <a:endParaRPr/>
          </a:p>
        </p:txBody>
      </p:sp>
      <p:sp>
        <p:nvSpPr>
          <p:cNvPr id="183" name="Google Shape;183;p3"/>
          <p:cNvSpPr txBox="1"/>
          <p:nvPr/>
        </p:nvSpPr>
        <p:spPr>
          <a:xfrm>
            <a:off x="2335952" y="5933228"/>
            <a:ext cx="5505809" cy="556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25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Azure VM y Load Balancer</a:t>
            </a:r>
            <a:endParaRPr/>
          </a:p>
        </p:txBody>
      </p:sp>
      <p:sp>
        <p:nvSpPr>
          <p:cNvPr id="184" name="Google Shape;184;p3"/>
          <p:cNvSpPr txBox="1"/>
          <p:nvPr/>
        </p:nvSpPr>
        <p:spPr>
          <a:xfrm>
            <a:off x="2335952" y="8243723"/>
            <a:ext cx="4090119" cy="556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25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Azure App Services</a:t>
            </a:r>
            <a:endParaRPr/>
          </a:p>
        </p:txBody>
      </p:sp>
      <p:sp>
        <p:nvSpPr>
          <p:cNvPr id="185" name="Google Shape;185;p3"/>
          <p:cNvSpPr txBox="1"/>
          <p:nvPr/>
        </p:nvSpPr>
        <p:spPr>
          <a:xfrm>
            <a:off x="1211924" y="1300032"/>
            <a:ext cx="4643555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99">
                <a:solidFill>
                  <a:srgbClr val="29303C"/>
                </a:solidFill>
                <a:latin typeface="Open Sans"/>
                <a:ea typeface="Open Sans"/>
                <a:cs typeface="Open Sans"/>
                <a:sym typeface="Open Sans"/>
              </a:rPr>
              <a:t>Recordatorios</a:t>
            </a:r>
            <a:endParaRPr/>
          </a:p>
        </p:txBody>
      </p:sp>
      <p:sp>
        <p:nvSpPr>
          <p:cNvPr id="186" name="Google Shape;186;p3"/>
          <p:cNvSpPr txBox="1"/>
          <p:nvPr/>
        </p:nvSpPr>
        <p:spPr>
          <a:xfrm>
            <a:off x="1211924" y="4208720"/>
            <a:ext cx="2248057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99">
                <a:solidFill>
                  <a:srgbClr val="29303C"/>
                </a:solidFill>
                <a:latin typeface="Open Sans"/>
                <a:ea typeface="Open Sans"/>
                <a:cs typeface="Open Sans"/>
                <a:sym typeface="Open Sans"/>
              </a:rPr>
              <a:t>Temas</a:t>
            </a:r>
            <a:endParaRPr/>
          </a:p>
        </p:txBody>
      </p:sp>
      <p:grpSp>
        <p:nvGrpSpPr>
          <p:cNvPr id="187" name="Google Shape;187;p3"/>
          <p:cNvGrpSpPr/>
          <p:nvPr/>
        </p:nvGrpSpPr>
        <p:grpSpPr>
          <a:xfrm>
            <a:off x="1421964" y="8160878"/>
            <a:ext cx="731003" cy="760368"/>
            <a:chOff x="0" y="0"/>
            <a:chExt cx="974670" cy="1013824"/>
          </a:xfrm>
        </p:grpSpPr>
        <p:sp>
          <p:nvSpPr>
            <p:cNvPr id="188" name="Google Shape;188;p3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3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grpSp>
        <p:nvGrpSpPr>
          <p:cNvPr id="190" name="Google Shape;190;p3"/>
          <p:cNvGrpSpPr/>
          <p:nvPr/>
        </p:nvGrpSpPr>
        <p:grpSpPr>
          <a:xfrm>
            <a:off x="11135161" y="5820388"/>
            <a:ext cx="731003" cy="760368"/>
            <a:chOff x="0" y="0"/>
            <a:chExt cx="974670" cy="1013824"/>
          </a:xfrm>
        </p:grpSpPr>
        <p:sp>
          <p:nvSpPr>
            <p:cNvPr id="191" name="Google Shape;191;p3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3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sp>
        <p:nvSpPr>
          <p:cNvPr id="193" name="Google Shape;193;p3"/>
          <p:cNvSpPr txBox="1"/>
          <p:nvPr/>
        </p:nvSpPr>
        <p:spPr>
          <a:xfrm>
            <a:off x="12210202" y="5933228"/>
            <a:ext cx="3655657" cy="556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25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Azure Logic Apps</a:t>
            </a:r>
            <a:endParaRPr/>
          </a:p>
        </p:txBody>
      </p:sp>
      <p:sp>
        <p:nvSpPr>
          <p:cNvPr id="194" name="Google Shape;194;p3"/>
          <p:cNvSpPr txBox="1"/>
          <p:nvPr/>
        </p:nvSpPr>
        <p:spPr>
          <a:xfrm>
            <a:off x="2335952" y="7072306"/>
            <a:ext cx="3159894" cy="556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25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Azure Storage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" name="Google Shape;199;p4"/>
          <p:cNvGrpSpPr/>
          <p:nvPr/>
        </p:nvGrpSpPr>
        <p:grpSpPr>
          <a:xfrm>
            <a:off x="0" y="-144661"/>
            <a:ext cx="5991225" cy="10431661"/>
            <a:chOff x="0" y="-38100"/>
            <a:chExt cx="1577936" cy="2747433"/>
          </a:xfrm>
        </p:grpSpPr>
        <p:sp>
          <p:nvSpPr>
            <p:cNvPr id="200" name="Google Shape;200;p4"/>
            <p:cNvSpPr/>
            <p:nvPr/>
          </p:nvSpPr>
          <p:spPr>
            <a:xfrm>
              <a:off x="0" y="0"/>
              <a:ext cx="1577936" cy="2709333"/>
            </a:xfrm>
            <a:custGeom>
              <a:rect b="b" l="l" r="r" t="t"/>
              <a:pathLst>
                <a:path extrusionOk="0" h="2709333" w="1577936">
                  <a:moveTo>
                    <a:pt x="0" y="0"/>
                  </a:moveTo>
                  <a:lnTo>
                    <a:pt x="1577936" y="0"/>
                  </a:lnTo>
                  <a:lnTo>
                    <a:pt x="157793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4"/>
            <p:cNvSpPr txBox="1"/>
            <p:nvPr/>
          </p:nvSpPr>
          <p:spPr>
            <a:xfrm>
              <a:off x="0" y="-38100"/>
              <a:ext cx="157793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2" name="Google Shape;202;p4"/>
          <p:cNvGrpSpPr/>
          <p:nvPr/>
        </p:nvGrpSpPr>
        <p:grpSpPr>
          <a:xfrm>
            <a:off x="868549" y="9645946"/>
            <a:ext cx="4752975" cy="641054"/>
            <a:chOff x="0" y="-38100"/>
            <a:chExt cx="1251812" cy="168838"/>
          </a:xfrm>
        </p:grpSpPr>
        <p:sp>
          <p:nvSpPr>
            <p:cNvPr id="203" name="Google Shape;203;p4"/>
            <p:cNvSpPr/>
            <p:nvPr/>
          </p:nvSpPr>
          <p:spPr>
            <a:xfrm>
              <a:off x="0" y="0"/>
              <a:ext cx="1251812" cy="130738"/>
            </a:xfrm>
            <a:custGeom>
              <a:rect b="b" l="l" r="r" t="t"/>
              <a:pathLst>
                <a:path extrusionOk="0" h="130738" w="1251812">
                  <a:moveTo>
                    <a:pt x="0" y="0"/>
                  </a:moveTo>
                  <a:lnTo>
                    <a:pt x="1251812" y="0"/>
                  </a:lnTo>
                  <a:lnTo>
                    <a:pt x="1251812" y="130738"/>
                  </a:lnTo>
                  <a:lnTo>
                    <a:pt x="0" y="130738"/>
                  </a:lnTo>
                  <a:close/>
                </a:path>
              </a:pathLst>
            </a:cu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4"/>
            <p:cNvSpPr txBox="1"/>
            <p:nvPr/>
          </p:nvSpPr>
          <p:spPr>
            <a:xfrm>
              <a:off x="0" y="-38100"/>
              <a:ext cx="1251812" cy="1688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5" name="Google Shape;205;p4"/>
          <p:cNvGrpSpPr/>
          <p:nvPr/>
        </p:nvGrpSpPr>
        <p:grpSpPr>
          <a:xfrm>
            <a:off x="0" y="8983453"/>
            <a:ext cx="2463069" cy="1453443"/>
            <a:chOff x="0" y="-38100"/>
            <a:chExt cx="648710" cy="382800"/>
          </a:xfrm>
        </p:grpSpPr>
        <p:sp>
          <p:nvSpPr>
            <p:cNvPr id="206" name="Google Shape;206;p4"/>
            <p:cNvSpPr/>
            <p:nvPr/>
          </p:nvSpPr>
          <p:spPr>
            <a:xfrm>
              <a:off x="0" y="0"/>
              <a:ext cx="648710" cy="344700"/>
            </a:xfrm>
            <a:custGeom>
              <a:rect b="b" l="l" r="r" t="t"/>
              <a:pathLst>
                <a:path extrusionOk="0" h="344700" w="648710">
                  <a:moveTo>
                    <a:pt x="0" y="0"/>
                  </a:moveTo>
                  <a:lnTo>
                    <a:pt x="648710" y="0"/>
                  </a:lnTo>
                  <a:lnTo>
                    <a:pt x="648710" y="344700"/>
                  </a:lnTo>
                  <a:lnTo>
                    <a:pt x="0" y="344700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4"/>
            <p:cNvSpPr txBox="1"/>
            <p:nvPr/>
          </p:nvSpPr>
          <p:spPr>
            <a:xfrm>
              <a:off x="0" y="-38100"/>
              <a:ext cx="648710" cy="38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8" name="Google Shape;208;p4"/>
          <p:cNvGrpSpPr/>
          <p:nvPr/>
        </p:nvGrpSpPr>
        <p:grpSpPr>
          <a:xfrm>
            <a:off x="11812774" y="9645946"/>
            <a:ext cx="1419225" cy="641054"/>
            <a:chOff x="0" y="-38100"/>
            <a:chExt cx="373788" cy="168838"/>
          </a:xfrm>
        </p:grpSpPr>
        <p:sp>
          <p:nvSpPr>
            <p:cNvPr id="209" name="Google Shape;209;p4"/>
            <p:cNvSpPr/>
            <p:nvPr/>
          </p:nvSpPr>
          <p:spPr>
            <a:xfrm>
              <a:off x="0" y="0"/>
              <a:ext cx="373788" cy="130738"/>
            </a:xfrm>
            <a:custGeom>
              <a:rect b="b" l="l" r="r" t="t"/>
              <a:pathLst>
                <a:path extrusionOk="0" h="130738" w="373788">
                  <a:moveTo>
                    <a:pt x="0" y="0"/>
                  </a:moveTo>
                  <a:lnTo>
                    <a:pt x="373788" y="0"/>
                  </a:lnTo>
                  <a:lnTo>
                    <a:pt x="373788" y="130738"/>
                  </a:lnTo>
                  <a:lnTo>
                    <a:pt x="0" y="130738"/>
                  </a:lnTo>
                  <a:close/>
                </a:path>
              </a:pathLst>
            </a:cu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4"/>
            <p:cNvSpPr txBox="1"/>
            <p:nvPr/>
          </p:nvSpPr>
          <p:spPr>
            <a:xfrm>
              <a:off x="0" y="-38100"/>
              <a:ext cx="373788" cy="1688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1" name="Google Shape;211;p4"/>
          <p:cNvGrpSpPr/>
          <p:nvPr/>
        </p:nvGrpSpPr>
        <p:grpSpPr>
          <a:xfrm>
            <a:off x="12038199" y="9467051"/>
            <a:ext cx="6249801" cy="819949"/>
            <a:chOff x="0" y="-38100"/>
            <a:chExt cx="1646038" cy="215954"/>
          </a:xfrm>
        </p:grpSpPr>
        <p:sp>
          <p:nvSpPr>
            <p:cNvPr id="212" name="Google Shape;212;p4"/>
            <p:cNvSpPr/>
            <p:nvPr/>
          </p:nvSpPr>
          <p:spPr>
            <a:xfrm>
              <a:off x="0" y="0"/>
              <a:ext cx="1646038" cy="177854"/>
            </a:xfrm>
            <a:custGeom>
              <a:rect b="b" l="l" r="r" t="t"/>
              <a:pathLst>
                <a:path extrusionOk="0" h="177854" w="1646038">
                  <a:moveTo>
                    <a:pt x="0" y="0"/>
                  </a:moveTo>
                  <a:lnTo>
                    <a:pt x="1646038" y="0"/>
                  </a:lnTo>
                  <a:lnTo>
                    <a:pt x="1646038" y="177854"/>
                  </a:lnTo>
                  <a:lnTo>
                    <a:pt x="0" y="177854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4"/>
            <p:cNvSpPr txBox="1"/>
            <p:nvPr/>
          </p:nvSpPr>
          <p:spPr>
            <a:xfrm>
              <a:off x="0" y="-38100"/>
              <a:ext cx="1646038" cy="2159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4" name="Google Shape;214;p4"/>
          <p:cNvSpPr/>
          <p:nvPr/>
        </p:nvSpPr>
        <p:spPr>
          <a:xfrm>
            <a:off x="7306958" y="1820710"/>
            <a:ext cx="3674083" cy="3674083"/>
          </a:xfrm>
          <a:custGeom>
            <a:rect b="b" l="l" r="r" t="t"/>
            <a:pathLst>
              <a:path extrusionOk="0" h="3674083" w="3674083">
                <a:moveTo>
                  <a:pt x="0" y="0"/>
                </a:moveTo>
                <a:lnTo>
                  <a:pt x="3674084" y="0"/>
                </a:lnTo>
                <a:lnTo>
                  <a:pt x="3674084" y="3674084"/>
                </a:lnTo>
                <a:lnTo>
                  <a:pt x="0" y="36740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4"/>
          <p:cNvSpPr txBox="1"/>
          <p:nvPr/>
        </p:nvSpPr>
        <p:spPr>
          <a:xfrm>
            <a:off x="1028700" y="504825"/>
            <a:ext cx="13356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AZURE Virtual Machines</a:t>
            </a:r>
            <a:endParaRPr/>
          </a:p>
        </p:txBody>
      </p:sp>
      <p:sp>
        <p:nvSpPr>
          <p:cNvPr id="216" name="Google Shape;216;p4"/>
          <p:cNvSpPr txBox="1"/>
          <p:nvPr/>
        </p:nvSpPr>
        <p:spPr>
          <a:xfrm>
            <a:off x="497215" y="5801029"/>
            <a:ext cx="17293571" cy="296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Cuando se crea una VM en Azure, </a:t>
            </a:r>
            <a:r>
              <a:rPr b="1"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 debe crear un Grupo de Recursos (o se puede usar uno existente)</a:t>
            </a: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que incluye:</a:t>
            </a:r>
            <a:endParaRPr/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La VM</a:t>
            </a:r>
            <a:endParaRPr/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La interfaz de red</a:t>
            </a:r>
            <a:endParaRPr/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La IP pública</a:t>
            </a:r>
            <a:endParaRPr/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La red virtual, etc.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5"/>
          <p:cNvSpPr/>
          <p:nvPr/>
        </p:nvSpPr>
        <p:spPr>
          <a:xfrm flipH="1" rot="10800000">
            <a:off x="-742919" y="1131592"/>
            <a:ext cx="2235888" cy="13082323"/>
          </a:xfrm>
          <a:custGeom>
            <a:rect b="b" l="l" r="r" t="t"/>
            <a:pathLst>
              <a:path extrusionOk="0" h="13082323" w="2235888">
                <a:moveTo>
                  <a:pt x="0" y="13082322"/>
                </a:moveTo>
                <a:lnTo>
                  <a:pt x="2235888" y="13082322"/>
                </a:lnTo>
                <a:lnTo>
                  <a:pt x="2235888" y="0"/>
                </a:lnTo>
                <a:lnTo>
                  <a:pt x="0" y="0"/>
                </a:lnTo>
                <a:lnTo>
                  <a:pt x="0" y="1308232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5"/>
          <p:cNvSpPr/>
          <p:nvPr/>
        </p:nvSpPr>
        <p:spPr>
          <a:xfrm flipH="1" rot="5679621">
            <a:off x="13549610" y="-9711175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5"/>
          <p:cNvSpPr/>
          <p:nvPr/>
        </p:nvSpPr>
        <p:spPr>
          <a:xfrm>
            <a:off x="3199166" y="4871402"/>
            <a:ext cx="11889668" cy="4845040"/>
          </a:xfrm>
          <a:custGeom>
            <a:rect b="b" l="l" r="r" t="t"/>
            <a:pathLst>
              <a:path extrusionOk="0" h="4845040" w="11889668">
                <a:moveTo>
                  <a:pt x="0" y="0"/>
                </a:moveTo>
                <a:lnTo>
                  <a:pt x="11889668" y="0"/>
                </a:lnTo>
                <a:lnTo>
                  <a:pt x="11889668" y="4845040"/>
                </a:lnTo>
                <a:lnTo>
                  <a:pt x="0" y="48450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5"/>
          <p:cNvSpPr txBox="1"/>
          <p:nvPr/>
        </p:nvSpPr>
        <p:spPr>
          <a:xfrm>
            <a:off x="1028700" y="1905000"/>
            <a:ext cx="16545920" cy="28044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9729" lvl="1" marL="739458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425"/>
              <a:buFont typeface="Arial"/>
              <a:buChar char="•"/>
            </a:pPr>
            <a:r>
              <a:rPr b="0" i="0" lang="en-US" sz="34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Son servidores que reenvían el tráfico de Internet a múltiples servidores (máquinas virtuales).</a:t>
            </a:r>
            <a:endParaRPr/>
          </a:p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25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9729" lvl="1" marL="739458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425"/>
              <a:buFont typeface="Arial"/>
              <a:buChar char="•"/>
            </a:pPr>
            <a:r>
              <a:rPr b="0" i="0" lang="en-US" sz="34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Distribuye flujos de entrada que llegan al front-end del equilibrador de carga a las instancias del grupo de back-end.</a:t>
            </a:r>
            <a:endParaRPr/>
          </a:p>
        </p:txBody>
      </p:sp>
      <p:sp>
        <p:nvSpPr>
          <p:cNvPr id="225" name="Google Shape;225;p5"/>
          <p:cNvSpPr txBox="1"/>
          <p:nvPr/>
        </p:nvSpPr>
        <p:spPr>
          <a:xfrm>
            <a:off x="1028700" y="962025"/>
            <a:ext cx="14273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AZURE LOAD BALANCER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6"/>
          <p:cNvGrpSpPr/>
          <p:nvPr/>
        </p:nvGrpSpPr>
        <p:grpSpPr>
          <a:xfrm>
            <a:off x="16776087" y="-539578"/>
            <a:ext cx="2344551" cy="2157882"/>
            <a:chOff x="0" y="-38100"/>
            <a:chExt cx="617495" cy="568331"/>
          </a:xfrm>
        </p:grpSpPr>
        <p:sp>
          <p:nvSpPr>
            <p:cNvPr id="231" name="Google Shape;231;p6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6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3" name="Google Shape;233;p6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234" name="Google Shape;234;p6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6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36" name="Google Shape;236;p6"/>
          <p:cNvCxnSpPr/>
          <p:nvPr/>
        </p:nvCxnSpPr>
        <p:spPr>
          <a:xfrm flipH="1" rot="10800000">
            <a:off x="4491574" y="1322213"/>
            <a:ext cx="8937117" cy="19050"/>
          </a:xfrm>
          <a:prstGeom prst="straightConnector1">
            <a:avLst/>
          </a:prstGeom>
          <a:noFill/>
          <a:ln cap="flat" cmpd="sng" w="38100">
            <a:solidFill>
              <a:srgbClr val="0071C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7" name="Google Shape;237;p6"/>
          <p:cNvSpPr/>
          <p:nvPr/>
        </p:nvSpPr>
        <p:spPr>
          <a:xfrm>
            <a:off x="4702270" y="3762312"/>
            <a:ext cx="8883461" cy="4186331"/>
          </a:xfrm>
          <a:custGeom>
            <a:rect b="b" l="l" r="r" t="t"/>
            <a:pathLst>
              <a:path extrusionOk="0" h="4186331" w="8883461">
                <a:moveTo>
                  <a:pt x="0" y="0"/>
                </a:moveTo>
                <a:lnTo>
                  <a:pt x="8883460" y="0"/>
                </a:lnTo>
                <a:lnTo>
                  <a:pt x="8883460" y="4186331"/>
                </a:lnTo>
                <a:lnTo>
                  <a:pt x="0" y="41863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6"/>
          <p:cNvSpPr txBox="1"/>
          <p:nvPr/>
        </p:nvSpPr>
        <p:spPr>
          <a:xfrm>
            <a:off x="2833881" y="351675"/>
            <a:ext cx="8883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AZURE STORAGE</a:t>
            </a:r>
            <a:endParaRPr/>
          </a:p>
        </p:txBody>
      </p:sp>
      <p:sp>
        <p:nvSpPr>
          <p:cNvPr id="239" name="Google Shape;239;p6"/>
          <p:cNvSpPr txBox="1"/>
          <p:nvPr/>
        </p:nvSpPr>
        <p:spPr>
          <a:xfrm>
            <a:off x="1949777" y="1580204"/>
            <a:ext cx="14388446" cy="1958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Azure Storage es una plataforma de almacenamiento en la nube que ofrece varios tipos de almacenamiento bajo un mismo servicio: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" name="Google Shape;244;p7"/>
          <p:cNvGrpSpPr/>
          <p:nvPr/>
        </p:nvGrpSpPr>
        <p:grpSpPr>
          <a:xfrm>
            <a:off x="0" y="8824911"/>
            <a:ext cx="7251395" cy="1479444"/>
            <a:chOff x="0" y="-38100"/>
            <a:chExt cx="1909832" cy="389648"/>
          </a:xfrm>
        </p:grpSpPr>
        <p:sp>
          <p:nvSpPr>
            <p:cNvPr id="245" name="Google Shape;245;p7"/>
            <p:cNvSpPr/>
            <p:nvPr/>
          </p:nvSpPr>
          <p:spPr>
            <a:xfrm>
              <a:off x="0" y="0"/>
              <a:ext cx="1909832" cy="351548"/>
            </a:xfrm>
            <a:custGeom>
              <a:rect b="b" l="l" r="r" t="t"/>
              <a:pathLst>
                <a:path extrusionOk="0" h="351548" w="1909832">
                  <a:moveTo>
                    <a:pt x="0" y="0"/>
                  </a:moveTo>
                  <a:lnTo>
                    <a:pt x="1909832" y="0"/>
                  </a:lnTo>
                  <a:lnTo>
                    <a:pt x="1909832" y="351548"/>
                  </a:lnTo>
                  <a:lnTo>
                    <a:pt x="0" y="351548"/>
                  </a:lnTo>
                  <a:close/>
                </a:path>
              </a:pathLst>
            </a:cu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7"/>
            <p:cNvSpPr txBox="1"/>
            <p:nvPr/>
          </p:nvSpPr>
          <p:spPr>
            <a:xfrm>
              <a:off x="0" y="-38100"/>
              <a:ext cx="1909832" cy="389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7" name="Google Shape;247;p7"/>
          <p:cNvGrpSpPr/>
          <p:nvPr/>
        </p:nvGrpSpPr>
        <p:grpSpPr>
          <a:xfrm>
            <a:off x="0" y="9233552"/>
            <a:ext cx="18288000" cy="1053448"/>
            <a:chOff x="0" y="-38100"/>
            <a:chExt cx="4816593" cy="277451"/>
          </a:xfrm>
        </p:grpSpPr>
        <p:sp>
          <p:nvSpPr>
            <p:cNvPr id="248" name="Google Shape;248;p7"/>
            <p:cNvSpPr/>
            <p:nvPr/>
          </p:nvSpPr>
          <p:spPr>
            <a:xfrm>
              <a:off x="0" y="0"/>
              <a:ext cx="4816592" cy="239351"/>
            </a:xfrm>
            <a:custGeom>
              <a:rect b="b" l="l" r="r" t="t"/>
              <a:pathLst>
                <a:path extrusionOk="0" h="23935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39351"/>
                  </a:lnTo>
                  <a:lnTo>
                    <a:pt x="0" y="23935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7"/>
            <p:cNvSpPr txBox="1"/>
            <p:nvPr/>
          </p:nvSpPr>
          <p:spPr>
            <a:xfrm>
              <a:off x="0" y="-38100"/>
              <a:ext cx="4816593" cy="2774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0" name="Google Shape;250;p7"/>
          <p:cNvSpPr txBox="1"/>
          <p:nvPr/>
        </p:nvSpPr>
        <p:spPr>
          <a:xfrm>
            <a:off x="543350" y="289225"/>
            <a:ext cx="178575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CONCEPTOS IMPORTANTES DE AZURE STORAGE</a:t>
            </a:r>
            <a:endParaRPr/>
          </a:p>
        </p:txBody>
      </p:sp>
      <p:grpSp>
        <p:nvGrpSpPr>
          <p:cNvPr id="251" name="Google Shape;251;p7"/>
          <p:cNvGrpSpPr/>
          <p:nvPr/>
        </p:nvGrpSpPr>
        <p:grpSpPr>
          <a:xfrm>
            <a:off x="697799" y="1485900"/>
            <a:ext cx="731003" cy="760368"/>
            <a:chOff x="0" y="0"/>
            <a:chExt cx="974670" cy="1013824"/>
          </a:xfrm>
        </p:grpSpPr>
        <p:sp>
          <p:nvSpPr>
            <p:cNvPr id="252" name="Google Shape;252;p7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7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254" name="Google Shape;254;p7"/>
          <p:cNvGrpSpPr/>
          <p:nvPr/>
        </p:nvGrpSpPr>
        <p:grpSpPr>
          <a:xfrm>
            <a:off x="631519" y="5143500"/>
            <a:ext cx="731003" cy="760368"/>
            <a:chOff x="0" y="0"/>
            <a:chExt cx="974670" cy="1013824"/>
          </a:xfrm>
        </p:grpSpPr>
        <p:sp>
          <p:nvSpPr>
            <p:cNvPr id="255" name="Google Shape;255;p7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7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sp>
        <p:nvSpPr>
          <p:cNvPr id="257" name="Google Shape;257;p7"/>
          <p:cNvSpPr txBox="1"/>
          <p:nvPr/>
        </p:nvSpPr>
        <p:spPr>
          <a:xfrm>
            <a:off x="1611786" y="1568745"/>
            <a:ext cx="6195420" cy="556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25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CUENTAS DE ALMACENAMIENTO</a:t>
            </a:r>
            <a:endParaRPr/>
          </a:p>
        </p:txBody>
      </p:sp>
      <p:sp>
        <p:nvSpPr>
          <p:cNvPr id="258" name="Google Shape;258;p7"/>
          <p:cNvSpPr txBox="1"/>
          <p:nvPr/>
        </p:nvSpPr>
        <p:spPr>
          <a:xfrm>
            <a:off x="1545507" y="5226345"/>
            <a:ext cx="5074369" cy="556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25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CONTENEDORES DE BLOB</a:t>
            </a:r>
            <a:endParaRPr/>
          </a:p>
        </p:txBody>
      </p:sp>
      <p:sp>
        <p:nvSpPr>
          <p:cNvPr id="259" name="Google Shape;259;p7"/>
          <p:cNvSpPr txBox="1"/>
          <p:nvPr/>
        </p:nvSpPr>
        <p:spPr>
          <a:xfrm>
            <a:off x="697799" y="2296974"/>
            <a:ext cx="16737946" cy="2466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 un espacio con nombre único para los datos de Azure Storage, donde se pueden almacenar diferentes tipos de datos, como 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blobs (objetos), archivos, colas y tablas.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Al crear una cuenta de almacenamiento, obtienes acceso a todos estos tipos de almacenamiento, y puedes elegir cuál usar según tus necesidades.</a:t>
            </a:r>
            <a:endParaRPr/>
          </a:p>
        </p:txBody>
      </p:sp>
      <p:sp>
        <p:nvSpPr>
          <p:cNvPr id="260" name="Google Shape;260;p7"/>
          <p:cNvSpPr txBox="1"/>
          <p:nvPr/>
        </p:nvSpPr>
        <p:spPr>
          <a:xfrm>
            <a:off x="543342" y="5974074"/>
            <a:ext cx="16737946" cy="2466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 una unidad lógica dentro de una cuenta de almacenamiento que 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permite agrupar y organizar blobs (objetos), es similar a al concepto de Bucket en AWS.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Todos los blobs deben residir dentro de un contenedor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, y no puedes almacenar blobs directamente en la cuenta de almacenamiento sin un contenedor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" name="Google Shape;265;p8"/>
          <p:cNvGrpSpPr/>
          <p:nvPr/>
        </p:nvGrpSpPr>
        <p:grpSpPr>
          <a:xfrm>
            <a:off x="17551400" y="-144661"/>
            <a:ext cx="736600" cy="929568"/>
            <a:chOff x="0" y="-38100"/>
            <a:chExt cx="194002" cy="244824"/>
          </a:xfrm>
        </p:grpSpPr>
        <p:sp>
          <p:nvSpPr>
            <p:cNvPr id="266" name="Google Shape;266;p8"/>
            <p:cNvSpPr/>
            <p:nvPr/>
          </p:nvSpPr>
          <p:spPr>
            <a:xfrm>
              <a:off x="0" y="0"/>
              <a:ext cx="194002" cy="206724"/>
            </a:xfrm>
            <a:custGeom>
              <a:rect b="b" l="l" r="r" t="t"/>
              <a:pathLst>
                <a:path extrusionOk="0" h="206724" w="194002">
                  <a:moveTo>
                    <a:pt x="0" y="0"/>
                  </a:moveTo>
                  <a:lnTo>
                    <a:pt x="194002" y="0"/>
                  </a:lnTo>
                  <a:lnTo>
                    <a:pt x="194002" y="206724"/>
                  </a:lnTo>
                  <a:lnTo>
                    <a:pt x="0" y="206724"/>
                  </a:lnTo>
                  <a:close/>
                </a:path>
              </a:pathLst>
            </a:cu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8"/>
            <p:cNvSpPr txBox="1"/>
            <p:nvPr/>
          </p:nvSpPr>
          <p:spPr>
            <a:xfrm>
              <a:off x="0" y="-38100"/>
              <a:ext cx="194002" cy="2448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8" name="Google Shape;268;p8"/>
          <p:cNvGrpSpPr/>
          <p:nvPr/>
        </p:nvGrpSpPr>
        <p:grpSpPr>
          <a:xfrm>
            <a:off x="0" y="9738432"/>
            <a:ext cx="18288000" cy="548568"/>
            <a:chOff x="0" y="-38100"/>
            <a:chExt cx="4816593" cy="144479"/>
          </a:xfrm>
        </p:grpSpPr>
        <p:sp>
          <p:nvSpPr>
            <p:cNvPr id="269" name="Google Shape;269;p8"/>
            <p:cNvSpPr/>
            <p:nvPr/>
          </p:nvSpPr>
          <p:spPr>
            <a:xfrm>
              <a:off x="0" y="0"/>
              <a:ext cx="4816592" cy="106379"/>
            </a:xfrm>
            <a:custGeom>
              <a:rect b="b" l="l" r="r" t="t"/>
              <a:pathLst>
                <a:path extrusionOk="0" h="10637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6379"/>
                  </a:lnTo>
                  <a:lnTo>
                    <a:pt x="0" y="106379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8"/>
            <p:cNvSpPr txBox="1"/>
            <p:nvPr/>
          </p:nvSpPr>
          <p:spPr>
            <a:xfrm>
              <a:off x="0" y="-38100"/>
              <a:ext cx="4816593" cy="1444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1" name="Google Shape;271;p8"/>
          <p:cNvGrpSpPr/>
          <p:nvPr/>
        </p:nvGrpSpPr>
        <p:grpSpPr>
          <a:xfrm>
            <a:off x="17783175" y="247792"/>
            <a:ext cx="504825" cy="700017"/>
            <a:chOff x="0" y="-38100"/>
            <a:chExt cx="132958" cy="184367"/>
          </a:xfrm>
        </p:grpSpPr>
        <p:sp>
          <p:nvSpPr>
            <p:cNvPr id="272" name="Google Shape;272;p8"/>
            <p:cNvSpPr/>
            <p:nvPr/>
          </p:nvSpPr>
          <p:spPr>
            <a:xfrm>
              <a:off x="0" y="0"/>
              <a:ext cx="132958" cy="146267"/>
            </a:xfrm>
            <a:custGeom>
              <a:rect b="b" l="l" r="r" t="t"/>
              <a:pathLst>
                <a:path extrusionOk="0" h="146267" w="132958">
                  <a:moveTo>
                    <a:pt x="0" y="0"/>
                  </a:moveTo>
                  <a:lnTo>
                    <a:pt x="132958" y="0"/>
                  </a:lnTo>
                  <a:lnTo>
                    <a:pt x="132958" y="146267"/>
                  </a:lnTo>
                  <a:lnTo>
                    <a:pt x="0" y="146267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8"/>
            <p:cNvSpPr txBox="1"/>
            <p:nvPr/>
          </p:nvSpPr>
          <p:spPr>
            <a:xfrm>
              <a:off x="0" y="-38100"/>
              <a:ext cx="132958" cy="1843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4" name="Google Shape;274;p8"/>
          <p:cNvSpPr/>
          <p:nvPr/>
        </p:nvSpPr>
        <p:spPr>
          <a:xfrm>
            <a:off x="4065436" y="3774771"/>
            <a:ext cx="10157128" cy="5713385"/>
          </a:xfrm>
          <a:custGeom>
            <a:rect b="b" l="l" r="r" t="t"/>
            <a:pathLst>
              <a:path extrusionOk="0" h="5713385" w="10157128">
                <a:moveTo>
                  <a:pt x="0" y="0"/>
                </a:moveTo>
                <a:lnTo>
                  <a:pt x="10157128" y="0"/>
                </a:lnTo>
                <a:lnTo>
                  <a:pt x="10157128" y="5713385"/>
                </a:lnTo>
                <a:lnTo>
                  <a:pt x="0" y="57133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 txBox="1"/>
          <p:nvPr/>
        </p:nvSpPr>
        <p:spPr>
          <a:xfrm>
            <a:off x="1520325" y="439725"/>
            <a:ext cx="133059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999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AZURE STORAGE EXPLORER</a:t>
            </a:r>
            <a:endParaRPr/>
          </a:p>
        </p:txBody>
      </p:sp>
      <p:sp>
        <p:nvSpPr>
          <p:cNvPr id="276" name="Google Shape;276;p8"/>
          <p:cNvSpPr txBox="1"/>
          <p:nvPr/>
        </p:nvSpPr>
        <p:spPr>
          <a:xfrm>
            <a:off x="901864" y="1531938"/>
            <a:ext cx="16484273" cy="2466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Azure File Storage no permite administrar o explorar de manera cómoda los archivos dentro de una cuenta de almacenamiento, por tal razón existe </a:t>
            </a:r>
            <a:r>
              <a:rPr b="1"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Azure Storage Explorer</a:t>
            </a: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, un servicio que permite gestionar de forma visual tus recursos de almacenamiento en la nube de Microsoft Azure 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1" name="Google Shape;281;p9"/>
          <p:cNvGrpSpPr/>
          <p:nvPr/>
        </p:nvGrpSpPr>
        <p:grpSpPr>
          <a:xfrm>
            <a:off x="0" y="8824911"/>
            <a:ext cx="7251395" cy="1479444"/>
            <a:chOff x="0" y="-38100"/>
            <a:chExt cx="1909832" cy="389648"/>
          </a:xfrm>
        </p:grpSpPr>
        <p:sp>
          <p:nvSpPr>
            <p:cNvPr id="282" name="Google Shape;282;p9"/>
            <p:cNvSpPr/>
            <p:nvPr/>
          </p:nvSpPr>
          <p:spPr>
            <a:xfrm>
              <a:off x="0" y="0"/>
              <a:ext cx="1909832" cy="351548"/>
            </a:xfrm>
            <a:custGeom>
              <a:rect b="b" l="l" r="r" t="t"/>
              <a:pathLst>
                <a:path extrusionOk="0" h="351548" w="1909832">
                  <a:moveTo>
                    <a:pt x="0" y="0"/>
                  </a:moveTo>
                  <a:lnTo>
                    <a:pt x="1909832" y="0"/>
                  </a:lnTo>
                  <a:lnTo>
                    <a:pt x="1909832" y="351548"/>
                  </a:lnTo>
                  <a:lnTo>
                    <a:pt x="0" y="351548"/>
                  </a:lnTo>
                  <a:close/>
                </a:path>
              </a:pathLst>
            </a:cu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9"/>
            <p:cNvSpPr txBox="1"/>
            <p:nvPr/>
          </p:nvSpPr>
          <p:spPr>
            <a:xfrm>
              <a:off x="0" y="-38100"/>
              <a:ext cx="1909832" cy="389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4" name="Google Shape;284;p9"/>
          <p:cNvGrpSpPr/>
          <p:nvPr/>
        </p:nvGrpSpPr>
        <p:grpSpPr>
          <a:xfrm>
            <a:off x="0" y="9233552"/>
            <a:ext cx="18288000" cy="1053448"/>
            <a:chOff x="0" y="-38100"/>
            <a:chExt cx="4816593" cy="277451"/>
          </a:xfrm>
        </p:grpSpPr>
        <p:sp>
          <p:nvSpPr>
            <p:cNvPr id="285" name="Google Shape;285;p9"/>
            <p:cNvSpPr/>
            <p:nvPr/>
          </p:nvSpPr>
          <p:spPr>
            <a:xfrm>
              <a:off x="0" y="0"/>
              <a:ext cx="4816592" cy="239351"/>
            </a:xfrm>
            <a:custGeom>
              <a:rect b="b" l="l" r="r" t="t"/>
              <a:pathLst>
                <a:path extrusionOk="0" h="23935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39351"/>
                  </a:lnTo>
                  <a:lnTo>
                    <a:pt x="0" y="23935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9"/>
            <p:cNvSpPr txBox="1"/>
            <p:nvPr/>
          </p:nvSpPr>
          <p:spPr>
            <a:xfrm>
              <a:off x="0" y="-38100"/>
              <a:ext cx="4816593" cy="2774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7" name="Google Shape;287;p9"/>
          <p:cNvSpPr txBox="1"/>
          <p:nvPr/>
        </p:nvSpPr>
        <p:spPr>
          <a:xfrm>
            <a:off x="1028700" y="1637354"/>
            <a:ext cx="10292696" cy="692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 una plataforma que 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permite ejecutar aplicaciones web, back-ends móviles y API RESTful sin preocuparse por administrar la infraestructura 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subyacente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Utilizar App Service es gratuito, pero 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 paga por los recursos subyacentes que se consumen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, como VMs, grupos de escalado, Azure Load Balancer, Azure SQL Database, otros servicios de bases de datos, etc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 puede considerar como un potente servicio de hospedaje web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que se encarga de todo el trabajo pesado.</a:t>
            </a:r>
            <a:endParaRPr/>
          </a:p>
        </p:txBody>
      </p:sp>
      <p:sp>
        <p:nvSpPr>
          <p:cNvPr id="288" name="Google Shape;288;p9"/>
          <p:cNvSpPr/>
          <p:nvPr/>
        </p:nvSpPr>
        <p:spPr>
          <a:xfrm>
            <a:off x="12013939" y="2491298"/>
            <a:ext cx="5245361" cy="5245361"/>
          </a:xfrm>
          <a:custGeom>
            <a:rect b="b" l="l" r="r" t="t"/>
            <a:pathLst>
              <a:path extrusionOk="0" h="5245361" w="5245361">
                <a:moveTo>
                  <a:pt x="0" y="0"/>
                </a:moveTo>
                <a:lnTo>
                  <a:pt x="5245361" y="0"/>
                </a:lnTo>
                <a:lnTo>
                  <a:pt x="5245361" y="5245362"/>
                </a:lnTo>
                <a:lnTo>
                  <a:pt x="0" y="52453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9"/>
          <p:cNvSpPr txBox="1"/>
          <p:nvPr/>
        </p:nvSpPr>
        <p:spPr>
          <a:xfrm>
            <a:off x="2310594" y="280975"/>
            <a:ext cx="132396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999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AZURE App Service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0"/>
          <p:cNvSpPr/>
          <p:nvPr/>
        </p:nvSpPr>
        <p:spPr>
          <a:xfrm flipH="1" rot="10800000">
            <a:off x="-742919" y="1131592"/>
            <a:ext cx="2235888" cy="13082323"/>
          </a:xfrm>
          <a:custGeom>
            <a:rect b="b" l="l" r="r" t="t"/>
            <a:pathLst>
              <a:path extrusionOk="0" h="13082323" w="2235888">
                <a:moveTo>
                  <a:pt x="0" y="13082322"/>
                </a:moveTo>
                <a:lnTo>
                  <a:pt x="2235888" y="13082322"/>
                </a:lnTo>
                <a:lnTo>
                  <a:pt x="2235888" y="0"/>
                </a:lnTo>
                <a:lnTo>
                  <a:pt x="0" y="0"/>
                </a:lnTo>
                <a:lnTo>
                  <a:pt x="0" y="1308232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 flipH="1" rot="5679621">
            <a:off x="13549610" y="-9711175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 txBox="1"/>
          <p:nvPr/>
        </p:nvSpPr>
        <p:spPr>
          <a:xfrm>
            <a:off x="3139299" y="962025"/>
            <a:ext cx="13749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¿Qué gestiona Azure App Services?</a:t>
            </a:r>
            <a:endParaRPr/>
          </a:p>
        </p:txBody>
      </p:sp>
      <p:grpSp>
        <p:nvGrpSpPr>
          <p:cNvPr id="297" name="Google Shape;297;p10"/>
          <p:cNvGrpSpPr/>
          <p:nvPr/>
        </p:nvGrpSpPr>
        <p:grpSpPr>
          <a:xfrm>
            <a:off x="3713451" y="2872199"/>
            <a:ext cx="731003" cy="760368"/>
            <a:chOff x="0" y="0"/>
            <a:chExt cx="974670" cy="1013824"/>
          </a:xfrm>
        </p:grpSpPr>
        <p:sp>
          <p:nvSpPr>
            <p:cNvPr id="298" name="Google Shape;298;p10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10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300" name="Google Shape;300;p10"/>
          <p:cNvGrpSpPr/>
          <p:nvPr/>
        </p:nvGrpSpPr>
        <p:grpSpPr>
          <a:xfrm>
            <a:off x="3713451" y="4340016"/>
            <a:ext cx="731003" cy="760368"/>
            <a:chOff x="0" y="0"/>
            <a:chExt cx="974670" cy="1013824"/>
          </a:xfrm>
        </p:grpSpPr>
        <p:sp>
          <p:nvSpPr>
            <p:cNvPr id="301" name="Google Shape;301;p10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p10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sp>
        <p:nvSpPr>
          <p:cNvPr id="303" name="Google Shape;303;p10"/>
          <p:cNvSpPr txBox="1"/>
          <p:nvPr/>
        </p:nvSpPr>
        <p:spPr>
          <a:xfrm>
            <a:off x="4627438" y="2706579"/>
            <a:ext cx="9947111" cy="1118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25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La configuración de la instancia/el sistema operativo.</a:t>
            </a:r>
            <a:endParaRPr/>
          </a:p>
        </p:txBody>
      </p:sp>
      <p:sp>
        <p:nvSpPr>
          <p:cNvPr id="304" name="Google Shape;304;p10"/>
          <p:cNvSpPr txBox="1"/>
          <p:nvPr/>
        </p:nvSpPr>
        <p:spPr>
          <a:xfrm>
            <a:off x="4627438" y="4422862"/>
            <a:ext cx="9359489" cy="556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25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Aprovisionamiento automático de capacidad</a:t>
            </a:r>
            <a:endParaRPr/>
          </a:p>
        </p:txBody>
      </p:sp>
      <p:grpSp>
        <p:nvGrpSpPr>
          <p:cNvPr id="305" name="Google Shape;305;p10"/>
          <p:cNvGrpSpPr/>
          <p:nvPr/>
        </p:nvGrpSpPr>
        <p:grpSpPr>
          <a:xfrm>
            <a:off x="3713451" y="5681409"/>
            <a:ext cx="731003" cy="760368"/>
            <a:chOff x="0" y="0"/>
            <a:chExt cx="974670" cy="1013824"/>
          </a:xfrm>
        </p:grpSpPr>
        <p:sp>
          <p:nvSpPr>
            <p:cNvPr id="306" name="Google Shape;306;p10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10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sp>
        <p:nvSpPr>
          <p:cNvPr id="308" name="Google Shape;308;p10"/>
          <p:cNvSpPr txBox="1"/>
          <p:nvPr/>
        </p:nvSpPr>
        <p:spPr>
          <a:xfrm>
            <a:off x="4627438" y="5764255"/>
            <a:ext cx="9692819" cy="556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25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Balanceo de carga y auto escalado incorporados</a:t>
            </a:r>
            <a:endParaRPr/>
          </a:p>
        </p:txBody>
      </p:sp>
      <p:grpSp>
        <p:nvGrpSpPr>
          <p:cNvPr id="309" name="Google Shape;309;p10"/>
          <p:cNvGrpSpPr/>
          <p:nvPr/>
        </p:nvGrpSpPr>
        <p:grpSpPr>
          <a:xfrm>
            <a:off x="3713451" y="6898977"/>
            <a:ext cx="731003" cy="760368"/>
            <a:chOff x="0" y="0"/>
            <a:chExt cx="974670" cy="1013824"/>
          </a:xfrm>
        </p:grpSpPr>
        <p:sp>
          <p:nvSpPr>
            <p:cNvPr id="310" name="Google Shape;310;p10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10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sp>
        <p:nvSpPr>
          <p:cNvPr id="312" name="Google Shape;312;p10"/>
          <p:cNvSpPr txBox="1"/>
          <p:nvPr/>
        </p:nvSpPr>
        <p:spPr>
          <a:xfrm>
            <a:off x="4627438" y="6981823"/>
            <a:ext cx="9947111" cy="1118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25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Monitoreo del estado de la aplicación y capacidad de respuesta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" name="Google Shape;317;p11"/>
          <p:cNvGrpSpPr/>
          <p:nvPr/>
        </p:nvGrpSpPr>
        <p:grpSpPr>
          <a:xfrm>
            <a:off x="16776087" y="-539578"/>
            <a:ext cx="2344551" cy="2157882"/>
            <a:chOff x="0" y="-38100"/>
            <a:chExt cx="617495" cy="568331"/>
          </a:xfrm>
        </p:grpSpPr>
        <p:sp>
          <p:nvSpPr>
            <p:cNvPr id="318" name="Google Shape;318;p11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11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0" name="Google Shape;320;p11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321" name="Google Shape;321;p11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11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3" name="Google Shape;323;p11"/>
          <p:cNvGrpSpPr/>
          <p:nvPr/>
        </p:nvGrpSpPr>
        <p:grpSpPr>
          <a:xfrm>
            <a:off x="1028700" y="1475199"/>
            <a:ext cx="731003" cy="760368"/>
            <a:chOff x="0" y="0"/>
            <a:chExt cx="974670" cy="1013824"/>
          </a:xfrm>
        </p:grpSpPr>
        <p:sp>
          <p:nvSpPr>
            <p:cNvPr id="324" name="Google Shape;324;p11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11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326" name="Google Shape;326;p11"/>
          <p:cNvGrpSpPr/>
          <p:nvPr/>
        </p:nvGrpSpPr>
        <p:grpSpPr>
          <a:xfrm>
            <a:off x="1028700" y="2943016"/>
            <a:ext cx="731003" cy="760368"/>
            <a:chOff x="0" y="0"/>
            <a:chExt cx="974670" cy="1013824"/>
          </a:xfrm>
        </p:grpSpPr>
        <p:sp>
          <p:nvSpPr>
            <p:cNvPr id="327" name="Google Shape;327;p11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11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329" name="Google Shape;329;p11"/>
          <p:cNvGrpSpPr/>
          <p:nvPr/>
        </p:nvGrpSpPr>
        <p:grpSpPr>
          <a:xfrm>
            <a:off x="1028700" y="4284409"/>
            <a:ext cx="731003" cy="760368"/>
            <a:chOff x="0" y="0"/>
            <a:chExt cx="974670" cy="1013824"/>
          </a:xfrm>
        </p:grpSpPr>
        <p:sp>
          <p:nvSpPr>
            <p:cNvPr id="330" name="Google Shape;330;p11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11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sp>
        <p:nvSpPr>
          <p:cNvPr id="332" name="Google Shape;332;p11"/>
          <p:cNvSpPr/>
          <p:nvPr/>
        </p:nvSpPr>
        <p:spPr>
          <a:xfrm>
            <a:off x="3042161" y="5276257"/>
            <a:ext cx="10732665" cy="4330230"/>
          </a:xfrm>
          <a:custGeom>
            <a:rect b="b" l="l" r="r" t="t"/>
            <a:pathLst>
              <a:path extrusionOk="0" h="4330230" w="10732665">
                <a:moveTo>
                  <a:pt x="0" y="0"/>
                </a:moveTo>
                <a:lnTo>
                  <a:pt x="10732665" y="0"/>
                </a:lnTo>
                <a:lnTo>
                  <a:pt x="10732665" y="4330230"/>
                </a:lnTo>
                <a:lnTo>
                  <a:pt x="0" y="43302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5318" l="0" r="0" t="-17590"/>
            </a:stretch>
          </a:blipFill>
          <a:ln cap="sq" cmpd="sng" w="38100">
            <a:solidFill>
              <a:srgbClr val="29303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1"/>
          <p:cNvSpPr txBox="1"/>
          <p:nvPr/>
        </p:nvSpPr>
        <p:spPr>
          <a:xfrm>
            <a:off x="0" y="351675"/>
            <a:ext cx="17805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USOS MAS COMUNES DE AZURE APP SERVICE</a:t>
            </a:r>
            <a:endParaRPr/>
          </a:p>
        </p:txBody>
      </p:sp>
      <p:sp>
        <p:nvSpPr>
          <p:cNvPr id="334" name="Google Shape;334;p11"/>
          <p:cNvSpPr txBox="1"/>
          <p:nvPr/>
        </p:nvSpPr>
        <p:spPr>
          <a:xfrm>
            <a:off x="1942688" y="1309579"/>
            <a:ext cx="12931611" cy="1118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25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En </a:t>
            </a:r>
            <a:r>
              <a:rPr b="1" lang="en-US" sz="3425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Web Apps, </a:t>
            </a:r>
            <a:r>
              <a:rPr lang="en-US" sz="3425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 decir webs dinámicas, blogs, webs de comercio electrónico, etc.</a:t>
            </a:r>
            <a:endParaRPr/>
          </a:p>
        </p:txBody>
      </p:sp>
      <p:sp>
        <p:nvSpPr>
          <p:cNvPr id="335" name="Google Shape;335;p11"/>
          <p:cNvSpPr txBox="1"/>
          <p:nvPr/>
        </p:nvSpPr>
        <p:spPr>
          <a:xfrm>
            <a:off x="1942688" y="2744874"/>
            <a:ext cx="13804489" cy="1118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25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En </a:t>
            </a:r>
            <a:r>
              <a:rPr b="1" lang="en-US" sz="3425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Web Apps para contenedores, </a:t>
            </a:r>
            <a:r>
              <a:rPr lang="en-US" sz="3425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principalmente para ejecutar aplicaciones en contenedores de Docker.</a:t>
            </a:r>
            <a:endParaRPr/>
          </a:p>
        </p:txBody>
      </p:sp>
      <p:sp>
        <p:nvSpPr>
          <p:cNvPr id="336" name="Google Shape;336;p11"/>
          <p:cNvSpPr txBox="1"/>
          <p:nvPr/>
        </p:nvSpPr>
        <p:spPr>
          <a:xfrm>
            <a:off x="1942688" y="4367255"/>
            <a:ext cx="13804489" cy="556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25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En </a:t>
            </a:r>
            <a:r>
              <a:rPr b="1" lang="en-US" sz="3425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API Apps,</a:t>
            </a:r>
            <a:r>
              <a:rPr lang="en-US" sz="3425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es decir exponer </a:t>
            </a:r>
            <a:r>
              <a:rPr b="1" lang="en-US" sz="3425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servicios webs </a:t>
            </a:r>
            <a:r>
              <a:rPr lang="en-US" sz="3425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de manera eficiente.</a:t>
            </a:r>
            <a:endParaRPr/>
          </a:p>
        </p:txBody>
      </p:sp>
      <p:sp>
        <p:nvSpPr>
          <p:cNvPr id="337" name="Google Shape;337;p11"/>
          <p:cNvSpPr txBox="1"/>
          <p:nvPr/>
        </p:nvSpPr>
        <p:spPr>
          <a:xfrm>
            <a:off x="6756911" y="9587437"/>
            <a:ext cx="2997119" cy="3109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42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By Nnaemezue Obi-Eyisi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2"/>
          <p:cNvSpPr/>
          <p:nvPr/>
        </p:nvSpPr>
        <p:spPr>
          <a:xfrm flipH="1" rot="5679621">
            <a:off x="7710161" y="1015520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2"/>
          <p:cNvSpPr/>
          <p:nvPr/>
        </p:nvSpPr>
        <p:spPr>
          <a:xfrm flipH="1" rot="5679621">
            <a:off x="7894116" y="119375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8205783" y="1720139"/>
            <a:ext cx="9217760" cy="6975113"/>
          </a:xfrm>
          <a:custGeom>
            <a:rect b="b" l="l" r="r" t="t"/>
            <a:pathLst>
              <a:path extrusionOk="0" h="6975113" w="9217760">
                <a:moveTo>
                  <a:pt x="0" y="0"/>
                </a:moveTo>
                <a:lnTo>
                  <a:pt x="9217760" y="0"/>
                </a:lnTo>
                <a:lnTo>
                  <a:pt x="9217760" y="6975112"/>
                </a:lnTo>
                <a:lnTo>
                  <a:pt x="0" y="69751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28" r="-2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2"/>
          <p:cNvSpPr txBox="1"/>
          <p:nvPr/>
        </p:nvSpPr>
        <p:spPr>
          <a:xfrm>
            <a:off x="3914305" y="439737"/>
            <a:ext cx="10459390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999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Azure Logic Apps</a:t>
            </a:r>
            <a:endParaRPr/>
          </a:p>
        </p:txBody>
      </p:sp>
      <p:sp>
        <p:nvSpPr>
          <p:cNvPr id="346" name="Google Shape;346;p12"/>
          <p:cNvSpPr txBox="1"/>
          <p:nvPr/>
        </p:nvSpPr>
        <p:spPr>
          <a:xfrm>
            <a:off x="838200" y="1953696"/>
            <a:ext cx="6991350" cy="692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 una plataforma en la nube en la que 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 puede crear y ejecutar flujos de trabajo automatizados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dentro, entre y fuera de los ecosistemas de software de una empresa u organización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Azure Logic Apps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incluye herramientas de código bajo y sin código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para que se pueda trabajar con sistemas heredados, modernos y de vanguardia que existen en la nube, en locales o en entornos híbridos.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1" name="Google Shape;351;p13"/>
          <p:cNvGrpSpPr/>
          <p:nvPr/>
        </p:nvGrpSpPr>
        <p:grpSpPr>
          <a:xfrm>
            <a:off x="16776087" y="-539578"/>
            <a:ext cx="2344551" cy="2157882"/>
            <a:chOff x="0" y="-38100"/>
            <a:chExt cx="617495" cy="568331"/>
          </a:xfrm>
        </p:grpSpPr>
        <p:sp>
          <p:nvSpPr>
            <p:cNvPr id="352" name="Google Shape;352;p13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13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4" name="Google Shape;354;p13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355" name="Google Shape;355;p13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356;p13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7" name="Google Shape;357;p13"/>
          <p:cNvGrpSpPr/>
          <p:nvPr/>
        </p:nvGrpSpPr>
        <p:grpSpPr>
          <a:xfrm>
            <a:off x="1028700" y="1894300"/>
            <a:ext cx="731003" cy="760368"/>
            <a:chOff x="0" y="0"/>
            <a:chExt cx="974670" cy="1013824"/>
          </a:xfrm>
        </p:grpSpPr>
        <p:sp>
          <p:nvSpPr>
            <p:cNvPr id="358" name="Google Shape;358;p13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13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360" name="Google Shape;360;p13"/>
          <p:cNvGrpSpPr/>
          <p:nvPr/>
        </p:nvGrpSpPr>
        <p:grpSpPr>
          <a:xfrm>
            <a:off x="1028700" y="4138866"/>
            <a:ext cx="731003" cy="760368"/>
            <a:chOff x="0" y="0"/>
            <a:chExt cx="974670" cy="1013824"/>
          </a:xfrm>
        </p:grpSpPr>
        <p:sp>
          <p:nvSpPr>
            <p:cNvPr id="361" name="Google Shape;361;p13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p13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363" name="Google Shape;363;p13"/>
          <p:cNvGrpSpPr/>
          <p:nvPr/>
        </p:nvGrpSpPr>
        <p:grpSpPr>
          <a:xfrm>
            <a:off x="1028700" y="5785059"/>
            <a:ext cx="731003" cy="760368"/>
            <a:chOff x="0" y="0"/>
            <a:chExt cx="974670" cy="1013824"/>
          </a:xfrm>
        </p:grpSpPr>
        <p:sp>
          <p:nvSpPr>
            <p:cNvPr id="364" name="Google Shape;364;p13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13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sp>
        <p:nvSpPr>
          <p:cNvPr id="366" name="Google Shape;366;p13"/>
          <p:cNvSpPr txBox="1"/>
          <p:nvPr/>
        </p:nvSpPr>
        <p:spPr>
          <a:xfrm>
            <a:off x="1297225" y="593725"/>
            <a:ext cx="161865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EJEMPLOS DE USO DE AZURE LOGIC APPS</a:t>
            </a:r>
            <a:endParaRPr/>
          </a:p>
        </p:txBody>
      </p:sp>
      <p:sp>
        <p:nvSpPr>
          <p:cNvPr id="367" name="Google Shape;367;p13"/>
          <p:cNvSpPr txBox="1"/>
          <p:nvPr/>
        </p:nvSpPr>
        <p:spPr>
          <a:xfrm>
            <a:off x="1942688" y="1738204"/>
            <a:ext cx="14376236" cy="1680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25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Programación y envío de notificaciones por correo electrónico mediante Office 365 cuando se produce un evento específico, por ejemplo, cuando se ha cargado un archivo nuevo.</a:t>
            </a:r>
            <a:endParaRPr/>
          </a:p>
        </p:txBody>
      </p:sp>
      <p:sp>
        <p:nvSpPr>
          <p:cNvPr id="368" name="Google Shape;368;p13"/>
          <p:cNvSpPr txBox="1"/>
          <p:nvPr/>
        </p:nvSpPr>
        <p:spPr>
          <a:xfrm>
            <a:off x="1942688" y="3942606"/>
            <a:ext cx="13804489" cy="1118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25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Procesamiento y enrutamiento de pedidos entre sistemas locales y servicios en la nube.</a:t>
            </a:r>
            <a:endParaRPr/>
          </a:p>
        </p:txBody>
      </p:sp>
      <p:sp>
        <p:nvSpPr>
          <p:cNvPr id="369" name="Google Shape;369;p13"/>
          <p:cNvSpPr txBox="1"/>
          <p:nvPr/>
        </p:nvSpPr>
        <p:spPr>
          <a:xfrm>
            <a:off x="1942688" y="5586916"/>
            <a:ext cx="13804489" cy="1118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25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Traslado de archivos cargados desde un servidor SFTP o FTP a Azure Blob Storage.</a:t>
            </a:r>
            <a:endParaRPr/>
          </a:p>
        </p:txBody>
      </p:sp>
      <p:grpSp>
        <p:nvGrpSpPr>
          <p:cNvPr id="370" name="Google Shape;370;p13"/>
          <p:cNvGrpSpPr/>
          <p:nvPr/>
        </p:nvGrpSpPr>
        <p:grpSpPr>
          <a:xfrm>
            <a:off x="1028700" y="7427486"/>
            <a:ext cx="731003" cy="760368"/>
            <a:chOff x="0" y="0"/>
            <a:chExt cx="974670" cy="1013824"/>
          </a:xfrm>
        </p:grpSpPr>
        <p:sp>
          <p:nvSpPr>
            <p:cNvPr id="371" name="Google Shape;371;p13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13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sp>
        <p:nvSpPr>
          <p:cNvPr id="373" name="Google Shape;373;p13"/>
          <p:cNvSpPr txBox="1"/>
          <p:nvPr/>
        </p:nvSpPr>
        <p:spPr>
          <a:xfrm>
            <a:off x="1942688" y="7229344"/>
            <a:ext cx="13804489" cy="1680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25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Mejorar la supervisión de actividades en los medios sociales, analizar la opinión y crear alertas o tareas para los elementos que necesiten revisión.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4"/>
          <p:cNvSpPr txBox="1"/>
          <p:nvPr/>
        </p:nvSpPr>
        <p:spPr>
          <a:xfrm>
            <a:off x="5700841" y="2861681"/>
            <a:ext cx="7082955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PARTE PRÁTICA I</a:t>
            </a:r>
            <a:endParaRPr/>
          </a:p>
        </p:txBody>
      </p:sp>
      <p:sp>
        <p:nvSpPr>
          <p:cNvPr id="379" name="Google Shape;379;p14"/>
          <p:cNvSpPr txBox="1"/>
          <p:nvPr/>
        </p:nvSpPr>
        <p:spPr>
          <a:xfrm>
            <a:off x="2162609" y="3925306"/>
            <a:ext cx="13962781" cy="2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CONFIGURACIÓN Y USO DE VM + LOAD BALANCER</a:t>
            </a:r>
            <a:endParaRPr/>
          </a:p>
        </p:txBody>
      </p:sp>
      <p:sp>
        <p:nvSpPr>
          <p:cNvPr id="380" name="Google Shape;380;p14"/>
          <p:cNvSpPr/>
          <p:nvPr/>
        </p:nvSpPr>
        <p:spPr>
          <a:xfrm flipH="1" rot="5679621">
            <a:off x="7672969" y="926401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4"/>
          <p:cNvSpPr/>
          <p:nvPr/>
        </p:nvSpPr>
        <p:spPr>
          <a:xfrm flipH="1" rot="5679621">
            <a:off x="7856925" y="110463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2"/>
                </a:moveTo>
                <a:lnTo>
                  <a:pt x="3138697" y="18364722"/>
                </a:lnTo>
                <a:lnTo>
                  <a:pt x="3138697" y="0"/>
                </a:lnTo>
                <a:lnTo>
                  <a:pt x="0" y="0"/>
                </a:lnTo>
                <a:lnTo>
                  <a:pt x="0" y="1836472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5"/>
          <p:cNvSpPr txBox="1"/>
          <p:nvPr/>
        </p:nvSpPr>
        <p:spPr>
          <a:xfrm>
            <a:off x="5700841" y="2861681"/>
            <a:ext cx="7082955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PARTE PRÁTICA II</a:t>
            </a:r>
            <a:endParaRPr/>
          </a:p>
        </p:txBody>
      </p:sp>
      <p:sp>
        <p:nvSpPr>
          <p:cNvPr id="387" name="Google Shape;387;p15"/>
          <p:cNvSpPr txBox="1"/>
          <p:nvPr/>
        </p:nvSpPr>
        <p:spPr>
          <a:xfrm>
            <a:off x="2162609" y="3925306"/>
            <a:ext cx="13962781" cy="2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CONFIGURACIÓN DE BLOB STORAGE + WEB ESTÁTICA</a:t>
            </a:r>
            <a:endParaRPr/>
          </a:p>
        </p:txBody>
      </p:sp>
      <p:sp>
        <p:nvSpPr>
          <p:cNvPr id="388" name="Google Shape;388;p15"/>
          <p:cNvSpPr/>
          <p:nvPr/>
        </p:nvSpPr>
        <p:spPr>
          <a:xfrm flipH="1" rot="5679621">
            <a:off x="7672969" y="926401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5"/>
          <p:cNvSpPr/>
          <p:nvPr/>
        </p:nvSpPr>
        <p:spPr>
          <a:xfrm flipH="1" rot="5679621">
            <a:off x="7856925" y="110463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2"/>
                </a:moveTo>
                <a:lnTo>
                  <a:pt x="3138697" y="18364722"/>
                </a:lnTo>
                <a:lnTo>
                  <a:pt x="3138697" y="0"/>
                </a:lnTo>
                <a:lnTo>
                  <a:pt x="0" y="0"/>
                </a:lnTo>
                <a:lnTo>
                  <a:pt x="0" y="1836472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6"/>
          <p:cNvSpPr txBox="1"/>
          <p:nvPr/>
        </p:nvSpPr>
        <p:spPr>
          <a:xfrm>
            <a:off x="2660577" y="2861675"/>
            <a:ext cx="101232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PARTE PRÁTICA III</a:t>
            </a:r>
            <a:endParaRPr/>
          </a:p>
        </p:txBody>
      </p:sp>
      <p:sp>
        <p:nvSpPr>
          <p:cNvPr id="395" name="Google Shape;395;p16"/>
          <p:cNvSpPr txBox="1"/>
          <p:nvPr/>
        </p:nvSpPr>
        <p:spPr>
          <a:xfrm>
            <a:off x="553600" y="3925300"/>
            <a:ext cx="17425800" cy="24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CONFIGURACIÓN Y USO DE AZURE APP SERVICE</a:t>
            </a:r>
            <a:endParaRPr/>
          </a:p>
        </p:txBody>
      </p:sp>
      <p:sp>
        <p:nvSpPr>
          <p:cNvPr id="396" name="Google Shape;396;p16"/>
          <p:cNvSpPr/>
          <p:nvPr/>
        </p:nvSpPr>
        <p:spPr>
          <a:xfrm flipH="1" rot="5675120">
            <a:off x="7662504" y="930149"/>
            <a:ext cx="3140904" cy="18377629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6"/>
          <p:cNvSpPr/>
          <p:nvPr/>
        </p:nvSpPr>
        <p:spPr>
          <a:xfrm flipH="1" rot="5675120">
            <a:off x="7846460" y="1108387"/>
            <a:ext cx="3140904" cy="18377629"/>
          </a:xfrm>
          <a:custGeom>
            <a:rect b="b" l="l" r="r" t="t"/>
            <a:pathLst>
              <a:path extrusionOk="0" h="18364721" w="3138698">
                <a:moveTo>
                  <a:pt x="0" y="18364722"/>
                </a:moveTo>
                <a:lnTo>
                  <a:pt x="3138697" y="18364722"/>
                </a:lnTo>
                <a:lnTo>
                  <a:pt x="3138697" y="0"/>
                </a:lnTo>
                <a:lnTo>
                  <a:pt x="0" y="0"/>
                </a:lnTo>
                <a:lnTo>
                  <a:pt x="0" y="1836472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7"/>
          <p:cNvSpPr txBox="1"/>
          <p:nvPr/>
        </p:nvSpPr>
        <p:spPr>
          <a:xfrm>
            <a:off x="5700841" y="2861681"/>
            <a:ext cx="7082955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PARTE PRÁTICA IV</a:t>
            </a:r>
            <a:endParaRPr/>
          </a:p>
        </p:txBody>
      </p:sp>
      <p:sp>
        <p:nvSpPr>
          <p:cNvPr id="403" name="Google Shape;403;p17"/>
          <p:cNvSpPr txBox="1"/>
          <p:nvPr/>
        </p:nvSpPr>
        <p:spPr>
          <a:xfrm>
            <a:off x="2162609" y="3925306"/>
            <a:ext cx="13962781" cy="2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CONFIGURACIÓN Y USO DE LOGIC APPS</a:t>
            </a:r>
            <a:endParaRPr/>
          </a:p>
        </p:txBody>
      </p:sp>
      <p:sp>
        <p:nvSpPr>
          <p:cNvPr id="404" name="Google Shape;404;p17"/>
          <p:cNvSpPr/>
          <p:nvPr/>
        </p:nvSpPr>
        <p:spPr>
          <a:xfrm flipH="1" rot="5679621">
            <a:off x="7672969" y="926401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7"/>
          <p:cNvSpPr/>
          <p:nvPr/>
        </p:nvSpPr>
        <p:spPr>
          <a:xfrm flipH="1" rot="5679621">
            <a:off x="7856925" y="110463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2"/>
                </a:moveTo>
                <a:lnTo>
                  <a:pt x="3138697" y="18364722"/>
                </a:lnTo>
                <a:lnTo>
                  <a:pt x="3138697" y="0"/>
                </a:lnTo>
                <a:lnTo>
                  <a:pt x="0" y="0"/>
                </a:lnTo>
                <a:lnTo>
                  <a:pt x="0" y="1836472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8"/>
          <p:cNvSpPr txBox="1"/>
          <p:nvPr/>
        </p:nvSpPr>
        <p:spPr>
          <a:xfrm>
            <a:off x="5542868" y="787722"/>
            <a:ext cx="7454705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VALOR O ACTITUD</a:t>
            </a:r>
            <a:endParaRPr/>
          </a:p>
        </p:txBody>
      </p:sp>
      <p:sp>
        <p:nvSpPr>
          <p:cNvPr id="411" name="Google Shape;411;p18"/>
          <p:cNvSpPr txBox="1"/>
          <p:nvPr/>
        </p:nvSpPr>
        <p:spPr>
          <a:xfrm>
            <a:off x="1032950" y="2397125"/>
            <a:ext cx="16474542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0071C6"/>
                </a:solidFill>
                <a:latin typeface="Arial"/>
                <a:ea typeface="Arial"/>
                <a:cs typeface="Arial"/>
                <a:sym typeface="Arial"/>
              </a:rPr>
              <a:t>Adaptabilidad</a:t>
            </a:r>
            <a:endParaRPr/>
          </a:p>
          <a:p>
            <a:pPr indent="-485775" lvl="1" marL="97155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4500"/>
              <a:buFont typeface="Arial"/>
              <a:buChar char="•"/>
            </a:pPr>
            <a:r>
              <a:rPr b="0" i="0" lang="en-US" sz="4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Aprender a cambiar el enfoque rápidamente según el contexto. </a:t>
            </a:r>
            <a:endParaRPr/>
          </a:p>
          <a:p>
            <a:pPr indent="-485775" lvl="1" marL="97155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4500"/>
              <a:buFont typeface="Arial"/>
              <a:buChar char="•"/>
            </a:pPr>
            <a:r>
              <a:rPr b="0" i="0" lang="en-US" sz="4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Adaptar la comunicación y roles dentro de un grupo para mejorar el rendimiento del mismo.</a:t>
            </a:r>
            <a:endParaRPr/>
          </a:p>
          <a:p>
            <a:pPr indent="-485775" lvl="1" marL="97155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4500"/>
              <a:buFont typeface="Arial"/>
              <a:buChar char="•"/>
            </a:pPr>
            <a:r>
              <a:rPr b="0" i="0" lang="en-US" sz="4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Aprender a moverse entre tecnologías cloud según lo que necesita una empresa.</a:t>
            </a:r>
            <a:endParaRPr/>
          </a:p>
        </p:txBody>
      </p:sp>
      <p:sp>
        <p:nvSpPr>
          <p:cNvPr id="412" name="Google Shape;412;p18"/>
          <p:cNvSpPr/>
          <p:nvPr/>
        </p:nvSpPr>
        <p:spPr>
          <a:xfrm flipH="1" rot="-5252869">
            <a:off x="7166333" y="2041017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3138698" y="0"/>
                </a:moveTo>
                <a:lnTo>
                  <a:pt x="0" y="0"/>
                </a:lnTo>
                <a:lnTo>
                  <a:pt x="0" y="18364721"/>
                </a:lnTo>
                <a:lnTo>
                  <a:pt x="3138698" y="18364721"/>
                </a:lnTo>
                <a:lnTo>
                  <a:pt x="313869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8"/>
          <p:cNvSpPr/>
          <p:nvPr/>
        </p:nvSpPr>
        <p:spPr>
          <a:xfrm flipH="1" rot="-5252869">
            <a:off x="7357019" y="2212036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3138698" y="0"/>
                </a:moveTo>
                <a:lnTo>
                  <a:pt x="0" y="0"/>
                </a:lnTo>
                <a:lnTo>
                  <a:pt x="0" y="18364721"/>
                </a:lnTo>
                <a:lnTo>
                  <a:pt x="3138698" y="18364721"/>
                </a:lnTo>
                <a:lnTo>
                  <a:pt x="3138698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9"/>
          <p:cNvSpPr/>
          <p:nvPr/>
        </p:nvSpPr>
        <p:spPr>
          <a:xfrm rot="5400000">
            <a:off x="1035086" y="1228236"/>
            <a:ext cx="689712" cy="702485"/>
          </a:xfrm>
          <a:custGeom>
            <a:rect b="b" l="l" r="r" t="t"/>
            <a:pathLst>
              <a:path extrusionOk="0" h="702485" w="689712">
                <a:moveTo>
                  <a:pt x="0" y="0"/>
                </a:moveTo>
                <a:lnTo>
                  <a:pt x="689713" y="0"/>
                </a:lnTo>
                <a:lnTo>
                  <a:pt x="689713" y="702485"/>
                </a:lnTo>
                <a:lnTo>
                  <a:pt x="0" y="7024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9"/>
          <p:cNvSpPr/>
          <p:nvPr/>
        </p:nvSpPr>
        <p:spPr>
          <a:xfrm flipH="1" rot="5679621">
            <a:off x="7672969" y="926401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9"/>
          <p:cNvSpPr/>
          <p:nvPr/>
        </p:nvSpPr>
        <p:spPr>
          <a:xfrm flipH="1" rot="5679621">
            <a:off x="7856925" y="110463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2"/>
                </a:moveTo>
                <a:lnTo>
                  <a:pt x="3138697" y="18364722"/>
                </a:lnTo>
                <a:lnTo>
                  <a:pt x="3138697" y="0"/>
                </a:lnTo>
                <a:lnTo>
                  <a:pt x="0" y="0"/>
                </a:lnTo>
                <a:lnTo>
                  <a:pt x="0" y="18364722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9"/>
          <p:cNvSpPr txBox="1"/>
          <p:nvPr/>
        </p:nvSpPr>
        <p:spPr>
          <a:xfrm>
            <a:off x="3865129" y="1230119"/>
            <a:ext cx="10557741" cy="755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361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CONCEPTOS CLAVES APRENDIDOS</a:t>
            </a:r>
            <a:endParaRPr/>
          </a:p>
        </p:txBody>
      </p:sp>
      <p:sp>
        <p:nvSpPr>
          <p:cNvPr id="422" name="Google Shape;422;p19"/>
          <p:cNvSpPr txBox="1"/>
          <p:nvPr/>
        </p:nvSpPr>
        <p:spPr>
          <a:xfrm>
            <a:off x="3865129" y="2672534"/>
            <a:ext cx="4523184" cy="565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Azure Virtual Machines</a:t>
            </a:r>
            <a:endParaRPr/>
          </a:p>
        </p:txBody>
      </p:sp>
      <p:grpSp>
        <p:nvGrpSpPr>
          <p:cNvPr id="423" name="Google Shape;423;p19"/>
          <p:cNvGrpSpPr/>
          <p:nvPr/>
        </p:nvGrpSpPr>
        <p:grpSpPr>
          <a:xfrm>
            <a:off x="2905062" y="2593975"/>
            <a:ext cx="731003" cy="760368"/>
            <a:chOff x="0" y="0"/>
            <a:chExt cx="974670" cy="1013824"/>
          </a:xfrm>
        </p:grpSpPr>
        <p:sp>
          <p:nvSpPr>
            <p:cNvPr id="424" name="Google Shape;424;p19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19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 u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426" name="Google Shape;426;p19"/>
          <p:cNvGrpSpPr/>
          <p:nvPr/>
        </p:nvGrpSpPr>
        <p:grpSpPr>
          <a:xfrm>
            <a:off x="2905062" y="3661478"/>
            <a:ext cx="731003" cy="760368"/>
            <a:chOff x="0" y="0"/>
            <a:chExt cx="974670" cy="1013824"/>
          </a:xfrm>
        </p:grpSpPr>
        <p:sp>
          <p:nvSpPr>
            <p:cNvPr id="427" name="Google Shape;427;p19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19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429" name="Google Shape;429;p19"/>
          <p:cNvGrpSpPr/>
          <p:nvPr/>
        </p:nvGrpSpPr>
        <p:grpSpPr>
          <a:xfrm>
            <a:off x="2905062" y="4825036"/>
            <a:ext cx="731003" cy="760368"/>
            <a:chOff x="0" y="0"/>
            <a:chExt cx="974670" cy="1013824"/>
          </a:xfrm>
        </p:grpSpPr>
        <p:sp>
          <p:nvSpPr>
            <p:cNvPr id="430" name="Google Shape;430;p19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p19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grpSp>
        <p:nvGrpSpPr>
          <p:cNvPr id="432" name="Google Shape;432;p19"/>
          <p:cNvGrpSpPr/>
          <p:nvPr/>
        </p:nvGrpSpPr>
        <p:grpSpPr>
          <a:xfrm>
            <a:off x="2905062" y="5988595"/>
            <a:ext cx="731003" cy="760368"/>
            <a:chOff x="0" y="0"/>
            <a:chExt cx="974670" cy="1013824"/>
          </a:xfrm>
        </p:grpSpPr>
        <p:sp>
          <p:nvSpPr>
            <p:cNvPr id="433" name="Google Shape;433;p19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p19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sp>
        <p:nvSpPr>
          <p:cNvPr id="435" name="Google Shape;435;p19"/>
          <p:cNvSpPr txBox="1"/>
          <p:nvPr/>
        </p:nvSpPr>
        <p:spPr>
          <a:xfrm>
            <a:off x="3865129" y="3743996"/>
            <a:ext cx="5671542" cy="565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Cuentas de Almacenamiento</a:t>
            </a:r>
            <a:endParaRPr/>
          </a:p>
        </p:txBody>
      </p:sp>
      <p:sp>
        <p:nvSpPr>
          <p:cNvPr id="436" name="Google Shape;436;p19"/>
          <p:cNvSpPr txBox="1"/>
          <p:nvPr/>
        </p:nvSpPr>
        <p:spPr>
          <a:xfrm>
            <a:off x="3865129" y="4841875"/>
            <a:ext cx="4378672" cy="565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Contenedores de Blob</a:t>
            </a:r>
            <a:endParaRPr/>
          </a:p>
        </p:txBody>
      </p:sp>
      <p:sp>
        <p:nvSpPr>
          <p:cNvPr id="437" name="Google Shape;437;p19"/>
          <p:cNvSpPr txBox="1"/>
          <p:nvPr/>
        </p:nvSpPr>
        <p:spPr>
          <a:xfrm>
            <a:off x="3865129" y="6067154"/>
            <a:ext cx="5377189" cy="565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Azure App Service</a:t>
            </a:r>
            <a:endParaRPr/>
          </a:p>
        </p:txBody>
      </p:sp>
      <p:grpSp>
        <p:nvGrpSpPr>
          <p:cNvPr id="438" name="Google Shape;438;p19"/>
          <p:cNvGrpSpPr/>
          <p:nvPr/>
        </p:nvGrpSpPr>
        <p:grpSpPr>
          <a:xfrm>
            <a:off x="2905062" y="7177588"/>
            <a:ext cx="731003" cy="760368"/>
            <a:chOff x="0" y="0"/>
            <a:chExt cx="974670" cy="1013824"/>
          </a:xfrm>
        </p:grpSpPr>
        <p:sp>
          <p:nvSpPr>
            <p:cNvPr id="439" name="Google Shape;439;p19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" name="Google Shape;440;p19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/>
            </a:p>
          </p:txBody>
        </p:sp>
      </p:grpSp>
      <p:sp>
        <p:nvSpPr>
          <p:cNvPr id="441" name="Google Shape;441;p19"/>
          <p:cNvSpPr txBox="1"/>
          <p:nvPr/>
        </p:nvSpPr>
        <p:spPr>
          <a:xfrm>
            <a:off x="3865129" y="7256147"/>
            <a:ext cx="5377189" cy="565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Azure Logic Apps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0"/>
          <p:cNvSpPr/>
          <p:nvPr/>
        </p:nvSpPr>
        <p:spPr>
          <a:xfrm>
            <a:off x="-242146" y="-201788"/>
            <a:ext cx="7408840" cy="10690576"/>
          </a:xfrm>
          <a:prstGeom prst="rect">
            <a:avLst/>
          </a:prstGeom>
          <a:solidFill>
            <a:srgbClr val="0071C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0"/>
          <p:cNvSpPr/>
          <p:nvPr/>
        </p:nvSpPr>
        <p:spPr>
          <a:xfrm rot="5400000">
            <a:off x="1035086" y="8288411"/>
            <a:ext cx="689712" cy="702485"/>
          </a:xfrm>
          <a:custGeom>
            <a:rect b="b" l="l" r="r" t="t"/>
            <a:pathLst>
              <a:path extrusionOk="0" h="702485" w="689712">
                <a:moveTo>
                  <a:pt x="0" y="0"/>
                </a:moveTo>
                <a:lnTo>
                  <a:pt x="689713" y="0"/>
                </a:lnTo>
                <a:lnTo>
                  <a:pt x="689713" y="702485"/>
                </a:lnTo>
                <a:lnTo>
                  <a:pt x="0" y="7024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0"/>
          <p:cNvSpPr txBox="1"/>
          <p:nvPr/>
        </p:nvSpPr>
        <p:spPr>
          <a:xfrm>
            <a:off x="935917" y="1369165"/>
            <a:ext cx="5294859" cy="941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24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REFERENCIAS</a:t>
            </a:r>
            <a:endParaRPr/>
          </a:p>
        </p:txBody>
      </p:sp>
      <p:sp>
        <p:nvSpPr>
          <p:cNvPr id="449" name="Google Shape;449;p20"/>
          <p:cNvSpPr/>
          <p:nvPr/>
        </p:nvSpPr>
        <p:spPr>
          <a:xfrm>
            <a:off x="935917" y="2310552"/>
            <a:ext cx="3863467" cy="285524"/>
          </a:xfrm>
          <a:custGeom>
            <a:rect b="b" l="l" r="r" t="t"/>
            <a:pathLst>
              <a:path extrusionOk="0" h="285524" w="3863467">
                <a:moveTo>
                  <a:pt x="0" y="0"/>
                </a:moveTo>
                <a:lnTo>
                  <a:pt x="3863468" y="0"/>
                </a:lnTo>
                <a:lnTo>
                  <a:pt x="3863468" y="285524"/>
                </a:lnTo>
                <a:lnTo>
                  <a:pt x="0" y="2855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042592" l="-171" r="-7088" t="-30857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0"/>
          <p:cNvSpPr txBox="1"/>
          <p:nvPr/>
        </p:nvSpPr>
        <p:spPr>
          <a:xfrm>
            <a:off x="7744891" y="777875"/>
            <a:ext cx="9514409" cy="6850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982" lvl="1" marL="609967" marR="0" rtl="0" algn="l">
              <a:lnSpc>
                <a:spcPct val="129982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825"/>
              <a:buFont typeface="Arial"/>
              <a:buChar char="•"/>
            </a:pPr>
            <a:r>
              <a:rPr b="1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Microsoft. (n.d.). What is Azure Virtual Machines?. Microsoft Learn.</a:t>
            </a:r>
            <a:r>
              <a:rPr b="0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https://learn.microsoft.com/en-us/azure/virtual-machines/overview</a:t>
            </a:r>
            <a:endParaRPr/>
          </a:p>
          <a:p>
            <a:pPr indent="-304982" lvl="1" marL="609967" marR="0" rtl="0" algn="l">
              <a:lnSpc>
                <a:spcPct val="129982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825"/>
              <a:buFont typeface="Arial"/>
              <a:buChar char="•"/>
            </a:pPr>
            <a:r>
              <a:rPr b="1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Microsoft. (n.d.). What is Azure Load Balancer?. Microsoft Learn</a:t>
            </a:r>
            <a:r>
              <a:rPr b="0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. https://learn.microsoft.com/en-us/azure/load-balancer/load-balancer-overview</a:t>
            </a:r>
            <a:endParaRPr/>
          </a:p>
          <a:p>
            <a:pPr indent="-304982" lvl="1" marL="609967" marR="0" rtl="0" algn="l">
              <a:lnSpc>
                <a:spcPct val="129982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825"/>
              <a:buFont typeface="Arial"/>
              <a:buChar char="•"/>
            </a:pPr>
            <a:r>
              <a:rPr b="1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Microsoft. (n.d.). Introduction to Azure Storage. Microsoft Learn. </a:t>
            </a:r>
            <a:r>
              <a:rPr b="0" i="0" lang="en-US" sz="2825" u="sng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https://learn.microsoft.com/en-us/azure/storage/common/storage-introduction</a:t>
            </a:r>
            <a:endParaRPr/>
          </a:p>
          <a:p>
            <a:pPr indent="-304982" lvl="1" marL="609967" marR="0" rtl="0" algn="l">
              <a:lnSpc>
                <a:spcPct val="129982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825"/>
              <a:buFont typeface="Arial"/>
              <a:buChar char="•"/>
            </a:pPr>
            <a:r>
              <a:rPr b="1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Microsoft. (n.d.). What is Azure App Service?. Microsoft Learn. </a:t>
            </a:r>
            <a:r>
              <a:rPr b="0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https://learn.microsoft.com/en-us/azure/app-service/overview</a:t>
            </a:r>
            <a:endParaRPr/>
          </a:p>
          <a:p>
            <a:pPr indent="-304982" lvl="1" marL="609967" marR="0" rtl="0" algn="l">
              <a:lnSpc>
                <a:spcPct val="129982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825"/>
              <a:buFont typeface="Arial"/>
              <a:buChar char="•"/>
            </a:pPr>
            <a:r>
              <a:rPr b="1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Ecfan. (s. f.). Información general - Azure Logic Apps. Microsoft Learn. </a:t>
            </a:r>
            <a:r>
              <a:rPr b="0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https://learn.microsoft.com/es-es/azure/logic-apps/logic-apps-overview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1"/>
          <p:cNvSpPr txBox="1"/>
          <p:nvPr/>
        </p:nvSpPr>
        <p:spPr>
          <a:xfrm>
            <a:off x="3207779" y="4022725"/>
            <a:ext cx="11872442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¡GRACIAS POR SU ATENCIÓN!</a:t>
            </a:r>
            <a:endParaRPr/>
          </a:p>
        </p:txBody>
      </p:sp>
      <p:sp>
        <p:nvSpPr>
          <p:cNvPr id="456" name="Google Shape;456;p21"/>
          <p:cNvSpPr/>
          <p:nvPr/>
        </p:nvSpPr>
        <p:spPr>
          <a:xfrm flipH="1" rot="5679621">
            <a:off x="7672969" y="926401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1"/>
          <p:cNvSpPr/>
          <p:nvPr/>
        </p:nvSpPr>
        <p:spPr>
          <a:xfrm flipH="1" rot="5679621">
            <a:off x="7856925" y="110463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2"/>
                </a:moveTo>
                <a:lnTo>
                  <a:pt x="3138697" y="18364722"/>
                </a:lnTo>
                <a:lnTo>
                  <a:pt x="3138697" y="0"/>
                </a:lnTo>
                <a:lnTo>
                  <a:pt x="0" y="0"/>
                </a:lnTo>
                <a:lnTo>
                  <a:pt x="0" y="1836472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1"/>
          <p:cNvSpPr txBox="1"/>
          <p:nvPr/>
        </p:nvSpPr>
        <p:spPr>
          <a:xfrm>
            <a:off x="7187785" y="5086350"/>
            <a:ext cx="3912430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¿DUDAS?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Emerson</dc:creator>
</cp:coreProperties>
</file>