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10287000" cx="18288000"/>
  <p:notesSz cx="6858000" cy="9144000"/>
  <p:embeddedFontLst>
    <p:embeddedFont>
      <p:font typeface="Hammersmith One"/>
      <p:regular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g/Tv+qfPWKK3w5aMsmHHRQ101J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7736F4-2DA1-4D90-AB9C-1827A7645885}">
  <a:tblStyle styleId="{137736F4-2DA1-4D90-AB9C-1827A764588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ammersmithOne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1a7b7088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a1a7b708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7" name="Google Shape;48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6" name="Google Shape;49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3" name="Google Shape;53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1" name="Google Shape;54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8" name="Google Shape;55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7" name="Google Shape;56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4" name="Google Shape;60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2" name="Google Shape;62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4" name="Google Shape;63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2" name="Google Shape;64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0" name="Google Shape;65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8" name="Google Shape;65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6" name="Google Shape;66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0" name="Google Shape;69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9" name="Google Shape;69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85a944b514_0_8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3" name="Google Shape;13;g385a944b514_0_85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4" name="Google Shape;14;g385a944b514_0_8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hyperlink" Target="https://aws.amazon.com/rekognition/" TargetMode="External"/><Relationship Id="rId6" Type="http://schemas.openxmlformats.org/officeDocument/2006/relationships/hyperlink" Target="https://aws.amazon.com/rekognition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1a7b70889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g3a1a7b70889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{137736F4-2DA1-4D90-AB9C-1827A7645885}</a:tableStyleId>
              </a:tblPr>
              <a:tblGrid>
                <a:gridCol w="3036400"/>
                <a:gridCol w="4344750"/>
              </a:tblGrid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Martes, 22/07/2025</a:t>
                      </a:r>
                      <a:endParaRPr/>
                    </a:p>
                  </a:txBody>
                  <a:tcPr marT="182850" marB="182850" marR="182850" marL="182850"/>
                </a:tc>
              </a:tr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19:00</a:t>
                      </a:r>
                      <a:endParaRPr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0" name="Google Shape;90;g3a1a7b70889_0_0"/>
          <p:cNvSpPr txBox="1"/>
          <p:nvPr/>
        </p:nvSpPr>
        <p:spPr>
          <a:xfrm>
            <a:off x="2880350" y="4516600"/>
            <a:ext cx="1358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Seminario de Sistemas 1 []</a:t>
            </a:r>
            <a:endParaRPr/>
          </a:p>
        </p:txBody>
      </p:sp>
      <p:sp>
        <p:nvSpPr>
          <p:cNvPr id="91" name="Google Shape;91;g3a1a7b70889_0_0"/>
          <p:cNvSpPr txBox="1"/>
          <p:nvPr/>
        </p:nvSpPr>
        <p:spPr>
          <a:xfrm>
            <a:off x="2880350" y="5816015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Tutor.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7" name="Google Shape;97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 txBox="1"/>
          <p:nvPr/>
        </p:nvSpPr>
        <p:spPr>
          <a:xfrm>
            <a:off x="1669741" y="2766935"/>
            <a:ext cx="151326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“Inteligencia Artificial en Cloud Computing” - 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t/>
            </a:r>
            <a:endParaRPr b="0" i="0" sz="189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507314" y="7380141"/>
            <a:ext cx="618687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3" name="Google Shape;103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441" l="-169" r="-7085" t="-308517"/>
            </a:stretch>
          </a:blipFill>
          <a:ln>
            <a:noFill/>
          </a:ln>
        </p:spPr>
      </p:sp>
      <p:grpSp>
        <p:nvGrpSpPr>
          <p:cNvPr id="112" name="Google Shape;112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1421964" y="7243740"/>
            <a:ext cx="731003" cy="760368"/>
            <a:chOff x="0" y="0"/>
            <a:chExt cx="974670" cy="1013824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8" name="Google Shape;118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"/>
          <p:cNvSpPr txBox="1"/>
          <p:nvPr/>
        </p:nvSpPr>
        <p:spPr>
          <a:xfrm>
            <a:off x="7337351" y="274500"/>
            <a:ext cx="3996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2335952" y="5622246"/>
            <a:ext cx="6052977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Rekognition: Análisis de imágenes.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2335952" y="7045598"/>
            <a:ext cx="640786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Lex: Creación de chatbots.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2"/>
          <p:cNvGrpSpPr/>
          <p:nvPr/>
        </p:nvGrpSpPr>
        <p:grpSpPr>
          <a:xfrm>
            <a:off x="1421964" y="8733768"/>
            <a:ext cx="731003" cy="760368"/>
            <a:chOff x="0" y="0"/>
            <a:chExt cx="974670" cy="1013824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9410394" y="5820388"/>
            <a:ext cx="731003" cy="760368"/>
            <a:chOff x="0" y="0"/>
            <a:chExt cx="974670" cy="1013824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2"/>
          <p:cNvSpPr txBox="1"/>
          <p:nvPr/>
        </p:nvSpPr>
        <p:spPr>
          <a:xfrm>
            <a:off x="2335952" y="8535625"/>
            <a:ext cx="6052977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Polly: Conversión de texto a voz.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10435506" y="5341258"/>
            <a:ext cx="5963369" cy="168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Translate y Cognito: Traducción automática y autenticación.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3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39" name="Google Shape;139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40" name="Google Shape;140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42" name="Google Shape;142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43" name="Google Shape;143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3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145" name="Google Shape;145;p3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46" name="Google Shape;146;p3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148" name="Google Shape;148;p3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49" name="Google Shape;149;p3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3"/>
          <p:cNvSpPr/>
          <p:nvPr/>
        </p:nvSpPr>
        <p:spPr>
          <a:xfrm>
            <a:off x="11021535" y="2251729"/>
            <a:ext cx="6237765" cy="6356958"/>
          </a:xfrm>
          <a:custGeom>
            <a:rect b="b" l="l" r="r" t="t"/>
            <a:pathLst>
              <a:path extrusionOk="0" h="6356958" w="6237765">
                <a:moveTo>
                  <a:pt x="0" y="0"/>
                </a:moveTo>
                <a:lnTo>
                  <a:pt x="6237765" y="0"/>
                </a:lnTo>
                <a:lnTo>
                  <a:pt x="6237765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3"/>
          <p:cNvSpPr txBox="1"/>
          <p:nvPr/>
        </p:nvSpPr>
        <p:spPr>
          <a:xfrm>
            <a:off x="2630225" y="667400"/>
            <a:ext cx="1407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Inteligencia Artificial?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1732118" y="3687133"/>
            <a:ext cx="8432979" cy="345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la inteligencia llevada a cabo por máquinas, en ciencias de la computación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una máquina «inteligente» ideal es un agente flexible que percibe su entorno y lleva a cabo acciones que maximicen sus posibilidades de éxito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 algún objetivo o tarea.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4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158" name="Google Shape;158;p4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59" name="Google Shape;159;p4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4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161" name="Google Shape;161;p4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62" name="Google Shape;162;p4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4"/>
          <p:cNvSpPr txBox="1"/>
          <p:nvPr/>
        </p:nvSpPr>
        <p:spPr>
          <a:xfrm>
            <a:off x="4989500" y="265125"/>
            <a:ext cx="863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LA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p4"/>
          <p:cNvGrpSpPr/>
          <p:nvPr/>
        </p:nvGrpSpPr>
        <p:grpSpPr>
          <a:xfrm>
            <a:off x="1028700" y="1560513"/>
            <a:ext cx="731003" cy="760368"/>
            <a:chOff x="0" y="0"/>
            <a:chExt cx="974670" cy="1013824"/>
          </a:xfrm>
        </p:grpSpPr>
        <p:sp>
          <p:nvSpPr>
            <p:cNvPr id="165" name="Google Shape;165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4"/>
          <p:cNvSpPr txBox="1"/>
          <p:nvPr/>
        </p:nvSpPr>
        <p:spPr>
          <a:xfrm>
            <a:off x="1932633" y="1531938"/>
            <a:ext cx="14678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IAs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pueden realizar tareas repetitivas y monótonas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de manera eficiente y sin errores, liberando a los humanos para realizar tareas más creativas y estratégicas.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4"/>
          <p:cNvGrpSpPr/>
          <p:nvPr/>
        </p:nvGrpSpPr>
        <p:grpSpPr>
          <a:xfrm>
            <a:off x="1028700" y="3671072"/>
            <a:ext cx="731003" cy="760368"/>
            <a:chOff x="0" y="0"/>
            <a:chExt cx="974670" cy="1013824"/>
          </a:xfrm>
        </p:grpSpPr>
        <p:sp>
          <p:nvSpPr>
            <p:cNvPr id="169" name="Google Shape;169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" name="Google Shape;171;p4"/>
          <p:cNvSpPr txBox="1"/>
          <p:nvPr/>
        </p:nvSpPr>
        <p:spPr>
          <a:xfrm>
            <a:off x="1932633" y="3298781"/>
            <a:ext cx="15043904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 muchos sectores, la IA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puede mejorar la eficiencia operativa al analizar grandes cantidades de datos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identificar patrones y tomar decisiones rápidas y precisas.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4"/>
          <p:cNvGrpSpPr/>
          <p:nvPr/>
        </p:nvGrpSpPr>
        <p:grpSpPr>
          <a:xfrm>
            <a:off x="1028700" y="5394281"/>
            <a:ext cx="731003" cy="760368"/>
            <a:chOff x="0" y="0"/>
            <a:chExt cx="974670" cy="1013824"/>
          </a:xfrm>
        </p:grpSpPr>
        <p:sp>
          <p:nvSpPr>
            <p:cNvPr id="173" name="Google Shape;173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4"/>
          <p:cNvSpPr txBox="1"/>
          <p:nvPr/>
        </p:nvSpPr>
        <p:spPr>
          <a:xfrm>
            <a:off x="1932633" y="5365706"/>
            <a:ext cx="15043904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sistemas de IA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pueden proporcionar análisis y recomendaciones basadas en datos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ayudando a los tomadores de decisiones a evaluar diferentes escenarios y tomar decisiones más informadas.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4"/>
          <p:cNvGrpSpPr/>
          <p:nvPr/>
        </p:nvGrpSpPr>
        <p:grpSpPr>
          <a:xfrm>
            <a:off x="1028700" y="7156406"/>
            <a:ext cx="731003" cy="760368"/>
            <a:chOff x="0" y="0"/>
            <a:chExt cx="974670" cy="1013824"/>
          </a:xfrm>
        </p:grpSpPr>
        <p:sp>
          <p:nvSpPr>
            <p:cNvPr id="177" name="Google Shape;177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" name="Google Shape;179;p4"/>
          <p:cNvSpPr txBox="1"/>
          <p:nvPr/>
        </p:nvSpPr>
        <p:spPr>
          <a:xfrm>
            <a:off x="1932633" y="7127831"/>
            <a:ext cx="15043904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IA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impulsa la innovación al facilitar el desarrollo de tecnologías emergentes como vehículos autónomos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robótica avanzada, realidad aumentada y virtual, entre otros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5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85" name="Google Shape;185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86" name="Google Shape;186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5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88" name="Google Shape;188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89" name="Google Shape;189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5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91" name="Google Shape;191;p5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92" name="Google Shape;192;p5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5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94" name="Google Shape;194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95" name="Google Shape;195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5"/>
          <p:cNvSpPr/>
          <p:nvPr/>
        </p:nvSpPr>
        <p:spPr>
          <a:xfrm>
            <a:off x="3493371" y="1965021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6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02" name="Google Shape;202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03" name="Google Shape;203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6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05" name="Google Shape;205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06" name="Google Shape;206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08" name="Google Shape;208;p6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09" name="Google Shape;209;p6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6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11" name="Google Shape;211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12" name="Google Shape;212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6"/>
          <p:cNvSpPr/>
          <p:nvPr/>
        </p:nvSpPr>
        <p:spPr>
          <a:xfrm>
            <a:off x="11554826" y="3727689"/>
            <a:ext cx="4402439" cy="4402439"/>
          </a:xfrm>
          <a:custGeom>
            <a:rect b="b" l="l" r="r" t="t"/>
            <a:pathLst>
              <a:path extrusionOk="0" h="4402439" w="4402439">
                <a:moveTo>
                  <a:pt x="0" y="0"/>
                </a:moveTo>
                <a:lnTo>
                  <a:pt x="4402439" y="0"/>
                </a:lnTo>
                <a:lnTo>
                  <a:pt x="4402439" y="4402439"/>
                </a:lnTo>
                <a:lnTo>
                  <a:pt x="0" y="4402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6"/>
          <p:cNvSpPr txBox="1"/>
          <p:nvPr/>
        </p:nvSpPr>
        <p:spPr>
          <a:xfrm>
            <a:off x="2341650" y="729500"/>
            <a:ext cx="13874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Rekognition?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1910454" y="1990284"/>
            <a:ext cx="8778300" cy="7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Facilita el análisis de imagen y video a sus aplicaciones con tecnologías probadas, altamente escalable y de aprendizaje profundo.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 identificar objetos, personas, texto, escenas y actividades en imágenes y videos, además de detectar cualquier contenido inapropiado.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También proporciona análisis facial de alta precisión y capacidades de búsqueda facial que puede usar para detectar, analizar y comparar rostros.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7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221" name="Google Shape;221;p7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22" name="Google Shape;222;p7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7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224" name="Google Shape;224;p7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25" name="Google Shape;225;p7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" name="Google Shape;226;p7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227" name="Google Shape;227;p7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28" name="Google Shape;228;p7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7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230" name="Google Shape;230;p7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31" name="Google Shape;231;p7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7"/>
          <p:cNvSpPr txBox="1"/>
          <p:nvPr/>
        </p:nvSpPr>
        <p:spPr>
          <a:xfrm>
            <a:off x="1185775" y="484525"/>
            <a:ext cx="16955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se puede hacer con Rekognition?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7"/>
          <p:cNvGrpSpPr/>
          <p:nvPr/>
        </p:nvGrpSpPr>
        <p:grpSpPr>
          <a:xfrm>
            <a:off x="5549844" y="1929154"/>
            <a:ext cx="731003" cy="760368"/>
            <a:chOff x="0" y="0"/>
            <a:chExt cx="974670" cy="1013824"/>
          </a:xfrm>
        </p:grpSpPr>
        <p:sp>
          <p:nvSpPr>
            <p:cNvPr id="234" name="Google Shape;234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7"/>
          <p:cNvGrpSpPr/>
          <p:nvPr/>
        </p:nvGrpSpPr>
        <p:grpSpPr>
          <a:xfrm>
            <a:off x="5549844" y="3060997"/>
            <a:ext cx="731003" cy="760368"/>
            <a:chOff x="0" y="0"/>
            <a:chExt cx="974670" cy="1013824"/>
          </a:xfrm>
        </p:grpSpPr>
        <p:sp>
          <p:nvSpPr>
            <p:cNvPr id="237" name="Google Shape;237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5549844" y="4222949"/>
            <a:ext cx="731003" cy="760368"/>
            <a:chOff x="0" y="0"/>
            <a:chExt cx="974670" cy="1013824"/>
          </a:xfrm>
        </p:grpSpPr>
        <p:sp>
          <p:nvSpPr>
            <p:cNvPr id="240" name="Google Shape;240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7"/>
          <p:cNvSpPr txBox="1"/>
          <p:nvPr/>
        </p:nvSpPr>
        <p:spPr>
          <a:xfrm>
            <a:off x="6473580" y="2052163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Detección Facial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6473580" y="3184006"/>
            <a:ext cx="73089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Reconocimiento de objetos y escenas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6473580" y="4345958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Análisis de emociones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7"/>
          <p:cNvGrpSpPr/>
          <p:nvPr/>
        </p:nvGrpSpPr>
        <p:grpSpPr>
          <a:xfrm>
            <a:off x="5549844" y="5303014"/>
            <a:ext cx="731003" cy="760368"/>
            <a:chOff x="0" y="0"/>
            <a:chExt cx="974670" cy="1013824"/>
          </a:xfrm>
        </p:grpSpPr>
        <p:sp>
          <p:nvSpPr>
            <p:cNvPr id="246" name="Google Shape;246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" name="Google Shape;248;p7"/>
          <p:cNvGrpSpPr/>
          <p:nvPr/>
        </p:nvGrpSpPr>
        <p:grpSpPr>
          <a:xfrm>
            <a:off x="5549844" y="6434857"/>
            <a:ext cx="731003" cy="760368"/>
            <a:chOff x="0" y="0"/>
            <a:chExt cx="974670" cy="1013824"/>
          </a:xfrm>
        </p:grpSpPr>
        <p:sp>
          <p:nvSpPr>
            <p:cNvPr id="249" name="Google Shape;249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7"/>
          <p:cNvSpPr txBox="1"/>
          <p:nvPr/>
        </p:nvSpPr>
        <p:spPr>
          <a:xfrm>
            <a:off x="6473580" y="5426023"/>
            <a:ext cx="494359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Reconocimiento de 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6473580" y="6559498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Comparación facial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p7"/>
          <p:cNvGrpSpPr/>
          <p:nvPr/>
        </p:nvGrpSpPr>
        <p:grpSpPr>
          <a:xfrm>
            <a:off x="5549844" y="7597478"/>
            <a:ext cx="731003" cy="760368"/>
            <a:chOff x="0" y="0"/>
            <a:chExt cx="974670" cy="1013824"/>
          </a:xfrm>
        </p:grpSpPr>
        <p:sp>
          <p:nvSpPr>
            <p:cNvPr id="254" name="Google Shape;254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7"/>
          <p:cNvSpPr txBox="1"/>
          <p:nvPr/>
        </p:nvSpPr>
        <p:spPr>
          <a:xfrm>
            <a:off x="6473580" y="7721548"/>
            <a:ext cx="700802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Seguimiento de objetos y personas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8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3" name="Google Shape;263;p8"/>
          <p:cNvGrpSpPr/>
          <p:nvPr/>
        </p:nvGrpSpPr>
        <p:grpSpPr>
          <a:xfrm>
            <a:off x="1517594" y="1929154"/>
            <a:ext cx="731003" cy="760368"/>
            <a:chOff x="0" y="0"/>
            <a:chExt cx="974670" cy="1013824"/>
          </a:xfrm>
        </p:grpSpPr>
        <p:sp>
          <p:nvSpPr>
            <p:cNvPr id="264" name="Google Shape;264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" name="Google Shape;266;p8"/>
          <p:cNvGrpSpPr/>
          <p:nvPr/>
        </p:nvGrpSpPr>
        <p:grpSpPr>
          <a:xfrm>
            <a:off x="1517594" y="3060997"/>
            <a:ext cx="731003" cy="760368"/>
            <a:chOff x="0" y="0"/>
            <a:chExt cx="974670" cy="1013824"/>
          </a:xfrm>
        </p:grpSpPr>
        <p:sp>
          <p:nvSpPr>
            <p:cNvPr id="267" name="Google Shape;267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1517594" y="4222949"/>
            <a:ext cx="731003" cy="760368"/>
            <a:chOff x="0" y="0"/>
            <a:chExt cx="974670" cy="1013824"/>
          </a:xfrm>
        </p:grpSpPr>
        <p:sp>
          <p:nvSpPr>
            <p:cNvPr id="270" name="Google Shape;270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8"/>
          <p:cNvGrpSpPr/>
          <p:nvPr/>
        </p:nvGrpSpPr>
        <p:grpSpPr>
          <a:xfrm>
            <a:off x="1517594" y="5303014"/>
            <a:ext cx="731003" cy="760368"/>
            <a:chOff x="0" y="0"/>
            <a:chExt cx="974670" cy="1013824"/>
          </a:xfrm>
        </p:grpSpPr>
        <p:sp>
          <p:nvSpPr>
            <p:cNvPr id="273" name="Google Shape;273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8"/>
          <p:cNvGrpSpPr/>
          <p:nvPr/>
        </p:nvGrpSpPr>
        <p:grpSpPr>
          <a:xfrm>
            <a:off x="1517594" y="6434857"/>
            <a:ext cx="731003" cy="760368"/>
            <a:chOff x="0" y="0"/>
            <a:chExt cx="974670" cy="1013824"/>
          </a:xfrm>
        </p:grpSpPr>
        <p:sp>
          <p:nvSpPr>
            <p:cNvPr id="276" name="Google Shape;276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78;p8"/>
          <p:cNvGrpSpPr/>
          <p:nvPr/>
        </p:nvGrpSpPr>
        <p:grpSpPr>
          <a:xfrm>
            <a:off x="1517594" y="7597478"/>
            <a:ext cx="731003" cy="760368"/>
            <a:chOff x="0" y="0"/>
            <a:chExt cx="974670" cy="1013824"/>
          </a:xfrm>
        </p:grpSpPr>
        <p:sp>
          <p:nvSpPr>
            <p:cNvPr id="279" name="Google Shape;279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1" name="Google Shape;281;p8"/>
          <p:cNvSpPr/>
          <p:nvPr/>
        </p:nvSpPr>
        <p:spPr>
          <a:xfrm>
            <a:off x="10608231" y="2276119"/>
            <a:ext cx="5991433" cy="6356958"/>
          </a:xfrm>
          <a:custGeom>
            <a:rect b="b" l="l" r="r" t="t"/>
            <a:pathLst>
              <a:path extrusionOk="0" h="6356958" w="5991433">
                <a:moveTo>
                  <a:pt x="0" y="0"/>
                </a:moveTo>
                <a:lnTo>
                  <a:pt x="5991434" y="0"/>
                </a:lnTo>
                <a:lnTo>
                  <a:pt x="599143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8"/>
          <p:cNvSpPr txBox="1"/>
          <p:nvPr/>
        </p:nvSpPr>
        <p:spPr>
          <a:xfrm>
            <a:off x="1517600" y="439725"/>
            <a:ext cx="15099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REKOGNITION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2441330" y="2052163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Verificación de Identidad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2441330" y="3184006"/>
            <a:ext cx="73089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Moderación de 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2441330" y="4345958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Organización de Fotos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2441330" y="5426023"/>
            <a:ext cx="494359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Seguridad y Vigilancia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2441330" y="6559498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Análisis de Emociones en la publicidad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2441330" y="7721548"/>
            <a:ext cx="700802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Detección de fraudes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9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294" name="Google Shape;294;p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95" name="Google Shape;295;p9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9"/>
          <p:cNvSpPr/>
          <p:nvPr/>
        </p:nvSpPr>
        <p:spPr>
          <a:xfrm>
            <a:off x="1028700" y="3044790"/>
            <a:ext cx="16230600" cy="3793903"/>
          </a:xfrm>
          <a:custGeom>
            <a:rect b="b" l="l" r="r" t="t"/>
            <a:pathLst>
              <a:path extrusionOk="0" h="3793903" w="16230600">
                <a:moveTo>
                  <a:pt x="0" y="0"/>
                </a:moveTo>
                <a:lnTo>
                  <a:pt x="16230600" y="0"/>
                </a:lnTo>
                <a:lnTo>
                  <a:pt x="16230600" y="3793903"/>
                </a:lnTo>
                <a:lnTo>
                  <a:pt x="0" y="37939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9"/>
          <p:cNvSpPr txBox="1"/>
          <p:nvPr/>
        </p:nvSpPr>
        <p:spPr>
          <a:xfrm>
            <a:off x="2402350" y="1480500"/>
            <a:ext cx="13274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EMPRESAS QUE USAN REKOGNITION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0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303" name="Google Shape;303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04" name="Google Shape;304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10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306" name="Google Shape;306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07" name="Google Shape;307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10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09" name="Google Shape;309;p10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10" name="Google Shape;310;p10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10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12" name="Google Shape;312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13" name="Google Shape;313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10"/>
          <p:cNvSpPr/>
          <p:nvPr/>
        </p:nvSpPr>
        <p:spPr>
          <a:xfrm>
            <a:off x="3589125" y="2805817"/>
            <a:ext cx="11109750" cy="4675366"/>
          </a:xfrm>
          <a:custGeom>
            <a:rect b="b" l="l" r="r" t="t"/>
            <a:pathLst>
              <a:path extrusionOk="0" h="4675366" w="11109750">
                <a:moveTo>
                  <a:pt x="0" y="0"/>
                </a:moveTo>
                <a:lnTo>
                  <a:pt x="11109750" y="0"/>
                </a:lnTo>
                <a:lnTo>
                  <a:pt x="11109750" y="4675366"/>
                </a:lnTo>
                <a:lnTo>
                  <a:pt x="0" y="4675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00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1"/>
          <p:cNvGrpSpPr/>
          <p:nvPr/>
        </p:nvGrpSpPr>
        <p:grpSpPr>
          <a:xfrm>
            <a:off x="0" y="-171146"/>
            <a:ext cx="566738" cy="2834568"/>
            <a:chOff x="0" y="-38100"/>
            <a:chExt cx="149264" cy="746553"/>
          </a:xfrm>
        </p:grpSpPr>
        <p:sp>
          <p:nvSpPr>
            <p:cNvPr id="320" name="Google Shape;320;p11"/>
            <p:cNvSpPr/>
            <p:nvPr/>
          </p:nvSpPr>
          <p:spPr>
            <a:xfrm>
              <a:off x="0" y="0"/>
              <a:ext cx="149264" cy="708453"/>
            </a:xfrm>
            <a:custGeom>
              <a:rect b="b" l="l" r="r" t="t"/>
              <a:pathLst>
                <a:path extrusionOk="0" h="708453" w="149264">
                  <a:moveTo>
                    <a:pt x="0" y="0"/>
                  </a:moveTo>
                  <a:lnTo>
                    <a:pt x="149264" y="0"/>
                  </a:lnTo>
                  <a:lnTo>
                    <a:pt x="149264" y="708453"/>
                  </a:lnTo>
                  <a:lnTo>
                    <a:pt x="0" y="70845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21" name="Google Shape;321;p11"/>
            <p:cNvSpPr txBox="1"/>
            <p:nvPr/>
          </p:nvSpPr>
          <p:spPr>
            <a:xfrm>
              <a:off x="0" y="-38100"/>
              <a:ext cx="149264" cy="746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11"/>
          <p:cNvGrpSpPr/>
          <p:nvPr/>
        </p:nvGrpSpPr>
        <p:grpSpPr>
          <a:xfrm>
            <a:off x="0" y="-144661"/>
            <a:ext cx="1133475" cy="1463129"/>
            <a:chOff x="0" y="-38100"/>
            <a:chExt cx="298528" cy="385351"/>
          </a:xfrm>
        </p:grpSpPr>
        <p:sp>
          <p:nvSpPr>
            <p:cNvPr id="323" name="Google Shape;323;p11"/>
            <p:cNvSpPr/>
            <p:nvPr/>
          </p:nvSpPr>
          <p:spPr>
            <a:xfrm>
              <a:off x="0" y="0"/>
              <a:ext cx="298528" cy="347251"/>
            </a:xfrm>
            <a:custGeom>
              <a:rect b="b" l="l" r="r" t="t"/>
              <a:pathLst>
                <a:path extrusionOk="0" h="347251" w="298528">
                  <a:moveTo>
                    <a:pt x="0" y="0"/>
                  </a:moveTo>
                  <a:lnTo>
                    <a:pt x="298528" y="0"/>
                  </a:lnTo>
                  <a:lnTo>
                    <a:pt x="298528" y="347251"/>
                  </a:lnTo>
                  <a:lnTo>
                    <a:pt x="0" y="3472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24" name="Google Shape;324;p11"/>
            <p:cNvSpPr txBox="1"/>
            <p:nvPr/>
          </p:nvSpPr>
          <p:spPr>
            <a:xfrm>
              <a:off x="0" y="-38100"/>
              <a:ext cx="298528" cy="385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1"/>
          <p:cNvGrpSpPr/>
          <p:nvPr/>
        </p:nvGrpSpPr>
        <p:grpSpPr>
          <a:xfrm>
            <a:off x="16776087" y="8921922"/>
            <a:ext cx="2344551" cy="2157882"/>
            <a:chOff x="0" y="-38100"/>
            <a:chExt cx="617495" cy="568331"/>
          </a:xfrm>
        </p:grpSpPr>
        <p:sp>
          <p:nvSpPr>
            <p:cNvPr id="326" name="Google Shape;326;p1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27" name="Google Shape;327;p1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11"/>
          <p:cNvGrpSpPr/>
          <p:nvPr/>
        </p:nvGrpSpPr>
        <p:grpSpPr>
          <a:xfrm>
            <a:off x="17577588" y="6952876"/>
            <a:ext cx="3086100" cy="3120318"/>
            <a:chOff x="0" y="-38100"/>
            <a:chExt cx="812800" cy="821812"/>
          </a:xfrm>
        </p:grpSpPr>
        <p:sp>
          <p:nvSpPr>
            <p:cNvPr id="329" name="Google Shape;329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30" name="Google Shape;330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11"/>
          <p:cNvSpPr txBox="1"/>
          <p:nvPr/>
        </p:nvSpPr>
        <p:spPr>
          <a:xfrm>
            <a:off x="1831975" y="2489114"/>
            <a:ext cx="8807743" cy="6851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Servicio de traducción automática neuronal</a:t>
            </a: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ofrece una solución eficaz y rápida para la traducción entre idiomas.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traducción automática neuronal es una forma de automatización de traducciones entre idiomas que </a:t>
            </a:r>
            <a:r>
              <a:rPr b="1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usa modelos de aprendizaje profundo para ofrecer traducciones más naturales y precisas</a:t>
            </a: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los algoritmos estadísticos tradicionales y de traducción basado en reglas.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capa gratuita del servicio </a:t>
            </a:r>
            <a:r>
              <a:rPr b="1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incluye la traducción de hasta 2 millones de caracteres por mes.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12177333" y="3909142"/>
            <a:ext cx="4039533" cy="4039533"/>
          </a:xfrm>
          <a:custGeom>
            <a:rect b="b" l="l" r="r" t="t"/>
            <a:pathLst>
              <a:path extrusionOk="0" h="4039533" w="4039533">
                <a:moveTo>
                  <a:pt x="0" y="0"/>
                </a:moveTo>
                <a:lnTo>
                  <a:pt x="4039534" y="0"/>
                </a:lnTo>
                <a:lnTo>
                  <a:pt x="4039534" y="4039533"/>
                </a:lnTo>
                <a:lnTo>
                  <a:pt x="0" y="4039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p11"/>
          <p:cNvSpPr txBox="1"/>
          <p:nvPr/>
        </p:nvSpPr>
        <p:spPr>
          <a:xfrm>
            <a:off x="3341726" y="707500"/>
            <a:ext cx="12017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Translate?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1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0" name="Google Shape;340;p12"/>
          <p:cNvGrpSpPr/>
          <p:nvPr/>
        </p:nvGrpSpPr>
        <p:grpSpPr>
          <a:xfrm>
            <a:off x="1517594" y="1929154"/>
            <a:ext cx="731003" cy="760368"/>
            <a:chOff x="0" y="0"/>
            <a:chExt cx="974670" cy="1013824"/>
          </a:xfrm>
        </p:grpSpPr>
        <p:sp>
          <p:nvSpPr>
            <p:cNvPr id="341" name="Google Shape;341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" name="Google Shape;343;p12"/>
          <p:cNvGrpSpPr/>
          <p:nvPr/>
        </p:nvGrpSpPr>
        <p:grpSpPr>
          <a:xfrm>
            <a:off x="8079234" y="1929154"/>
            <a:ext cx="731003" cy="760368"/>
            <a:chOff x="0" y="0"/>
            <a:chExt cx="974670" cy="1013824"/>
          </a:xfrm>
        </p:grpSpPr>
        <p:sp>
          <p:nvSpPr>
            <p:cNvPr id="344" name="Google Shape;344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12"/>
          <p:cNvGrpSpPr/>
          <p:nvPr/>
        </p:nvGrpSpPr>
        <p:grpSpPr>
          <a:xfrm>
            <a:off x="1517594" y="3145906"/>
            <a:ext cx="731003" cy="760368"/>
            <a:chOff x="0" y="0"/>
            <a:chExt cx="974670" cy="1013824"/>
          </a:xfrm>
        </p:grpSpPr>
        <p:sp>
          <p:nvSpPr>
            <p:cNvPr id="347" name="Google Shape;347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p12"/>
          <p:cNvGrpSpPr/>
          <p:nvPr/>
        </p:nvGrpSpPr>
        <p:grpSpPr>
          <a:xfrm>
            <a:off x="8079234" y="3145906"/>
            <a:ext cx="731003" cy="760368"/>
            <a:chOff x="0" y="0"/>
            <a:chExt cx="974670" cy="1013824"/>
          </a:xfrm>
        </p:grpSpPr>
        <p:sp>
          <p:nvSpPr>
            <p:cNvPr id="350" name="Google Shape;350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2" name="Google Shape;352;p12"/>
          <p:cNvSpPr txBox="1"/>
          <p:nvPr/>
        </p:nvSpPr>
        <p:spPr>
          <a:xfrm>
            <a:off x="1139575" y="408325"/>
            <a:ext cx="1410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TRANSLATE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 txBox="1"/>
          <p:nvPr/>
        </p:nvSpPr>
        <p:spPr>
          <a:xfrm>
            <a:off x="2441330" y="2052163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Traducción de documentos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 txBox="1"/>
          <p:nvPr/>
        </p:nvSpPr>
        <p:spPr>
          <a:xfrm>
            <a:off x="9002970" y="2052163"/>
            <a:ext cx="83884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Traducir automáticamente el contenido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 txBox="1"/>
          <p:nvPr/>
        </p:nvSpPr>
        <p:spPr>
          <a:xfrm>
            <a:off x="2441330" y="3117331"/>
            <a:ext cx="500777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Traducir comunicaciones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 txBox="1"/>
          <p:nvPr/>
        </p:nvSpPr>
        <p:spPr>
          <a:xfrm>
            <a:off x="9002970" y="3061813"/>
            <a:ext cx="825856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Funciones multilenguaje en aplicaciones internacionales.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 txBox="1"/>
          <p:nvPr/>
        </p:nvSpPr>
        <p:spPr>
          <a:xfrm>
            <a:off x="862375" y="4650850"/>
            <a:ext cx="13598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TRANSLATE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8" name="Google Shape;358;p12"/>
          <p:cNvGrpSpPr/>
          <p:nvPr/>
        </p:nvGrpSpPr>
        <p:grpSpPr>
          <a:xfrm>
            <a:off x="1526542" y="6002679"/>
            <a:ext cx="731003" cy="760368"/>
            <a:chOff x="0" y="0"/>
            <a:chExt cx="974670" cy="1013824"/>
          </a:xfrm>
        </p:grpSpPr>
        <p:sp>
          <p:nvSpPr>
            <p:cNvPr id="359" name="Google Shape;359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1" name="Google Shape;361;p12"/>
          <p:cNvGrpSpPr/>
          <p:nvPr/>
        </p:nvGrpSpPr>
        <p:grpSpPr>
          <a:xfrm>
            <a:off x="8088182" y="6002679"/>
            <a:ext cx="731003" cy="760368"/>
            <a:chOff x="0" y="0"/>
            <a:chExt cx="974670" cy="1013824"/>
          </a:xfrm>
        </p:grpSpPr>
        <p:sp>
          <p:nvSpPr>
            <p:cNvPr id="362" name="Google Shape;362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4" name="Google Shape;364;p12"/>
          <p:cNvGrpSpPr/>
          <p:nvPr/>
        </p:nvGrpSpPr>
        <p:grpSpPr>
          <a:xfrm>
            <a:off x="1526542" y="7219431"/>
            <a:ext cx="731003" cy="760368"/>
            <a:chOff x="0" y="0"/>
            <a:chExt cx="974670" cy="1013824"/>
          </a:xfrm>
        </p:grpSpPr>
        <p:sp>
          <p:nvSpPr>
            <p:cNvPr id="365" name="Google Shape;365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7" name="Google Shape;367;p12"/>
          <p:cNvGrpSpPr/>
          <p:nvPr/>
        </p:nvGrpSpPr>
        <p:grpSpPr>
          <a:xfrm>
            <a:off x="8088182" y="7219431"/>
            <a:ext cx="731003" cy="760368"/>
            <a:chOff x="0" y="0"/>
            <a:chExt cx="974670" cy="1013824"/>
          </a:xfrm>
        </p:grpSpPr>
        <p:sp>
          <p:nvSpPr>
            <p:cNvPr id="368" name="Google Shape;368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p12"/>
          <p:cNvSpPr txBox="1"/>
          <p:nvPr/>
        </p:nvSpPr>
        <p:spPr>
          <a:xfrm>
            <a:off x="2450278" y="6125688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Escalabilidad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 txBox="1"/>
          <p:nvPr/>
        </p:nvSpPr>
        <p:spPr>
          <a:xfrm>
            <a:off x="9011917" y="6125688"/>
            <a:ext cx="88329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Traducción precisa con aprendizaje automático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2"/>
          <p:cNvSpPr txBox="1"/>
          <p:nvPr/>
        </p:nvSpPr>
        <p:spPr>
          <a:xfrm>
            <a:off x="2450278" y="7190856"/>
            <a:ext cx="500777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Amplia Variedad de idiomas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 txBox="1"/>
          <p:nvPr/>
        </p:nvSpPr>
        <p:spPr>
          <a:xfrm>
            <a:off x="9011917" y="7135338"/>
            <a:ext cx="825856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Traducción de documentos en tiempo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13"/>
          <p:cNvGrpSpPr/>
          <p:nvPr/>
        </p:nvGrpSpPr>
        <p:grpSpPr>
          <a:xfrm>
            <a:off x="-1543050" y="8931406"/>
            <a:ext cx="3086100" cy="3120318"/>
            <a:chOff x="0" y="-38100"/>
            <a:chExt cx="812800" cy="821812"/>
          </a:xfrm>
        </p:grpSpPr>
        <p:sp>
          <p:nvSpPr>
            <p:cNvPr id="379" name="Google Shape;379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80" name="Google Shape;380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1" name="Google Shape;381;p1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382" name="Google Shape;382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83" name="Google Shape;383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13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85" name="Google Shape;385;p13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86" name="Google Shape;386;p13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13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88" name="Google Shape;388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89" name="Google Shape;389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13"/>
          <p:cNvSpPr/>
          <p:nvPr/>
        </p:nvSpPr>
        <p:spPr>
          <a:xfrm>
            <a:off x="1638052" y="2634304"/>
            <a:ext cx="15011896" cy="5235399"/>
          </a:xfrm>
          <a:custGeom>
            <a:rect b="b" l="l" r="r" t="t"/>
            <a:pathLst>
              <a:path extrusionOk="0" h="5235399" w="15011896">
                <a:moveTo>
                  <a:pt x="0" y="0"/>
                </a:moveTo>
                <a:lnTo>
                  <a:pt x="15011896" y="0"/>
                </a:lnTo>
                <a:lnTo>
                  <a:pt x="15011896" y="5235399"/>
                </a:lnTo>
                <a:lnTo>
                  <a:pt x="0" y="5235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91" name="Google Shape;391;p13"/>
          <p:cNvSpPr txBox="1"/>
          <p:nvPr/>
        </p:nvSpPr>
        <p:spPr>
          <a:xfrm>
            <a:off x="2956750" y="1561150"/>
            <a:ext cx="11211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EMPRESAS QUE USAN TRANSLATE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14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397" name="Google Shape;397;p1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98" name="Google Shape;398;p1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14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400" name="Google Shape;400;p1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01" name="Google Shape;401;p1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4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403" name="Google Shape;403;p14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04" name="Google Shape;404;p14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4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06" name="Google Shape;406;p1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07" name="Google Shape;407;p1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14"/>
          <p:cNvSpPr/>
          <p:nvPr/>
        </p:nvSpPr>
        <p:spPr>
          <a:xfrm>
            <a:off x="3036131" y="2532489"/>
            <a:ext cx="12010649" cy="5222022"/>
          </a:xfrm>
          <a:custGeom>
            <a:rect b="b" l="l" r="r" t="t"/>
            <a:pathLst>
              <a:path extrusionOk="0" h="5222022" w="12010649">
                <a:moveTo>
                  <a:pt x="0" y="0"/>
                </a:moveTo>
                <a:lnTo>
                  <a:pt x="12010650" y="0"/>
                </a:lnTo>
                <a:lnTo>
                  <a:pt x="12010650" y="5222022"/>
                </a:lnTo>
                <a:lnTo>
                  <a:pt x="0" y="5222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15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414" name="Google Shape;414;p1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15" name="Google Shape;415;p1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" name="Google Shape;416;p15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417" name="Google Shape;417;p1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18" name="Google Shape;418;p1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9" name="Google Shape;419;p15"/>
          <p:cNvGrpSpPr/>
          <p:nvPr/>
        </p:nvGrpSpPr>
        <p:grpSpPr>
          <a:xfrm>
            <a:off x="16970593" y="-539578"/>
            <a:ext cx="2344551" cy="2157882"/>
            <a:chOff x="0" y="-38100"/>
            <a:chExt cx="617495" cy="568331"/>
          </a:xfrm>
        </p:grpSpPr>
        <p:sp>
          <p:nvSpPr>
            <p:cNvPr id="420" name="Google Shape;420;p15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21" name="Google Shape;421;p15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p15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23" name="Google Shape;423;p1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24" name="Google Shape;424;p1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" name="Google Shape;425;p15"/>
          <p:cNvSpPr/>
          <p:nvPr/>
        </p:nvSpPr>
        <p:spPr>
          <a:xfrm>
            <a:off x="6909317" y="5304469"/>
            <a:ext cx="4773649" cy="4313539"/>
          </a:xfrm>
          <a:custGeom>
            <a:rect b="b" l="l" r="r" t="t"/>
            <a:pathLst>
              <a:path extrusionOk="0" h="4313539" w="4773649">
                <a:moveTo>
                  <a:pt x="0" y="0"/>
                </a:moveTo>
                <a:lnTo>
                  <a:pt x="4773649" y="0"/>
                </a:lnTo>
                <a:lnTo>
                  <a:pt x="4773649" y="4313539"/>
                </a:lnTo>
                <a:lnTo>
                  <a:pt x="0" y="43135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6" name="Google Shape;426;p15"/>
          <p:cNvSpPr txBox="1"/>
          <p:nvPr/>
        </p:nvSpPr>
        <p:spPr>
          <a:xfrm>
            <a:off x="1028700" y="1338768"/>
            <a:ext cx="15783104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 servicio para la creación de interfaces de conversación con voz y texto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 cualquier aplicación.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Ofrece las funcionalidades de aprendizaje profundo avanzadas del reconocimiento automático de voz para convertir voz en texto y tecnología de comprensión del lenguaje natural para reconocer la intención del texto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lo que permite crear aplicaciones con experiencias de usuario muy interactivas y conversaciones realistas.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5"/>
          <p:cNvSpPr txBox="1"/>
          <p:nvPr/>
        </p:nvSpPr>
        <p:spPr>
          <a:xfrm>
            <a:off x="5604914" y="554543"/>
            <a:ext cx="7382455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Lex?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3" name="Google Shape;433;p16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4" name="Google Shape;434;p16"/>
          <p:cNvGrpSpPr/>
          <p:nvPr/>
        </p:nvGrpSpPr>
        <p:grpSpPr>
          <a:xfrm>
            <a:off x="1517594" y="1929154"/>
            <a:ext cx="731003" cy="760368"/>
            <a:chOff x="0" y="0"/>
            <a:chExt cx="974670" cy="1013824"/>
          </a:xfrm>
        </p:grpSpPr>
        <p:sp>
          <p:nvSpPr>
            <p:cNvPr id="435" name="Google Shape;435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7" name="Google Shape;437;p16"/>
          <p:cNvGrpSpPr/>
          <p:nvPr/>
        </p:nvGrpSpPr>
        <p:grpSpPr>
          <a:xfrm>
            <a:off x="8626288" y="1929154"/>
            <a:ext cx="731003" cy="760368"/>
            <a:chOff x="0" y="0"/>
            <a:chExt cx="974670" cy="1013824"/>
          </a:xfrm>
        </p:grpSpPr>
        <p:sp>
          <p:nvSpPr>
            <p:cNvPr id="438" name="Google Shape;438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" name="Google Shape;440;p16"/>
          <p:cNvGrpSpPr/>
          <p:nvPr/>
        </p:nvGrpSpPr>
        <p:grpSpPr>
          <a:xfrm>
            <a:off x="1517594" y="3145906"/>
            <a:ext cx="731003" cy="760368"/>
            <a:chOff x="0" y="0"/>
            <a:chExt cx="974670" cy="1013824"/>
          </a:xfrm>
        </p:grpSpPr>
        <p:sp>
          <p:nvSpPr>
            <p:cNvPr id="441" name="Google Shape;441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3" name="Google Shape;443;p16"/>
          <p:cNvGrpSpPr/>
          <p:nvPr/>
        </p:nvGrpSpPr>
        <p:grpSpPr>
          <a:xfrm>
            <a:off x="8626288" y="3145906"/>
            <a:ext cx="731003" cy="760368"/>
            <a:chOff x="0" y="0"/>
            <a:chExt cx="974670" cy="1013824"/>
          </a:xfrm>
        </p:grpSpPr>
        <p:sp>
          <p:nvSpPr>
            <p:cNvPr id="444" name="Google Shape;444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6" name="Google Shape;446;p16"/>
          <p:cNvSpPr txBox="1"/>
          <p:nvPr/>
        </p:nvSpPr>
        <p:spPr>
          <a:xfrm>
            <a:off x="1432374" y="627400"/>
            <a:ext cx="10748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6"/>
          <p:cNvSpPr txBox="1"/>
          <p:nvPr/>
        </p:nvSpPr>
        <p:spPr>
          <a:xfrm>
            <a:off x="2441330" y="2052163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Traducción de documentos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9550023" y="2052571"/>
            <a:ext cx="646759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Reservas y Programación de Citas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2441330" y="2814163"/>
            <a:ext cx="5994458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Desarrollar asistentes virtuales que brinden capacitación y soporte interno.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9550023" y="3061813"/>
            <a:ext cx="825856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Formularios Interactivos y Recopilación de Datos a través de conversaciones naturales.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6"/>
          <p:cNvSpPr txBox="1"/>
          <p:nvPr/>
        </p:nvSpPr>
        <p:spPr>
          <a:xfrm>
            <a:off x="1432374" y="4700125"/>
            <a:ext cx="947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2" name="Google Shape;452;p16"/>
          <p:cNvGrpSpPr/>
          <p:nvPr/>
        </p:nvGrpSpPr>
        <p:grpSpPr>
          <a:xfrm>
            <a:off x="1526542" y="6002679"/>
            <a:ext cx="731003" cy="760368"/>
            <a:chOff x="0" y="0"/>
            <a:chExt cx="974670" cy="1013824"/>
          </a:xfrm>
        </p:grpSpPr>
        <p:sp>
          <p:nvSpPr>
            <p:cNvPr id="453" name="Google Shape;453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5" name="Google Shape;455;p16"/>
          <p:cNvGrpSpPr/>
          <p:nvPr/>
        </p:nvGrpSpPr>
        <p:grpSpPr>
          <a:xfrm>
            <a:off x="8626288" y="6002679"/>
            <a:ext cx="731003" cy="760368"/>
            <a:chOff x="0" y="0"/>
            <a:chExt cx="974670" cy="1013824"/>
          </a:xfrm>
        </p:grpSpPr>
        <p:sp>
          <p:nvSpPr>
            <p:cNvPr id="456" name="Google Shape;456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8" name="Google Shape;458;p16"/>
          <p:cNvGrpSpPr/>
          <p:nvPr/>
        </p:nvGrpSpPr>
        <p:grpSpPr>
          <a:xfrm>
            <a:off x="1526542" y="7219431"/>
            <a:ext cx="731003" cy="760368"/>
            <a:chOff x="0" y="0"/>
            <a:chExt cx="974670" cy="1013824"/>
          </a:xfrm>
        </p:grpSpPr>
        <p:sp>
          <p:nvSpPr>
            <p:cNvPr id="459" name="Google Shape;459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1" name="Google Shape;461;p16"/>
          <p:cNvGrpSpPr/>
          <p:nvPr/>
        </p:nvGrpSpPr>
        <p:grpSpPr>
          <a:xfrm>
            <a:off x="8626288" y="7219431"/>
            <a:ext cx="731003" cy="760368"/>
            <a:chOff x="0" y="0"/>
            <a:chExt cx="974670" cy="1013824"/>
          </a:xfrm>
        </p:grpSpPr>
        <p:sp>
          <p:nvSpPr>
            <p:cNvPr id="462" name="Google Shape;462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4" name="Google Shape;464;p16"/>
          <p:cNvSpPr txBox="1"/>
          <p:nvPr/>
        </p:nvSpPr>
        <p:spPr>
          <a:xfrm>
            <a:off x="2441330" y="5878038"/>
            <a:ext cx="5637904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Reconocimiento del lenguaje natural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6"/>
          <p:cNvSpPr txBox="1"/>
          <p:nvPr/>
        </p:nvSpPr>
        <p:spPr>
          <a:xfrm>
            <a:off x="9550023" y="6125688"/>
            <a:ext cx="791222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Facilidad de uso a través de su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6"/>
          <p:cNvSpPr txBox="1"/>
          <p:nvPr/>
        </p:nvSpPr>
        <p:spPr>
          <a:xfrm>
            <a:off x="2450278" y="7190856"/>
            <a:ext cx="500777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Amplia compatibilidad con diferentes idiomas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6"/>
          <p:cNvSpPr txBox="1"/>
          <p:nvPr/>
        </p:nvSpPr>
        <p:spPr>
          <a:xfrm>
            <a:off x="9541075" y="7190856"/>
            <a:ext cx="721081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 de Chatbots y asistentes virtuales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17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473" name="Google Shape;473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74" name="Google Shape;474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5" name="Google Shape;475;p17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476" name="Google Shape;476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77" name="Google Shape;477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8" name="Google Shape;478;p17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479" name="Google Shape;479;p17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80" name="Google Shape;480;p17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1" name="Google Shape;481;p17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82" name="Google Shape;482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83" name="Google Shape;483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4" name="Google Shape;484;p17"/>
          <p:cNvSpPr/>
          <p:nvPr/>
        </p:nvSpPr>
        <p:spPr>
          <a:xfrm>
            <a:off x="6413823" y="2023297"/>
            <a:ext cx="5460355" cy="6240405"/>
          </a:xfrm>
          <a:custGeom>
            <a:rect b="b" l="l" r="r" t="t"/>
            <a:pathLst>
              <a:path extrusionOk="0" h="6240405" w="5460355">
                <a:moveTo>
                  <a:pt x="0" y="0"/>
                </a:moveTo>
                <a:lnTo>
                  <a:pt x="5460354" y="0"/>
                </a:lnTo>
                <a:lnTo>
                  <a:pt x="5460354" y="6240406"/>
                </a:lnTo>
                <a:lnTo>
                  <a:pt x="0" y="624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8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0" name="Google Shape;490;p18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1" name="Google Shape;491;p18"/>
          <p:cNvSpPr txBox="1"/>
          <p:nvPr/>
        </p:nvSpPr>
        <p:spPr>
          <a:xfrm>
            <a:off x="862010" y="1838325"/>
            <a:ext cx="9798229" cy="741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servicio que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convierte texto en voz realista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lo que nos permite crear aplicaciones que hablan y crear categorías completamente nuevas de productos habilitados para voz.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 servicio Text-to-Speech (TTS)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de Polly utiliza tecnologías avanzadas de aprendizaje profundo para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sintetizar el habla humana que suena natural.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Además de las voces TTS estándar, Amazon Polly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ofrece voces Neural Text-to-Speech (NTTS) 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que brindan mejoras avanzadas en la calidad del habla o a través de un nuevo enfoque de aprendizaje automático.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10942630" y="2022044"/>
            <a:ext cx="6483360" cy="6321276"/>
          </a:xfrm>
          <a:custGeom>
            <a:rect b="b" l="l" r="r" t="t"/>
            <a:pathLst>
              <a:path extrusionOk="0" h="6321276" w="6483360">
                <a:moveTo>
                  <a:pt x="0" y="0"/>
                </a:moveTo>
                <a:lnTo>
                  <a:pt x="6483360" y="0"/>
                </a:lnTo>
                <a:lnTo>
                  <a:pt x="6483360" y="6321275"/>
                </a:lnTo>
                <a:lnTo>
                  <a:pt x="0" y="6321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3" name="Google Shape;493;p18"/>
          <p:cNvSpPr txBox="1"/>
          <p:nvPr/>
        </p:nvSpPr>
        <p:spPr>
          <a:xfrm>
            <a:off x="4358125" y="439725"/>
            <a:ext cx="10548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Polly?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19"/>
          <p:cNvGrpSpPr/>
          <p:nvPr/>
        </p:nvGrpSpPr>
        <p:grpSpPr>
          <a:xfrm>
            <a:off x="1526542" y="1710939"/>
            <a:ext cx="731003" cy="760368"/>
            <a:chOff x="0" y="0"/>
            <a:chExt cx="974670" cy="1013824"/>
          </a:xfrm>
        </p:grpSpPr>
        <p:sp>
          <p:nvSpPr>
            <p:cNvPr id="499" name="Google Shape;499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1" name="Google Shape;501;p19"/>
          <p:cNvGrpSpPr/>
          <p:nvPr/>
        </p:nvGrpSpPr>
        <p:grpSpPr>
          <a:xfrm>
            <a:off x="1517594" y="2728482"/>
            <a:ext cx="731003" cy="760368"/>
            <a:chOff x="0" y="0"/>
            <a:chExt cx="974670" cy="1013824"/>
          </a:xfrm>
        </p:grpSpPr>
        <p:sp>
          <p:nvSpPr>
            <p:cNvPr id="502" name="Google Shape;502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4" name="Google Shape;504;p19"/>
          <p:cNvGrpSpPr/>
          <p:nvPr/>
        </p:nvGrpSpPr>
        <p:grpSpPr>
          <a:xfrm>
            <a:off x="1517594" y="3746025"/>
            <a:ext cx="731003" cy="760368"/>
            <a:chOff x="0" y="0"/>
            <a:chExt cx="974670" cy="1013824"/>
          </a:xfrm>
        </p:grpSpPr>
        <p:sp>
          <p:nvSpPr>
            <p:cNvPr id="505" name="Google Shape;505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7" name="Google Shape;507;p19"/>
          <p:cNvSpPr txBox="1"/>
          <p:nvPr/>
        </p:nvSpPr>
        <p:spPr>
          <a:xfrm>
            <a:off x="1342976" y="408325"/>
            <a:ext cx="12085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POLLY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9"/>
          <p:cNvSpPr txBox="1"/>
          <p:nvPr/>
        </p:nvSpPr>
        <p:spPr>
          <a:xfrm>
            <a:off x="2450278" y="1833948"/>
            <a:ext cx="1748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Telefonía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9"/>
          <p:cNvSpPr txBox="1"/>
          <p:nvPr/>
        </p:nvSpPr>
        <p:spPr>
          <a:xfrm>
            <a:off x="2441330" y="2851491"/>
            <a:ext cx="1451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aplicaciones que ayuden a personas con discapacidad auditiva o visual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9"/>
          <p:cNvSpPr txBox="1"/>
          <p:nvPr/>
        </p:nvSpPr>
        <p:spPr>
          <a:xfrm>
            <a:off x="2441330" y="3869034"/>
            <a:ext cx="1451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Complementar la creación de contenido con comunicaciones audiovisuales.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9"/>
          <p:cNvSpPr txBox="1"/>
          <p:nvPr/>
        </p:nvSpPr>
        <p:spPr>
          <a:xfrm>
            <a:off x="1342976" y="4650850"/>
            <a:ext cx="11315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POLLY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2" name="Google Shape;512;p19"/>
          <p:cNvGrpSpPr/>
          <p:nvPr/>
        </p:nvGrpSpPr>
        <p:grpSpPr>
          <a:xfrm>
            <a:off x="1526542" y="6002679"/>
            <a:ext cx="731003" cy="760368"/>
            <a:chOff x="0" y="0"/>
            <a:chExt cx="974670" cy="1013824"/>
          </a:xfrm>
        </p:grpSpPr>
        <p:sp>
          <p:nvSpPr>
            <p:cNvPr id="513" name="Google Shape;513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5" name="Google Shape;515;p19"/>
          <p:cNvGrpSpPr/>
          <p:nvPr/>
        </p:nvGrpSpPr>
        <p:grpSpPr>
          <a:xfrm>
            <a:off x="8088182" y="6002679"/>
            <a:ext cx="731003" cy="760368"/>
            <a:chOff x="0" y="0"/>
            <a:chExt cx="974670" cy="1013824"/>
          </a:xfrm>
        </p:grpSpPr>
        <p:sp>
          <p:nvSpPr>
            <p:cNvPr id="516" name="Google Shape;516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8" name="Google Shape;518;p19"/>
          <p:cNvGrpSpPr/>
          <p:nvPr/>
        </p:nvGrpSpPr>
        <p:grpSpPr>
          <a:xfrm>
            <a:off x="1526542" y="7219431"/>
            <a:ext cx="731003" cy="760368"/>
            <a:chOff x="0" y="0"/>
            <a:chExt cx="974670" cy="1013824"/>
          </a:xfrm>
        </p:grpSpPr>
        <p:sp>
          <p:nvSpPr>
            <p:cNvPr id="519" name="Google Shape;519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1" name="Google Shape;521;p19"/>
          <p:cNvGrpSpPr/>
          <p:nvPr/>
        </p:nvGrpSpPr>
        <p:grpSpPr>
          <a:xfrm>
            <a:off x="8088182" y="7219431"/>
            <a:ext cx="731003" cy="760368"/>
            <a:chOff x="0" y="0"/>
            <a:chExt cx="974670" cy="1013824"/>
          </a:xfrm>
        </p:grpSpPr>
        <p:sp>
          <p:nvSpPr>
            <p:cNvPr id="522" name="Google Shape;522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4" name="Google Shape;524;p19"/>
          <p:cNvSpPr txBox="1"/>
          <p:nvPr/>
        </p:nvSpPr>
        <p:spPr>
          <a:xfrm>
            <a:off x="2450278" y="6125688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Voces con sonido natural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9"/>
          <p:cNvSpPr txBox="1"/>
          <p:nvPr/>
        </p:nvSpPr>
        <p:spPr>
          <a:xfrm>
            <a:off x="9011917" y="5878038"/>
            <a:ext cx="883297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personalizar y controlar el resultado de la locución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9"/>
          <p:cNvSpPr txBox="1"/>
          <p:nvPr/>
        </p:nvSpPr>
        <p:spPr>
          <a:xfrm>
            <a:off x="2450278" y="7190856"/>
            <a:ext cx="500777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Costos Bajos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9"/>
          <p:cNvSpPr txBox="1"/>
          <p:nvPr/>
        </p:nvSpPr>
        <p:spPr>
          <a:xfrm>
            <a:off x="9011917" y="7094790"/>
            <a:ext cx="825856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Transmisión en tiempo real para reproducir las voces inmediatamente.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8" name="Google Shape;528;p19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529" name="Google Shape;529;p1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530" name="Google Shape;530;p19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0"/>
          <p:cNvSpPr/>
          <p:nvPr/>
        </p:nvSpPr>
        <p:spPr>
          <a:xfrm>
            <a:off x="1606715" y="2598380"/>
            <a:ext cx="15074571" cy="5090241"/>
          </a:xfrm>
          <a:custGeom>
            <a:rect b="b" l="l" r="r" t="t"/>
            <a:pathLst>
              <a:path extrusionOk="0" h="5090241" w="15074571">
                <a:moveTo>
                  <a:pt x="0" y="0"/>
                </a:moveTo>
                <a:lnTo>
                  <a:pt x="15074570" y="0"/>
                </a:lnTo>
                <a:lnTo>
                  <a:pt x="15074570" y="5090240"/>
                </a:lnTo>
                <a:lnTo>
                  <a:pt x="0" y="5090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4702" t="0"/>
            </a:stretch>
          </a:blipFill>
          <a:ln>
            <a:noFill/>
          </a:ln>
        </p:spPr>
      </p:sp>
      <p:sp>
        <p:nvSpPr>
          <p:cNvPr id="536" name="Google Shape;536;p20"/>
          <p:cNvSpPr txBox="1"/>
          <p:nvPr/>
        </p:nvSpPr>
        <p:spPr>
          <a:xfrm>
            <a:off x="2833550" y="1511300"/>
            <a:ext cx="1272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EMPRESAS QUE USAN AMAZON POLLY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0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8" name="Google Shape;538;p20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21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544" name="Google Shape;544;p2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545" name="Google Shape;545;p2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6" name="Google Shape;546;p21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547" name="Google Shape;547;p2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548" name="Google Shape;548;p2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9" name="Google Shape;549;p21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550" name="Google Shape;550;p2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551" name="Google Shape;551;p2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2" name="Google Shape;552;p21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553" name="Google Shape;553;p2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554" name="Google Shape;554;p2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5" name="Google Shape;555;p21"/>
          <p:cNvSpPr/>
          <p:nvPr/>
        </p:nvSpPr>
        <p:spPr>
          <a:xfrm>
            <a:off x="3001641" y="1833808"/>
            <a:ext cx="12284718" cy="6619385"/>
          </a:xfrm>
          <a:custGeom>
            <a:rect b="b" l="l" r="r" t="t"/>
            <a:pathLst>
              <a:path extrusionOk="0" h="6619385" w="12284718">
                <a:moveTo>
                  <a:pt x="0" y="0"/>
                </a:moveTo>
                <a:lnTo>
                  <a:pt x="12284718" y="0"/>
                </a:lnTo>
                <a:lnTo>
                  <a:pt x="12284718" y="6619384"/>
                </a:lnTo>
                <a:lnTo>
                  <a:pt x="0" y="66193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318" r="-7318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1" name="Google Shape;561;p2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2" name="Google Shape;562;p22"/>
          <p:cNvSpPr/>
          <p:nvPr/>
        </p:nvSpPr>
        <p:spPr>
          <a:xfrm>
            <a:off x="10937925" y="1943100"/>
            <a:ext cx="6476901" cy="6323075"/>
          </a:xfrm>
          <a:custGeom>
            <a:rect b="b" l="l" r="r" t="t"/>
            <a:pathLst>
              <a:path extrusionOk="0" h="6323075" w="6476901">
                <a:moveTo>
                  <a:pt x="0" y="0"/>
                </a:moveTo>
                <a:lnTo>
                  <a:pt x="6476900" y="0"/>
                </a:lnTo>
                <a:lnTo>
                  <a:pt x="6476900" y="6323075"/>
                </a:lnTo>
                <a:lnTo>
                  <a:pt x="0" y="632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3" name="Google Shape;563;p22"/>
          <p:cNvSpPr txBox="1"/>
          <p:nvPr/>
        </p:nvSpPr>
        <p:spPr>
          <a:xfrm>
            <a:off x="830260" y="1914525"/>
            <a:ext cx="9798229" cy="6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servicio que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la autenticación, autorización y gestión de usuarios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para aplicaciones web y móviles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facilita la autenticación y autorización a nuestras aplicaciones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sin tener que crear y administrar nuestro propio sistema de autenticación.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Proporciona varias funciones, incluyendo la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 y gestión de usuarios, la autenticación mediante diferentes proveedores de identidad y gestión de roles y permisos.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2"/>
          <p:cNvSpPr txBox="1"/>
          <p:nvPr/>
        </p:nvSpPr>
        <p:spPr>
          <a:xfrm>
            <a:off x="3018350" y="439725"/>
            <a:ext cx="11906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Cognito?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p23"/>
          <p:cNvGrpSpPr/>
          <p:nvPr/>
        </p:nvGrpSpPr>
        <p:grpSpPr>
          <a:xfrm>
            <a:off x="1526542" y="1710939"/>
            <a:ext cx="731003" cy="760368"/>
            <a:chOff x="0" y="0"/>
            <a:chExt cx="974670" cy="1013824"/>
          </a:xfrm>
        </p:grpSpPr>
        <p:sp>
          <p:nvSpPr>
            <p:cNvPr id="570" name="Google Shape;570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23"/>
          <p:cNvGrpSpPr/>
          <p:nvPr/>
        </p:nvGrpSpPr>
        <p:grpSpPr>
          <a:xfrm>
            <a:off x="1517594" y="2728482"/>
            <a:ext cx="731003" cy="760368"/>
            <a:chOff x="0" y="0"/>
            <a:chExt cx="974670" cy="1013824"/>
          </a:xfrm>
        </p:grpSpPr>
        <p:sp>
          <p:nvSpPr>
            <p:cNvPr id="573" name="Google Shape;573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5" name="Google Shape;575;p23"/>
          <p:cNvGrpSpPr/>
          <p:nvPr/>
        </p:nvGrpSpPr>
        <p:grpSpPr>
          <a:xfrm>
            <a:off x="1517594" y="3746025"/>
            <a:ext cx="731003" cy="760368"/>
            <a:chOff x="0" y="0"/>
            <a:chExt cx="974670" cy="1013824"/>
          </a:xfrm>
        </p:grpSpPr>
        <p:sp>
          <p:nvSpPr>
            <p:cNvPr id="576" name="Google Shape;576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8" name="Google Shape;578;p23"/>
          <p:cNvSpPr txBox="1"/>
          <p:nvPr/>
        </p:nvSpPr>
        <p:spPr>
          <a:xfrm>
            <a:off x="1081175" y="376475"/>
            <a:ext cx="1352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COGNITO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3"/>
          <p:cNvSpPr txBox="1"/>
          <p:nvPr/>
        </p:nvSpPr>
        <p:spPr>
          <a:xfrm>
            <a:off x="2450278" y="1833948"/>
            <a:ext cx="10073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Autenticación y Autorización en Aplicaciones Móviles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3"/>
          <p:cNvSpPr txBox="1"/>
          <p:nvPr/>
        </p:nvSpPr>
        <p:spPr>
          <a:xfrm>
            <a:off x="2441330" y="2851491"/>
            <a:ext cx="725845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Acceso Seguro a Recursos de AWS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3"/>
          <p:cNvSpPr txBox="1"/>
          <p:nvPr/>
        </p:nvSpPr>
        <p:spPr>
          <a:xfrm>
            <a:off x="2450278" y="3621384"/>
            <a:ext cx="14516902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el ámbito empresarial, se implementa en aplicaciones internas y herramientas de colaboración.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3"/>
          <p:cNvSpPr txBox="1"/>
          <p:nvPr/>
        </p:nvSpPr>
        <p:spPr>
          <a:xfrm>
            <a:off x="1262775" y="4763913"/>
            <a:ext cx="11891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COGNITO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3" name="Google Shape;583;p23"/>
          <p:cNvGrpSpPr/>
          <p:nvPr/>
        </p:nvGrpSpPr>
        <p:grpSpPr>
          <a:xfrm>
            <a:off x="1526542" y="6002679"/>
            <a:ext cx="731003" cy="760368"/>
            <a:chOff x="0" y="0"/>
            <a:chExt cx="974670" cy="1013824"/>
          </a:xfrm>
        </p:grpSpPr>
        <p:sp>
          <p:nvSpPr>
            <p:cNvPr id="584" name="Google Shape;584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6" name="Google Shape;586;p23"/>
          <p:cNvGrpSpPr/>
          <p:nvPr/>
        </p:nvGrpSpPr>
        <p:grpSpPr>
          <a:xfrm>
            <a:off x="8088182" y="6002679"/>
            <a:ext cx="731003" cy="760368"/>
            <a:chOff x="0" y="0"/>
            <a:chExt cx="974670" cy="1013824"/>
          </a:xfrm>
        </p:grpSpPr>
        <p:sp>
          <p:nvSpPr>
            <p:cNvPr id="587" name="Google Shape;587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9" name="Google Shape;589;p23"/>
          <p:cNvGrpSpPr/>
          <p:nvPr/>
        </p:nvGrpSpPr>
        <p:grpSpPr>
          <a:xfrm>
            <a:off x="1526542" y="7219431"/>
            <a:ext cx="731003" cy="760368"/>
            <a:chOff x="0" y="0"/>
            <a:chExt cx="974670" cy="1013824"/>
          </a:xfrm>
        </p:grpSpPr>
        <p:sp>
          <p:nvSpPr>
            <p:cNvPr id="590" name="Google Shape;590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2" name="Google Shape;592;p23"/>
          <p:cNvGrpSpPr/>
          <p:nvPr/>
        </p:nvGrpSpPr>
        <p:grpSpPr>
          <a:xfrm>
            <a:off x="8088182" y="7219431"/>
            <a:ext cx="731003" cy="760368"/>
            <a:chOff x="0" y="0"/>
            <a:chExt cx="974670" cy="1013824"/>
          </a:xfrm>
        </p:grpSpPr>
        <p:sp>
          <p:nvSpPr>
            <p:cNvPr id="593" name="Google Shape;593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5" name="Google Shape;595;p23"/>
          <p:cNvSpPr txBox="1"/>
          <p:nvPr/>
        </p:nvSpPr>
        <p:spPr>
          <a:xfrm>
            <a:off x="2450278" y="6125688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Voces con sonido natural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3"/>
          <p:cNvSpPr txBox="1"/>
          <p:nvPr/>
        </p:nvSpPr>
        <p:spPr>
          <a:xfrm>
            <a:off x="9011917" y="5878038"/>
            <a:ext cx="883297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personalizar y controlar el resultado de la locución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3"/>
          <p:cNvSpPr txBox="1"/>
          <p:nvPr/>
        </p:nvSpPr>
        <p:spPr>
          <a:xfrm>
            <a:off x="2450278" y="7190856"/>
            <a:ext cx="500777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Costos Bajos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3"/>
          <p:cNvSpPr txBox="1"/>
          <p:nvPr/>
        </p:nvSpPr>
        <p:spPr>
          <a:xfrm>
            <a:off x="9011917" y="7094790"/>
            <a:ext cx="825856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Transmisión en tiempo real para reproducir las voces inmediatamente.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9" name="Google Shape;599;p23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600" name="Google Shape;600;p2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601" name="Google Shape;601;p23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4"/>
          <p:cNvSpPr/>
          <p:nvPr/>
        </p:nvSpPr>
        <p:spPr>
          <a:xfrm>
            <a:off x="2052814" y="2574181"/>
            <a:ext cx="15690498" cy="5138638"/>
          </a:xfrm>
          <a:custGeom>
            <a:rect b="b" l="l" r="r" t="t"/>
            <a:pathLst>
              <a:path extrusionOk="0" h="5138638" w="15690498">
                <a:moveTo>
                  <a:pt x="0" y="0"/>
                </a:moveTo>
                <a:lnTo>
                  <a:pt x="15690497" y="0"/>
                </a:lnTo>
                <a:lnTo>
                  <a:pt x="15690497" y="5138638"/>
                </a:lnTo>
                <a:lnTo>
                  <a:pt x="0" y="5138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7" name="Google Shape;607;p24"/>
          <p:cNvSpPr txBox="1"/>
          <p:nvPr/>
        </p:nvSpPr>
        <p:spPr>
          <a:xfrm>
            <a:off x="3110750" y="1511300"/>
            <a:ext cx="13366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EMPRESAS QUE USAN AMAZON COGNITO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24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609" name="Google Shape;609;p2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610" name="Google Shape;610;p2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" name="Google Shape;611;p24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612" name="Google Shape;612;p2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613" name="Google Shape;613;p2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4" name="Google Shape;614;p24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615" name="Google Shape;615;p24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616" name="Google Shape;616;p24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7" name="Google Shape;617;p24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618" name="Google Shape;618;p24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619" name="Google Shape;619;p24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5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625" name="Google Shape;625;p25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626" name="Google Shape;626;p25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7" name="Google Shape;627;p25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628" name="Google Shape;628;p25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629" name="Google Shape;629;p25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0" name="Google Shape;630;p25"/>
          <p:cNvSpPr/>
          <p:nvPr/>
        </p:nvSpPr>
        <p:spPr>
          <a:xfrm>
            <a:off x="1343513" y="1715119"/>
            <a:ext cx="15600974" cy="7254453"/>
          </a:xfrm>
          <a:custGeom>
            <a:rect b="b" l="l" r="r" t="t"/>
            <a:pathLst>
              <a:path extrusionOk="0" h="7254453" w="15600974">
                <a:moveTo>
                  <a:pt x="0" y="0"/>
                </a:moveTo>
                <a:lnTo>
                  <a:pt x="15600974" y="0"/>
                </a:lnTo>
                <a:lnTo>
                  <a:pt x="15600974" y="7254453"/>
                </a:lnTo>
                <a:lnTo>
                  <a:pt x="0" y="7254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1" name="Google Shape;631;p25"/>
          <p:cNvSpPr txBox="1"/>
          <p:nvPr/>
        </p:nvSpPr>
        <p:spPr>
          <a:xfrm>
            <a:off x="1343525" y="458625"/>
            <a:ext cx="1601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OFRECEN SUS CAPAS GRATUITAS?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6"/>
          <p:cNvSpPr txBox="1"/>
          <p:nvPr/>
        </p:nvSpPr>
        <p:spPr>
          <a:xfrm>
            <a:off x="6168735" y="2476681"/>
            <a:ext cx="686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6"/>
          <p:cNvSpPr txBox="1"/>
          <p:nvPr/>
        </p:nvSpPr>
        <p:spPr>
          <a:xfrm>
            <a:off x="1719334" y="3553981"/>
            <a:ext cx="14581800" cy="3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IMPLEMENTACIÓN DE TRANSLATE, POLLY Y REKOGNITION EN WEB APPS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6"/>
          <p:cNvSpPr/>
          <p:nvPr/>
        </p:nvSpPr>
        <p:spPr>
          <a:xfrm flipH="1" rot="5675120">
            <a:off x="7631704" y="868549"/>
            <a:ext cx="3140904" cy="18377629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9" name="Google Shape;639;p26"/>
          <p:cNvSpPr/>
          <p:nvPr/>
        </p:nvSpPr>
        <p:spPr>
          <a:xfrm flipH="1" rot="5675120">
            <a:off x="7815660" y="1046787"/>
            <a:ext cx="3140904" cy="18377629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7"/>
          <p:cNvSpPr txBox="1"/>
          <p:nvPr/>
        </p:nvSpPr>
        <p:spPr>
          <a:xfrm>
            <a:off x="6110523" y="2800106"/>
            <a:ext cx="686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7"/>
          <p:cNvSpPr txBox="1"/>
          <p:nvPr/>
        </p:nvSpPr>
        <p:spPr>
          <a:xfrm>
            <a:off x="1853046" y="3863731"/>
            <a:ext cx="145818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 DE CHATBOT MEDIANTE AMAZON 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7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7" name="Google Shape;647;p27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8"/>
          <p:cNvSpPr txBox="1"/>
          <p:nvPr/>
        </p:nvSpPr>
        <p:spPr>
          <a:xfrm>
            <a:off x="5907210" y="2599906"/>
            <a:ext cx="7464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8"/>
          <p:cNvSpPr txBox="1"/>
          <p:nvPr/>
        </p:nvSpPr>
        <p:spPr>
          <a:xfrm>
            <a:off x="1951359" y="3716500"/>
            <a:ext cx="145818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DE COGNITO PARA LA GESTIÓN DE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8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5" name="Google Shape;655;p28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9"/>
          <p:cNvSpPr txBox="1"/>
          <p:nvPr/>
        </p:nvSpPr>
        <p:spPr>
          <a:xfrm>
            <a:off x="5294443" y="153997"/>
            <a:ext cx="7454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9"/>
          <p:cNvSpPr txBox="1"/>
          <p:nvPr/>
        </p:nvSpPr>
        <p:spPr>
          <a:xfrm>
            <a:off x="689104" y="1384297"/>
            <a:ext cx="16474500" cy="78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B923"/>
                </a:solidFill>
                <a:latin typeface="Arial"/>
                <a:ea typeface="Arial"/>
                <a:cs typeface="Arial"/>
                <a:sym typeface="Arial"/>
              </a:rPr>
              <a:t>Ética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Diseñar aplicaciones y servicios con la privacidad como prioridad, utilizando buenas prácticas de cifrado, control de accesos.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Informar claramente a los usuarios sobre cómo se almacenan, procesan y utilizan sus datos en la nube.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Asegurarse de que los trabajos no causen daño, respetar los derechos de los participantes en investigaciones y considerar el impacto social de los proyectos.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9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3" name="Google Shape;663;p29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0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9" name="Google Shape;669;p30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0" name="Google Shape;670;p30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1" name="Google Shape;671;p30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61"/>
              <a:buFont typeface="Arial"/>
              <a:buNone/>
            </a:pPr>
            <a:r>
              <a:rPr b="0" i="0" lang="en-US" sz="5361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0"/>
          <p:cNvSpPr txBox="1"/>
          <p:nvPr/>
        </p:nvSpPr>
        <p:spPr>
          <a:xfrm>
            <a:off x="3865123" y="2672525"/>
            <a:ext cx="6083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Inteligencia Artificial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3" name="Google Shape;673;p30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674" name="Google Shape;674;p3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" name="Google Shape;676;p30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677" name="Google Shape;677;p3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9" name="Google Shape;679;p30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680" name="Google Shape;680;p3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2" name="Google Shape;682;p30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683" name="Google Shape;683;p3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5" name="Google Shape;685;p30"/>
          <p:cNvSpPr txBox="1"/>
          <p:nvPr/>
        </p:nvSpPr>
        <p:spPr>
          <a:xfrm>
            <a:off x="3865123" y="4841875"/>
            <a:ext cx="475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Lenguaje natural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0"/>
          <p:cNvSpPr txBox="1"/>
          <p:nvPr/>
        </p:nvSpPr>
        <p:spPr>
          <a:xfrm>
            <a:off x="3865124" y="6067150"/>
            <a:ext cx="5297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Gestión de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0"/>
          <p:cNvSpPr txBox="1"/>
          <p:nvPr/>
        </p:nvSpPr>
        <p:spPr>
          <a:xfrm>
            <a:off x="3865124" y="3740025"/>
            <a:ext cx="5636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Análisis de imagenes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1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FFB9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1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4" name="Google Shape;694;p31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24"/>
              <a:buFont typeface="Arial"/>
              <a:buNone/>
            </a:pPr>
            <a:r>
              <a:rPr b="0" i="0" lang="en-US" sz="6624" u="none" cap="none" strike="noStrik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1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441" l="-169" r="-7085" t="-308517"/>
            </a:stretch>
          </a:blipFill>
          <a:ln>
            <a:noFill/>
          </a:ln>
        </p:spPr>
      </p:sp>
      <p:sp>
        <p:nvSpPr>
          <p:cNvPr id="696" name="Google Shape;696;p31"/>
          <p:cNvSpPr txBox="1"/>
          <p:nvPr/>
        </p:nvSpPr>
        <p:spPr>
          <a:xfrm>
            <a:off x="7775691" y="507350"/>
            <a:ext cx="9514500" cy="89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Lex – Build conversational interfaces into any application using voice and text. AWS. 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https://aws.amazon.com/lex/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Translate – Neural machine translation service. AWS. 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https://aws.amazon.com/translate/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Polly – Text-to-speech service that turns text into lifelike speech. AWS.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https://aws.amazon.com/polly/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Rekognition – Analyze image and video. AWS.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25" u="none" cap="none" strike="noStrike">
                <a:solidFill>
                  <a:srgbClr val="29303C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https://aws.amazon.com/rekog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825" u="none" cap="none" strike="noStrike">
                <a:solidFill>
                  <a:srgbClr val="29303C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ition/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Cognito – Secure user sign-up, sign-in, and access control. AWS.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https://aws.amazon.com/cognito/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2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2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3" name="Google Shape;703;p32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4" name="Google Shape;704;p32"/>
          <p:cNvSpPr txBox="1"/>
          <p:nvPr/>
        </p:nvSpPr>
        <p:spPr>
          <a:xfrm>
            <a:off x="6949660" y="5086350"/>
            <a:ext cx="434105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