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y="10287000" cx="18288000"/>
  <p:notesSz cx="6858000" cy="9144000"/>
  <p:embeddedFontLst>
    <p:embeddedFont>
      <p:font typeface="Hammersmith One"/>
      <p:regular r:id="rId30"/>
    </p:embeddedFont>
    <p:embeddedFont>
      <p:font typeface="Sansita"/>
      <p:regular r:id="rId31"/>
      <p:bold r:id="rId32"/>
      <p:italic r:id="rId33"/>
      <p:boldItalic r:id="rId34"/>
    </p:embeddedFont>
    <p:embeddedFont>
      <p:font typeface="Open Sans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39" roundtripDataSignature="AMtx7mjE8+1Vwtjk+9035ivK6ixijsJI2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89531C2-30FF-4603-92BC-F7D9E2BA2603}">
  <a:tblStyle styleId="{789531C2-30FF-4603-92BC-F7D9E2BA2603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Sansita-regular.fntdata"/><Relationship Id="rId30" Type="http://schemas.openxmlformats.org/officeDocument/2006/relationships/font" Target="fonts/HammersmithOne-regular.fntdata"/><Relationship Id="rId11" Type="http://schemas.openxmlformats.org/officeDocument/2006/relationships/slide" Target="slides/slide5.xml"/><Relationship Id="rId33" Type="http://schemas.openxmlformats.org/officeDocument/2006/relationships/font" Target="fonts/Sansita-italic.fntdata"/><Relationship Id="rId10" Type="http://schemas.openxmlformats.org/officeDocument/2006/relationships/slide" Target="slides/slide4.xml"/><Relationship Id="rId32" Type="http://schemas.openxmlformats.org/officeDocument/2006/relationships/font" Target="fonts/Sansita-bold.fntdata"/><Relationship Id="rId13" Type="http://schemas.openxmlformats.org/officeDocument/2006/relationships/slide" Target="slides/slide7.xml"/><Relationship Id="rId35" Type="http://schemas.openxmlformats.org/officeDocument/2006/relationships/font" Target="fonts/OpenSans-regular.fntdata"/><Relationship Id="rId12" Type="http://schemas.openxmlformats.org/officeDocument/2006/relationships/slide" Target="slides/slide6.xml"/><Relationship Id="rId34" Type="http://schemas.openxmlformats.org/officeDocument/2006/relationships/font" Target="fonts/Sansita-boldItalic.fntdata"/><Relationship Id="rId15" Type="http://schemas.openxmlformats.org/officeDocument/2006/relationships/slide" Target="slides/slide9.xml"/><Relationship Id="rId37" Type="http://schemas.openxmlformats.org/officeDocument/2006/relationships/font" Target="fonts/OpenSans-italic.fntdata"/><Relationship Id="rId14" Type="http://schemas.openxmlformats.org/officeDocument/2006/relationships/slide" Target="slides/slide8.xml"/><Relationship Id="rId36" Type="http://schemas.openxmlformats.org/officeDocument/2006/relationships/font" Target="fonts/OpenSans-bold.fntdata"/><Relationship Id="rId17" Type="http://schemas.openxmlformats.org/officeDocument/2006/relationships/slide" Target="slides/slide11.xml"/><Relationship Id="rId39" Type="http://customschemas.google.com/relationships/presentationmetadata" Target="metadata"/><Relationship Id="rId16" Type="http://schemas.openxmlformats.org/officeDocument/2006/relationships/slide" Target="slides/slide10.xml"/><Relationship Id="rId38" Type="http://schemas.openxmlformats.org/officeDocument/2006/relationships/font" Target="fonts/OpenSans-bold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a1a7d710ff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g3a1a7d710f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4" name="Google Shape;94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6" name="Google Shape;106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0" name="Google Shape;14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9" name="Google Shape;15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2" name="Google Shape;17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5" name="Google Shape;18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2" name="Google Shape;20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1" name="Google Shape;22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1" name="Google Shape;24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3" name="Google Shape;25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0" name="Google Shape;270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9" name="Google Shape;289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8" name="Google Shape;308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0" name="Google Shape;320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9" name="Google Shape;339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62" name="Google Shape;362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85" name="Google Shape;385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93" name="Google Shape;393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01" name="Google Shape;401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09" name="Google Shape;409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33" name="Google Shape;433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42" name="Google Shape;442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7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7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8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8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9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9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9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9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1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1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31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2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2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2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3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4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4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a1a7d710ff_0_86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82" name="Google Shape;82;g3a1a7d710ff_0_86"/>
          <p:cNvSpPr txBox="1"/>
          <p:nvPr>
            <p:ph idx="1" type="body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57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indent="-4064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indent="-4064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indent="-4064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indent="-4064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indent="-4064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indent="-4064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indent="-4064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indent="-4064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/>
        </p:txBody>
      </p:sp>
      <p:sp>
        <p:nvSpPr>
          <p:cNvPr id="83" name="Google Shape;83;g3a1a7d710ff_0_86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png"/><Relationship Id="rId4" Type="http://schemas.openxmlformats.org/officeDocument/2006/relationships/image" Target="../media/image11.png"/><Relationship Id="rId5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Relationship Id="rId4" Type="http://schemas.openxmlformats.org/officeDocument/2006/relationships/image" Target="../media/image12.png"/><Relationship Id="rId5" Type="http://schemas.openxmlformats.org/officeDocument/2006/relationships/image" Target="../media/image1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4.png"/><Relationship Id="rId4" Type="http://schemas.openxmlformats.org/officeDocument/2006/relationships/image" Target="../media/image11.png"/><Relationship Id="rId5" Type="http://schemas.openxmlformats.org/officeDocument/2006/relationships/image" Target="../media/image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0.png"/><Relationship Id="rId4" Type="http://schemas.openxmlformats.org/officeDocument/2006/relationships/image" Target="../media/image18.png"/><Relationship Id="rId5" Type="http://schemas.openxmlformats.org/officeDocument/2006/relationships/hyperlink" Target="https://learn.microsoft.com/en-us/power-bi/" TargetMode="External"/><Relationship Id="rId6" Type="http://schemas.openxmlformats.org/officeDocument/2006/relationships/hyperlink" Target="https://learn.microsoft.com/en-us/power-automate/" TargetMode="External"/><Relationship Id="rId7" Type="http://schemas.openxmlformats.org/officeDocument/2006/relationships/hyperlink" Target="https://learn.microsoft.com/en-us/power-virtual-agents/" TargetMode="External"/><Relationship Id="rId8" Type="http://schemas.openxmlformats.org/officeDocument/2006/relationships/hyperlink" Target="https://learn.microsoft.com/en-us/power-pages/" TargetMode="Externa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g3a1a7d710ff_0_0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16903" y="1"/>
            <a:ext cx="18254198" cy="1028700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9" name="Google Shape;89;g3a1a7d710ff_0_0"/>
          <p:cNvGraphicFramePr/>
          <p:nvPr/>
        </p:nvGraphicFramePr>
        <p:xfrm>
          <a:off x="10656401" y="1940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{789531C2-30FF-4603-92BC-F7D9E2BA2603}</a:tableStyleId>
              </a:tblPr>
              <a:tblGrid>
                <a:gridCol w="3036400"/>
                <a:gridCol w="4344750"/>
              </a:tblGrid>
              <a:tr h="798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b="1" lang="en-US" sz="2800" u="none" cap="none" strike="noStrike">
                          <a:solidFill>
                            <a:schemeClr val="dk1"/>
                          </a:solidFill>
                        </a:rPr>
                        <a:t>Día, Fecha:</a:t>
                      </a:r>
                      <a:endParaRPr/>
                    </a:p>
                  </a:txBody>
                  <a:tcPr marT="182850" marB="182850" marR="182850" marL="1828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u="none" cap="none" strike="noStrike"/>
                        <a:t>Martes, 22/07/2025</a:t>
                      </a:r>
                      <a:endParaRPr/>
                    </a:p>
                  </a:txBody>
                  <a:tcPr marT="182850" marB="182850" marR="182850" marL="182850"/>
                </a:tc>
              </a:tr>
              <a:tr h="798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b="1" lang="en-US" sz="2800" u="none" cap="none" strike="noStrike">
                          <a:solidFill>
                            <a:schemeClr val="dk1"/>
                          </a:solidFill>
                        </a:rPr>
                        <a:t>Hora de inicio:</a:t>
                      </a:r>
                      <a:endParaRPr/>
                    </a:p>
                  </a:txBody>
                  <a:tcPr marT="182850" marB="182850" marR="182850" marL="1828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u="none" cap="none" strike="noStrike"/>
                        <a:t>19:00</a:t>
                      </a:r>
                      <a:endParaRPr/>
                    </a:p>
                  </a:txBody>
                  <a:tcPr marT="182850" marB="182850" marR="182850" marL="182850"/>
                </a:tc>
              </a:tr>
            </a:tbl>
          </a:graphicData>
        </a:graphic>
      </p:graphicFrame>
      <p:sp>
        <p:nvSpPr>
          <p:cNvPr id="90" name="Google Shape;90;g3a1a7d710ff_0_0"/>
          <p:cNvSpPr txBox="1"/>
          <p:nvPr/>
        </p:nvSpPr>
        <p:spPr>
          <a:xfrm>
            <a:off x="2880350" y="4516600"/>
            <a:ext cx="135840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0" i="0" lang="en-US" sz="5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Seminario de Sistemas 1 []</a:t>
            </a:r>
            <a:endParaRPr/>
          </a:p>
        </p:txBody>
      </p:sp>
      <p:sp>
        <p:nvSpPr>
          <p:cNvPr id="91" name="Google Shape;91;g3a1a7d710ff_0_0"/>
          <p:cNvSpPr txBox="1"/>
          <p:nvPr/>
        </p:nvSpPr>
        <p:spPr>
          <a:xfrm>
            <a:off x="2880350" y="5816015"/>
            <a:ext cx="111732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Nombre Del Tutor.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"/>
          <p:cNvSpPr/>
          <p:nvPr/>
        </p:nvSpPr>
        <p:spPr>
          <a:xfrm>
            <a:off x="13252288" y="201103"/>
            <a:ext cx="4684163" cy="1457826"/>
          </a:xfrm>
          <a:custGeom>
            <a:rect b="b" l="l" r="r" t="t"/>
            <a:pathLst>
              <a:path extrusionOk="0" h="1457826" w="4684163">
                <a:moveTo>
                  <a:pt x="0" y="0"/>
                </a:moveTo>
                <a:lnTo>
                  <a:pt x="4684163" y="0"/>
                </a:lnTo>
                <a:lnTo>
                  <a:pt x="4684163" y="1457827"/>
                </a:lnTo>
                <a:lnTo>
                  <a:pt x="0" y="14578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97" name="Google Shape;97;p1"/>
          <p:cNvCxnSpPr/>
          <p:nvPr/>
        </p:nvCxnSpPr>
        <p:spPr>
          <a:xfrm>
            <a:off x="507314" y="8149956"/>
            <a:ext cx="6492240" cy="0"/>
          </a:xfrm>
          <a:prstGeom prst="straightConnector1">
            <a:avLst/>
          </a:prstGeom>
          <a:noFill/>
          <a:ln cap="flat" cmpd="sng" w="38100">
            <a:solidFill>
              <a:srgbClr val="121F3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8" name="Google Shape;98;p1"/>
          <p:cNvSpPr/>
          <p:nvPr/>
        </p:nvSpPr>
        <p:spPr>
          <a:xfrm flipH="1" rot="5679621">
            <a:off x="7710161" y="1015520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1"/>
                </a:moveTo>
                <a:lnTo>
                  <a:pt x="3138698" y="18364721"/>
                </a:lnTo>
                <a:lnTo>
                  <a:pt x="3138698" y="0"/>
                </a:lnTo>
                <a:lnTo>
                  <a:pt x="0" y="0"/>
                </a:lnTo>
                <a:lnTo>
                  <a:pt x="0" y="18364721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9" name="Google Shape;99;p1"/>
          <p:cNvSpPr txBox="1"/>
          <p:nvPr/>
        </p:nvSpPr>
        <p:spPr>
          <a:xfrm>
            <a:off x="1669741" y="2766935"/>
            <a:ext cx="15132474" cy="1857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0" i="0" lang="en-US" sz="6000" u="none" cap="none" strike="noStrike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UNIDAD 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3997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0" i="0" lang="en-US" sz="4500" u="none" cap="none" strike="noStrike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“Implementación de Plataformas de Microsoft”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1"/>
          <p:cNvSpPr txBox="1"/>
          <p:nvPr/>
        </p:nvSpPr>
        <p:spPr>
          <a:xfrm>
            <a:off x="507314" y="8207106"/>
            <a:ext cx="4887216" cy="13139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94"/>
              <a:buFont typeface="Arial"/>
              <a:buNone/>
            </a:pPr>
            <a:r>
              <a:rPr b="0" i="0" lang="en-US" sz="1894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Escuela de Ingenieria de Ciencias y Sistemas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94"/>
              <a:buFont typeface="Arial"/>
              <a:buNone/>
            </a:pPr>
            <a:r>
              <a:rPr b="0" i="0" lang="en-US" sz="1894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Facultad de Ingenieria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94"/>
              <a:buFont typeface="Arial"/>
              <a:buNone/>
            </a:pPr>
            <a:r>
              <a:rPr b="0" i="0" lang="en-US" sz="1894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Universidad de San Carlos de Guatemala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94"/>
              <a:buFont typeface="Arial"/>
              <a:buNone/>
            </a:pPr>
            <a:r>
              <a:t/>
            </a:r>
            <a:endParaRPr b="0" i="0" sz="1894" u="none" cap="none" strike="noStrike">
              <a:solidFill>
                <a:srgbClr val="29303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1"/>
          <p:cNvSpPr/>
          <p:nvPr/>
        </p:nvSpPr>
        <p:spPr>
          <a:xfrm flipH="1" rot="5679621">
            <a:off x="7894116" y="1193759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1"/>
                </a:moveTo>
                <a:lnTo>
                  <a:pt x="3138698" y="18364721"/>
                </a:lnTo>
                <a:lnTo>
                  <a:pt x="3138698" y="0"/>
                </a:lnTo>
                <a:lnTo>
                  <a:pt x="0" y="0"/>
                </a:lnTo>
                <a:lnTo>
                  <a:pt x="0" y="18364721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102" name="Google Shape;102;p1"/>
          <p:cNvCxnSpPr/>
          <p:nvPr/>
        </p:nvCxnSpPr>
        <p:spPr>
          <a:xfrm>
            <a:off x="6360815" y="3853064"/>
            <a:ext cx="5861220" cy="0"/>
          </a:xfrm>
          <a:prstGeom prst="straightConnector1">
            <a:avLst/>
          </a:prstGeom>
          <a:noFill/>
          <a:ln cap="flat" cmpd="sng" w="38100">
            <a:solidFill>
              <a:srgbClr val="29303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1"/>
          <p:cNvSpPr txBox="1"/>
          <p:nvPr/>
        </p:nvSpPr>
        <p:spPr>
          <a:xfrm>
            <a:off x="507314" y="7380141"/>
            <a:ext cx="6186876" cy="679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99"/>
              <a:buFont typeface="Arial"/>
              <a:buNone/>
            </a:pPr>
            <a:r>
              <a:rPr b="1" i="0" lang="en-US" sz="3999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Seminario de Sistemas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/>
          <p:cNvGrpSpPr/>
          <p:nvPr/>
        </p:nvGrpSpPr>
        <p:grpSpPr>
          <a:xfrm>
            <a:off x="1421964" y="2747250"/>
            <a:ext cx="731003" cy="760368"/>
            <a:chOff x="0" y="0"/>
            <a:chExt cx="974670" cy="1013824"/>
          </a:xfrm>
        </p:grpSpPr>
        <p:sp>
          <p:nvSpPr>
            <p:cNvPr id="109" name="Google Shape;109;p2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0A89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" name="Google Shape;110;p2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24"/>
                <a:buFont typeface="Arial"/>
                <a:buNone/>
              </a:pPr>
              <a:r>
                <a:rPr b="1" i="0" lang="en-US" sz="3924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1" name="Google Shape;111;p2"/>
          <p:cNvSpPr/>
          <p:nvPr/>
        </p:nvSpPr>
        <p:spPr>
          <a:xfrm rot="5400000">
            <a:off x="12857023" y="4742132"/>
            <a:ext cx="10861953" cy="802736"/>
          </a:xfrm>
          <a:custGeom>
            <a:rect b="b" l="l" r="r" t="t"/>
            <a:pathLst>
              <a:path extrusionOk="0" h="802736" w="10861953">
                <a:moveTo>
                  <a:pt x="0" y="0"/>
                </a:moveTo>
                <a:lnTo>
                  <a:pt x="10861954" y="0"/>
                </a:lnTo>
                <a:lnTo>
                  <a:pt x="10861954" y="802736"/>
                </a:lnTo>
                <a:lnTo>
                  <a:pt x="0" y="8027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042441" l="-169" r="-7085" t="-308517"/>
            </a:stretch>
          </a:blipFill>
          <a:ln>
            <a:noFill/>
          </a:ln>
        </p:spPr>
      </p:sp>
      <p:grpSp>
        <p:nvGrpSpPr>
          <p:cNvPr id="112" name="Google Shape;112;p2"/>
          <p:cNvGrpSpPr/>
          <p:nvPr/>
        </p:nvGrpSpPr>
        <p:grpSpPr>
          <a:xfrm>
            <a:off x="1421964" y="5820388"/>
            <a:ext cx="731003" cy="760368"/>
            <a:chOff x="0" y="0"/>
            <a:chExt cx="974670" cy="1013824"/>
          </a:xfrm>
        </p:grpSpPr>
        <p:sp>
          <p:nvSpPr>
            <p:cNvPr id="113" name="Google Shape;113;p2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0A89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p2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24"/>
                <a:buFont typeface="Arial"/>
                <a:buNone/>
              </a:pPr>
              <a:r>
                <a:rPr b="1" i="0" lang="en-US" sz="3924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5" name="Google Shape;115;p2"/>
          <p:cNvGrpSpPr/>
          <p:nvPr/>
        </p:nvGrpSpPr>
        <p:grpSpPr>
          <a:xfrm>
            <a:off x="1421964" y="7243740"/>
            <a:ext cx="731003" cy="760368"/>
            <a:chOff x="0" y="0"/>
            <a:chExt cx="974670" cy="1013824"/>
          </a:xfrm>
        </p:grpSpPr>
        <p:sp>
          <p:nvSpPr>
            <p:cNvPr id="116" name="Google Shape;116;p2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0A89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" name="Google Shape;117;p2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24"/>
                <a:buFont typeface="Arial"/>
                <a:buNone/>
              </a:pPr>
              <a:r>
                <a:rPr b="1" i="0" lang="en-US" sz="3924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18" name="Google Shape;118;p2"/>
          <p:cNvCxnSpPr/>
          <p:nvPr/>
        </p:nvCxnSpPr>
        <p:spPr>
          <a:xfrm>
            <a:off x="1211924" y="2318625"/>
            <a:ext cx="4643555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9" name="Google Shape;119;p2"/>
          <p:cNvCxnSpPr/>
          <p:nvPr/>
        </p:nvCxnSpPr>
        <p:spPr>
          <a:xfrm>
            <a:off x="1211924" y="5296513"/>
            <a:ext cx="2129220" cy="0"/>
          </a:xfrm>
          <a:prstGeom prst="straightConnector1">
            <a:avLst/>
          </a:prstGeom>
          <a:noFill/>
          <a:ln cap="flat" cmpd="sng" w="38100">
            <a:solidFill>
              <a:srgbClr val="29303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0" name="Google Shape;120;p2"/>
          <p:cNvSpPr txBox="1"/>
          <p:nvPr/>
        </p:nvSpPr>
        <p:spPr>
          <a:xfrm>
            <a:off x="7051596" y="274507"/>
            <a:ext cx="4110025" cy="1120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99"/>
              <a:buFont typeface="Arial"/>
              <a:buNone/>
            </a:pPr>
            <a:r>
              <a:rPr b="1" i="0" lang="en-US" sz="6999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AGENDA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2"/>
          <p:cNvSpPr txBox="1"/>
          <p:nvPr/>
        </p:nvSpPr>
        <p:spPr>
          <a:xfrm>
            <a:off x="2640377" y="2830096"/>
            <a:ext cx="2722063" cy="5565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25"/>
              <a:buFont typeface="Arial"/>
              <a:buNone/>
            </a:pPr>
            <a:r>
              <a:rPr b="0" i="0" lang="en-US" sz="3425" u="none" cap="none" strike="noStrike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Foro 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2"/>
          <p:cNvSpPr txBox="1"/>
          <p:nvPr/>
        </p:nvSpPr>
        <p:spPr>
          <a:xfrm>
            <a:off x="2335890" y="5907509"/>
            <a:ext cx="6053100" cy="5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25"/>
              <a:buFont typeface="Arial"/>
              <a:buNone/>
            </a:pPr>
            <a:r>
              <a:rPr b="0" i="0" lang="en-US" sz="3425" u="none" cap="none" strike="noStrike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Microsoft Power Platforms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2"/>
          <p:cNvSpPr txBox="1"/>
          <p:nvPr/>
        </p:nvSpPr>
        <p:spPr>
          <a:xfrm>
            <a:off x="2409601" y="7360375"/>
            <a:ext cx="2248200" cy="5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25"/>
              <a:buFont typeface="Arial"/>
              <a:buNone/>
            </a:pPr>
            <a:r>
              <a:rPr b="0" i="0" lang="en-US" sz="3425" u="none" cap="none" strike="noStrike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Low Code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2"/>
          <p:cNvSpPr txBox="1"/>
          <p:nvPr/>
        </p:nvSpPr>
        <p:spPr>
          <a:xfrm>
            <a:off x="1211924" y="1300032"/>
            <a:ext cx="4643555" cy="887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99"/>
              <a:buFont typeface="Arial"/>
              <a:buNone/>
            </a:pPr>
            <a:r>
              <a:rPr b="1" i="0" lang="en-US" sz="5199" u="none" cap="none" strike="noStrike">
                <a:solidFill>
                  <a:srgbClr val="29303C"/>
                </a:solidFill>
                <a:latin typeface="Open Sans"/>
                <a:ea typeface="Open Sans"/>
                <a:cs typeface="Open Sans"/>
                <a:sym typeface="Open Sans"/>
              </a:rPr>
              <a:t>Recordatorios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2"/>
          <p:cNvSpPr txBox="1"/>
          <p:nvPr/>
        </p:nvSpPr>
        <p:spPr>
          <a:xfrm>
            <a:off x="1211924" y="4208720"/>
            <a:ext cx="2248057" cy="887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99"/>
              <a:buFont typeface="Arial"/>
              <a:buNone/>
            </a:pPr>
            <a:r>
              <a:rPr b="1" i="0" lang="en-US" sz="5199" u="none" cap="none" strike="noStrike">
                <a:solidFill>
                  <a:srgbClr val="29303C"/>
                </a:solidFill>
                <a:latin typeface="Open Sans"/>
                <a:ea typeface="Open Sans"/>
                <a:cs typeface="Open Sans"/>
                <a:sym typeface="Open Sans"/>
              </a:rPr>
              <a:t>Temas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6" name="Google Shape;126;p2"/>
          <p:cNvGrpSpPr/>
          <p:nvPr/>
        </p:nvGrpSpPr>
        <p:grpSpPr>
          <a:xfrm>
            <a:off x="1421964" y="8733768"/>
            <a:ext cx="731003" cy="760368"/>
            <a:chOff x="0" y="0"/>
            <a:chExt cx="974670" cy="1013824"/>
          </a:xfrm>
        </p:grpSpPr>
        <p:sp>
          <p:nvSpPr>
            <p:cNvPr id="127" name="Google Shape;127;p2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0A89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" name="Google Shape;128;p2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24"/>
                <a:buFont typeface="Arial"/>
                <a:buNone/>
              </a:pPr>
              <a:r>
                <a:rPr b="1" i="0" lang="en-US" sz="3924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9" name="Google Shape;129;p2"/>
          <p:cNvGrpSpPr/>
          <p:nvPr/>
        </p:nvGrpSpPr>
        <p:grpSpPr>
          <a:xfrm>
            <a:off x="9410394" y="5820388"/>
            <a:ext cx="731002" cy="760368"/>
            <a:chOff x="0" y="0"/>
            <a:chExt cx="974670" cy="1013824"/>
          </a:xfrm>
        </p:grpSpPr>
        <p:sp>
          <p:nvSpPr>
            <p:cNvPr id="130" name="Google Shape;130;p2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0A89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" name="Google Shape;131;p2"/>
            <p:cNvSpPr txBox="1"/>
            <p:nvPr/>
          </p:nvSpPr>
          <p:spPr>
            <a:xfrm>
              <a:off x="194570" y="64529"/>
              <a:ext cx="585600" cy="83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24"/>
                <a:buFont typeface="Arial"/>
                <a:buNone/>
              </a:pPr>
              <a:r>
                <a:rPr b="1" i="0" lang="en-US" sz="3924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2" name="Google Shape;132;p2"/>
          <p:cNvSpPr txBox="1"/>
          <p:nvPr/>
        </p:nvSpPr>
        <p:spPr>
          <a:xfrm>
            <a:off x="2335899" y="8813250"/>
            <a:ext cx="5240700" cy="5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25"/>
              <a:buFont typeface="Arial"/>
              <a:buNone/>
            </a:pPr>
            <a:r>
              <a:rPr b="0" i="0" lang="en-US" sz="3425" u="none" cap="none" strike="noStrike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Microsoft PowerApps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2"/>
          <p:cNvSpPr txBox="1"/>
          <p:nvPr/>
        </p:nvSpPr>
        <p:spPr>
          <a:xfrm>
            <a:off x="10312306" y="5820408"/>
            <a:ext cx="5963400" cy="5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25"/>
              <a:buFont typeface="Arial"/>
              <a:buNone/>
            </a:pPr>
            <a:r>
              <a:rPr b="0" i="0" lang="en-US" sz="3425" u="none" cap="none" strike="noStrike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Microsoft Power Automate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4" name="Google Shape;134;p2"/>
          <p:cNvGrpSpPr/>
          <p:nvPr/>
        </p:nvGrpSpPr>
        <p:grpSpPr>
          <a:xfrm>
            <a:off x="9410382" y="7017651"/>
            <a:ext cx="731025" cy="760275"/>
            <a:chOff x="0" y="0"/>
            <a:chExt cx="974700" cy="1013700"/>
          </a:xfrm>
        </p:grpSpPr>
        <p:sp>
          <p:nvSpPr>
            <p:cNvPr id="135" name="Google Shape;135;p2"/>
            <p:cNvSpPr/>
            <p:nvPr/>
          </p:nvSpPr>
          <p:spPr>
            <a:xfrm>
              <a:off x="0" y="0"/>
              <a:ext cx="974700" cy="1013700"/>
            </a:xfrm>
            <a:prstGeom prst="rect">
              <a:avLst/>
            </a:prstGeom>
            <a:solidFill>
              <a:srgbClr val="0A89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" name="Google Shape;136;p2"/>
            <p:cNvSpPr txBox="1"/>
            <p:nvPr/>
          </p:nvSpPr>
          <p:spPr>
            <a:xfrm>
              <a:off x="194570" y="64529"/>
              <a:ext cx="585600" cy="80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24"/>
                <a:buFont typeface="Arial"/>
                <a:buNone/>
              </a:pPr>
              <a:r>
                <a:rPr b="1" i="0" lang="en-US" sz="3924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7" name="Google Shape;137;p2"/>
          <p:cNvSpPr txBox="1"/>
          <p:nvPr/>
        </p:nvSpPr>
        <p:spPr>
          <a:xfrm>
            <a:off x="10235306" y="6791508"/>
            <a:ext cx="5963400" cy="12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25"/>
              <a:buFont typeface="Arial"/>
              <a:buNone/>
            </a:pPr>
            <a:r>
              <a:rPr b="0" i="0" lang="en-US" sz="3425" u="none" cap="none" strike="noStrike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Otros Servicios de Microsoft Power Platforms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3"/>
          <p:cNvGrpSpPr/>
          <p:nvPr/>
        </p:nvGrpSpPr>
        <p:grpSpPr>
          <a:xfrm>
            <a:off x="-1242857" y="8804406"/>
            <a:ext cx="3086100" cy="3120318"/>
            <a:chOff x="0" y="-38100"/>
            <a:chExt cx="812800" cy="821812"/>
          </a:xfrm>
        </p:grpSpPr>
        <p:sp>
          <p:nvSpPr>
            <p:cNvPr id="143" name="Google Shape;143;p3"/>
            <p:cNvSpPr/>
            <p:nvPr/>
          </p:nvSpPr>
          <p:spPr>
            <a:xfrm>
              <a:off x="0" y="0"/>
              <a:ext cx="812800" cy="783712"/>
            </a:xfrm>
            <a:custGeom>
              <a:rect b="b" l="l" r="r" t="t"/>
              <a:pathLst>
                <a:path extrusionOk="0" h="78371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783712"/>
                  </a:lnTo>
                  <a:lnTo>
                    <a:pt x="0" y="783712"/>
                  </a:lnTo>
                  <a:close/>
                </a:path>
              </a:pathLst>
            </a:custGeom>
            <a:solidFill>
              <a:srgbClr val="0A8987"/>
            </a:solidFill>
            <a:ln>
              <a:noFill/>
            </a:ln>
          </p:spPr>
        </p:sp>
        <p:sp>
          <p:nvSpPr>
            <p:cNvPr id="144" name="Google Shape;144;p3"/>
            <p:cNvSpPr txBox="1"/>
            <p:nvPr/>
          </p:nvSpPr>
          <p:spPr>
            <a:xfrm>
              <a:off x="0" y="-38100"/>
              <a:ext cx="812800" cy="821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5" name="Google Shape;145;p3"/>
          <p:cNvGrpSpPr/>
          <p:nvPr/>
        </p:nvGrpSpPr>
        <p:grpSpPr>
          <a:xfrm>
            <a:off x="-1753117" y="7316578"/>
            <a:ext cx="3086100" cy="3120318"/>
            <a:chOff x="0" y="-38100"/>
            <a:chExt cx="812800" cy="821812"/>
          </a:xfrm>
        </p:grpSpPr>
        <p:sp>
          <p:nvSpPr>
            <p:cNvPr id="146" name="Google Shape;146;p3"/>
            <p:cNvSpPr/>
            <p:nvPr/>
          </p:nvSpPr>
          <p:spPr>
            <a:xfrm>
              <a:off x="0" y="0"/>
              <a:ext cx="812800" cy="783712"/>
            </a:xfrm>
            <a:custGeom>
              <a:rect b="b" l="l" r="r" t="t"/>
              <a:pathLst>
                <a:path extrusionOk="0" h="78371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783712"/>
                  </a:lnTo>
                  <a:lnTo>
                    <a:pt x="0" y="783712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</p:sp>
        <p:sp>
          <p:nvSpPr>
            <p:cNvPr id="147" name="Google Shape;147;p3"/>
            <p:cNvSpPr txBox="1"/>
            <p:nvPr/>
          </p:nvSpPr>
          <p:spPr>
            <a:xfrm>
              <a:off x="0" y="-38100"/>
              <a:ext cx="812800" cy="821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8" name="Google Shape;148;p3"/>
          <p:cNvGrpSpPr/>
          <p:nvPr/>
        </p:nvGrpSpPr>
        <p:grpSpPr>
          <a:xfrm>
            <a:off x="11812774" y="9645946"/>
            <a:ext cx="1419225" cy="641054"/>
            <a:chOff x="0" y="-38100"/>
            <a:chExt cx="373788" cy="168838"/>
          </a:xfrm>
        </p:grpSpPr>
        <p:sp>
          <p:nvSpPr>
            <p:cNvPr id="149" name="Google Shape;149;p3"/>
            <p:cNvSpPr/>
            <p:nvPr/>
          </p:nvSpPr>
          <p:spPr>
            <a:xfrm>
              <a:off x="0" y="0"/>
              <a:ext cx="373788" cy="130738"/>
            </a:xfrm>
            <a:custGeom>
              <a:rect b="b" l="l" r="r" t="t"/>
              <a:pathLst>
                <a:path extrusionOk="0" h="130738" w="373788">
                  <a:moveTo>
                    <a:pt x="0" y="0"/>
                  </a:moveTo>
                  <a:lnTo>
                    <a:pt x="373788" y="0"/>
                  </a:lnTo>
                  <a:lnTo>
                    <a:pt x="373788" y="130738"/>
                  </a:lnTo>
                  <a:lnTo>
                    <a:pt x="0" y="130738"/>
                  </a:lnTo>
                  <a:close/>
                </a:path>
              </a:pathLst>
            </a:custGeom>
            <a:solidFill>
              <a:srgbClr val="0A8987"/>
            </a:solidFill>
            <a:ln>
              <a:noFill/>
            </a:ln>
          </p:spPr>
        </p:sp>
        <p:sp>
          <p:nvSpPr>
            <p:cNvPr id="150" name="Google Shape;150;p3"/>
            <p:cNvSpPr txBox="1"/>
            <p:nvPr/>
          </p:nvSpPr>
          <p:spPr>
            <a:xfrm>
              <a:off x="0" y="-38100"/>
              <a:ext cx="373788" cy="1688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1" name="Google Shape;151;p3"/>
          <p:cNvGrpSpPr/>
          <p:nvPr/>
        </p:nvGrpSpPr>
        <p:grpSpPr>
          <a:xfrm>
            <a:off x="12038199" y="9467051"/>
            <a:ext cx="6249801" cy="819949"/>
            <a:chOff x="0" y="-38100"/>
            <a:chExt cx="1646038" cy="215954"/>
          </a:xfrm>
        </p:grpSpPr>
        <p:sp>
          <p:nvSpPr>
            <p:cNvPr id="152" name="Google Shape;152;p3"/>
            <p:cNvSpPr/>
            <p:nvPr/>
          </p:nvSpPr>
          <p:spPr>
            <a:xfrm>
              <a:off x="0" y="0"/>
              <a:ext cx="1646038" cy="177854"/>
            </a:xfrm>
            <a:custGeom>
              <a:rect b="b" l="l" r="r" t="t"/>
              <a:pathLst>
                <a:path extrusionOk="0" h="177854" w="1646038">
                  <a:moveTo>
                    <a:pt x="0" y="0"/>
                  </a:moveTo>
                  <a:lnTo>
                    <a:pt x="1646038" y="0"/>
                  </a:lnTo>
                  <a:lnTo>
                    <a:pt x="1646038" y="177854"/>
                  </a:lnTo>
                  <a:lnTo>
                    <a:pt x="0" y="177854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</p:sp>
        <p:sp>
          <p:nvSpPr>
            <p:cNvPr id="153" name="Google Shape;153;p3"/>
            <p:cNvSpPr txBox="1"/>
            <p:nvPr/>
          </p:nvSpPr>
          <p:spPr>
            <a:xfrm>
              <a:off x="0" y="-38100"/>
              <a:ext cx="1646038" cy="2159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4" name="Google Shape;154;p3"/>
          <p:cNvSpPr/>
          <p:nvPr/>
        </p:nvSpPr>
        <p:spPr>
          <a:xfrm>
            <a:off x="6510339" y="3723617"/>
            <a:ext cx="5267321" cy="5003955"/>
          </a:xfrm>
          <a:custGeom>
            <a:rect b="b" l="l" r="r" t="t"/>
            <a:pathLst>
              <a:path extrusionOk="0" h="5003955" w="5267321">
                <a:moveTo>
                  <a:pt x="0" y="0"/>
                </a:moveTo>
                <a:lnTo>
                  <a:pt x="5267322" y="0"/>
                </a:lnTo>
                <a:lnTo>
                  <a:pt x="5267322" y="5003956"/>
                </a:lnTo>
                <a:lnTo>
                  <a:pt x="0" y="500395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5" name="Google Shape;155;p3"/>
          <p:cNvSpPr txBox="1"/>
          <p:nvPr/>
        </p:nvSpPr>
        <p:spPr>
          <a:xfrm>
            <a:off x="658900" y="805325"/>
            <a:ext cx="168012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999"/>
              <a:buFont typeface="Arial"/>
              <a:buNone/>
            </a:pPr>
            <a:r>
              <a:rPr b="1" i="0" lang="en-US" sz="5999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¿QUÉ ES MICROSOFT POWER PLATFORMS?</a:t>
            </a:r>
            <a:endParaRPr b="0" i="0" sz="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3"/>
          <p:cNvSpPr txBox="1"/>
          <p:nvPr/>
        </p:nvSpPr>
        <p:spPr>
          <a:xfrm>
            <a:off x="944189" y="2274258"/>
            <a:ext cx="16230600" cy="1476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Microsoft Power Platform es </a:t>
            </a:r>
            <a:r>
              <a:rPr b="1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un conjunto de herramientas “low-code” de Microsoft </a:t>
            </a: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que permite a las empresas crear soluciones sin necesidad de ser un programador experto.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1" name="Google Shape;161;p4"/>
          <p:cNvGrpSpPr/>
          <p:nvPr/>
        </p:nvGrpSpPr>
        <p:grpSpPr>
          <a:xfrm>
            <a:off x="0" y="-144661"/>
            <a:ext cx="357187" cy="10449016"/>
            <a:chOff x="0" y="-38100"/>
            <a:chExt cx="94074" cy="2752004"/>
          </a:xfrm>
        </p:grpSpPr>
        <p:sp>
          <p:nvSpPr>
            <p:cNvPr id="162" name="Google Shape;162;p4"/>
            <p:cNvSpPr/>
            <p:nvPr/>
          </p:nvSpPr>
          <p:spPr>
            <a:xfrm>
              <a:off x="0" y="0"/>
              <a:ext cx="94074" cy="2713904"/>
            </a:xfrm>
            <a:custGeom>
              <a:rect b="b" l="l" r="r" t="t"/>
              <a:pathLst>
                <a:path extrusionOk="0" h="2713904" w="94074">
                  <a:moveTo>
                    <a:pt x="0" y="0"/>
                  </a:moveTo>
                  <a:lnTo>
                    <a:pt x="94074" y="0"/>
                  </a:lnTo>
                  <a:lnTo>
                    <a:pt x="94074" y="2713904"/>
                  </a:lnTo>
                  <a:lnTo>
                    <a:pt x="0" y="2713904"/>
                  </a:lnTo>
                  <a:close/>
                </a:path>
              </a:pathLst>
            </a:custGeom>
            <a:solidFill>
              <a:srgbClr val="0A8987"/>
            </a:solidFill>
            <a:ln>
              <a:noFill/>
            </a:ln>
          </p:spPr>
        </p:sp>
        <p:sp>
          <p:nvSpPr>
            <p:cNvPr id="163" name="Google Shape;163;p4"/>
            <p:cNvSpPr txBox="1"/>
            <p:nvPr/>
          </p:nvSpPr>
          <p:spPr>
            <a:xfrm>
              <a:off x="0" y="-38100"/>
              <a:ext cx="94074" cy="275200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4" name="Google Shape;164;p4"/>
          <p:cNvGrpSpPr/>
          <p:nvPr/>
        </p:nvGrpSpPr>
        <p:grpSpPr>
          <a:xfrm>
            <a:off x="0" y="5256014"/>
            <a:ext cx="714375" cy="5030986"/>
            <a:chOff x="0" y="-38100"/>
            <a:chExt cx="188148" cy="1325033"/>
          </a:xfrm>
        </p:grpSpPr>
        <p:sp>
          <p:nvSpPr>
            <p:cNvPr id="165" name="Google Shape;165;p4"/>
            <p:cNvSpPr/>
            <p:nvPr/>
          </p:nvSpPr>
          <p:spPr>
            <a:xfrm>
              <a:off x="0" y="0"/>
              <a:ext cx="188148" cy="1286933"/>
            </a:xfrm>
            <a:custGeom>
              <a:rect b="b" l="l" r="r" t="t"/>
              <a:pathLst>
                <a:path extrusionOk="0" h="1286933" w="188148">
                  <a:moveTo>
                    <a:pt x="0" y="0"/>
                  </a:moveTo>
                  <a:lnTo>
                    <a:pt x="188148" y="0"/>
                  </a:lnTo>
                  <a:lnTo>
                    <a:pt x="188148" y="1286933"/>
                  </a:lnTo>
                  <a:lnTo>
                    <a:pt x="0" y="1286933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</p:sp>
        <p:sp>
          <p:nvSpPr>
            <p:cNvPr id="166" name="Google Shape;166;p4"/>
            <p:cNvSpPr txBox="1"/>
            <p:nvPr/>
          </p:nvSpPr>
          <p:spPr>
            <a:xfrm>
              <a:off x="0" y="-38100"/>
              <a:ext cx="188148" cy="13250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7" name="Google Shape;167;p4"/>
          <p:cNvSpPr/>
          <p:nvPr/>
        </p:nvSpPr>
        <p:spPr>
          <a:xfrm>
            <a:off x="5411182" y="3842253"/>
            <a:ext cx="7465635" cy="4774193"/>
          </a:xfrm>
          <a:custGeom>
            <a:rect b="b" l="l" r="r" t="t"/>
            <a:pathLst>
              <a:path extrusionOk="0" h="4774193" w="7465635">
                <a:moveTo>
                  <a:pt x="0" y="0"/>
                </a:moveTo>
                <a:lnTo>
                  <a:pt x="7465636" y="0"/>
                </a:lnTo>
                <a:lnTo>
                  <a:pt x="7465636" y="4774194"/>
                </a:lnTo>
                <a:lnTo>
                  <a:pt x="0" y="47741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8009" r="-64813" t="0"/>
            </a:stretch>
          </a:blipFill>
          <a:ln>
            <a:noFill/>
          </a:ln>
        </p:spPr>
      </p:sp>
      <p:sp>
        <p:nvSpPr>
          <p:cNvPr id="168" name="Google Shape;168;p4"/>
          <p:cNvSpPr txBox="1"/>
          <p:nvPr/>
        </p:nvSpPr>
        <p:spPr>
          <a:xfrm>
            <a:off x="3496932" y="854578"/>
            <a:ext cx="11294135" cy="1120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99"/>
              <a:buFont typeface="Arial"/>
              <a:buNone/>
            </a:pPr>
            <a:r>
              <a:rPr b="1" i="0" lang="en-US" sz="6999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¿QUÉ ES LOW CODE?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4"/>
          <p:cNvSpPr txBox="1"/>
          <p:nvPr/>
        </p:nvSpPr>
        <p:spPr>
          <a:xfrm>
            <a:off x="1028700" y="2156328"/>
            <a:ext cx="16230600" cy="1476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Es un</a:t>
            </a:r>
            <a:r>
              <a:rPr b="1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 enfoque de desarrollo de aplicaciones que utiliza herramientas gráficas y visuales</a:t>
            </a: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, junto con componentes prefabricados para construir aplicaciones con una mínima cantidad de codificación manual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" name="Google Shape;174;p5"/>
          <p:cNvGrpSpPr/>
          <p:nvPr/>
        </p:nvGrpSpPr>
        <p:grpSpPr>
          <a:xfrm>
            <a:off x="0" y="8824911"/>
            <a:ext cx="7251395" cy="1479444"/>
            <a:chOff x="0" y="-38100"/>
            <a:chExt cx="1909832" cy="389648"/>
          </a:xfrm>
        </p:grpSpPr>
        <p:sp>
          <p:nvSpPr>
            <p:cNvPr id="175" name="Google Shape;175;p5"/>
            <p:cNvSpPr/>
            <p:nvPr/>
          </p:nvSpPr>
          <p:spPr>
            <a:xfrm>
              <a:off x="0" y="0"/>
              <a:ext cx="1909832" cy="351548"/>
            </a:xfrm>
            <a:custGeom>
              <a:rect b="b" l="l" r="r" t="t"/>
              <a:pathLst>
                <a:path extrusionOk="0" h="351548" w="1909832">
                  <a:moveTo>
                    <a:pt x="0" y="0"/>
                  </a:moveTo>
                  <a:lnTo>
                    <a:pt x="1909832" y="0"/>
                  </a:lnTo>
                  <a:lnTo>
                    <a:pt x="1909832" y="351548"/>
                  </a:lnTo>
                  <a:lnTo>
                    <a:pt x="0" y="351548"/>
                  </a:lnTo>
                  <a:close/>
                </a:path>
              </a:pathLst>
            </a:custGeom>
            <a:solidFill>
              <a:srgbClr val="0A8987"/>
            </a:solidFill>
            <a:ln>
              <a:noFill/>
            </a:ln>
          </p:spPr>
        </p:sp>
        <p:sp>
          <p:nvSpPr>
            <p:cNvPr id="176" name="Google Shape;176;p5"/>
            <p:cNvSpPr txBox="1"/>
            <p:nvPr/>
          </p:nvSpPr>
          <p:spPr>
            <a:xfrm>
              <a:off x="0" y="-38100"/>
              <a:ext cx="1909832" cy="3896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7" name="Google Shape;177;p5"/>
          <p:cNvGrpSpPr/>
          <p:nvPr/>
        </p:nvGrpSpPr>
        <p:grpSpPr>
          <a:xfrm>
            <a:off x="0" y="9233552"/>
            <a:ext cx="18288000" cy="1053448"/>
            <a:chOff x="0" y="-38100"/>
            <a:chExt cx="4816593" cy="277451"/>
          </a:xfrm>
        </p:grpSpPr>
        <p:sp>
          <p:nvSpPr>
            <p:cNvPr id="178" name="Google Shape;178;p5"/>
            <p:cNvSpPr/>
            <p:nvPr/>
          </p:nvSpPr>
          <p:spPr>
            <a:xfrm>
              <a:off x="0" y="0"/>
              <a:ext cx="4816592" cy="239351"/>
            </a:xfrm>
            <a:custGeom>
              <a:rect b="b" l="l" r="r" t="t"/>
              <a:pathLst>
                <a:path extrusionOk="0" h="239351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39351"/>
                  </a:lnTo>
                  <a:lnTo>
                    <a:pt x="0" y="239351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</p:sp>
        <p:sp>
          <p:nvSpPr>
            <p:cNvPr id="179" name="Google Shape;179;p5"/>
            <p:cNvSpPr txBox="1"/>
            <p:nvPr/>
          </p:nvSpPr>
          <p:spPr>
            <a:xfrm>
              <a:off x="0" y="-38100"/>
              <a:ext cx="4816593" cy="27745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0" name="Google Shape;180;p5"/>
          <p:cNvSpPr/>
          <p:nvPr/>
        </p:nvSpPr>
        <p:spPr>
          <a:xfrm>
            <a:off x="2874714" y="1732966"/>
            <a:ext cx="12538571" cy="5105213"/>
          </a:xfrm>
          <a:custGeom>
            <a:rect b="b" l="l" r="r" t="t"/>
            <a:pathLst>
              <a:path extrusionOk="0" h="5105213" w="12538571">
                <a:moveTo>
                  <a:pt x="0" y="0"/>
                </a:moveTo>
                <a:lnTo>
                  <a:pt x="12538572" y="0"/>
                </a:lnTo>
                <a:lnTo>
                  <a:pt x="12538572" y="5105214"/>
                </a:lnTo>
                <a:lnTo>
                  <a:pt x="0" y="51052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6657" l="-14558" r="-11771" t="-17866"/>
            </a:stretch>
          </a:blipFill>
          <a:ln cap="sq" cmpd="sng" w="38100">
            <a:solidFill>
              <a:srgbClr val="29303C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81" name="Google Shape;181;p5"/>
          <p:cNvSpPr txBox="1"/>
          <p:nvPr/>
        </p:nvSpPr>
        <p:spPr>
          <a:xfrm>
            <a:off x="536574" y="578325"/>
            <a:ext cx="174921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¿QUE PRODUCTOS OFRECE MICROSOFT POWER PLATFORMS?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5"/>
          <p:cNvSpPr txBox="1"/>
          <p:nvPr/>
        </p:nvSpPr>
        <p:spPr>
          <a:xfrm>
            <a:off x="615950" y="7315422"/>
            <a:ext cx="17056100" cy="981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1" lang="en-US" sz="3000" u="none" cap="none" strike="noStrike">
                <a:solidFill>
                  <a:srgbClr val="29303C"/>
                </a:solidFill>
                <a:latin typeface="Sansita"/>
                <a:ea typeface="Sansita"/>
                <a:cs typeface="Sansita"/>
                <a:sym typeface="Sansita"/>
              </a:rPr>
              <a:t>*La gama de Power Platform ofrece varios productos, pero dentro del curso se desarrollarán principalmente </a:t>
            </a:r>
            <a:r>
              <a:rPr b="1" i="1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Power Apps </a:t>
            </a:r>
            <a:r>
              <a:rPr b="0" i="1" lang="en-US" sz="3000" u="none" cap="none" strike="noStrike">
                <a:solidFill>
                  <a:srgbClr val="29303C"/>
                </a:solidFill>
                <a:latin typeface="Sansita"/>
                <a:ea typeface="Sansita"/>
                <a:cs typeface="Sansita"/>
                <a:sym typeface="Sansita"/>
              </a:rPr>
              <a:t>y </a:t>
            </a:r>
            <a:r>
              <a:rPr b="1" i="1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Power Automate.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7" name="Google Shape;187;p6"/>
          <p:cNvGrpSpPr/>
          <p:nvPr/>
        </p:nvGrpSpPr>
        <p:grpSpPr>
          <a:xfrm>
            <a:off x="-1242857" y="8804406"/>
            <a:ext cx="3086100" cy="3120318"/>
            <a:chOff x="0" y="-38100"/>
            <a:chExt cx="812800" cy="821812"/>
          </a:xfrm>
        </p:grpSpPr>
        <p:sp>
          <p:nvSpPr>
            <p:cNvPr id="188" name="Google Shape;188;p6"/>
            <p:cNvSpPr/>
            <p:nvPr/>
          </p:nvSpPr>
          <p:spPr>
            <a:xfrm>
              <a:off x="0" y="0"/>
              <a:ext cx="812800" cy="783712"/>
            </a:xfrm>
            <a:custGeom>
              <a:rect b="b" l="l" r="r" t="t"/>
              <a:pathLst>
                <a:path extrusionOk="0" h="78371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783712"/>
                  </a:lnTo>
                  <a:lnTo>
                    <a:pt x="0" y="783712"/>
                  </a:lnTo>
                  <a:close/>
                </a:path>
              </a:pathLst>
            </a:custGeom>
            <a:solidFill>
              <a:srgbClr val="0A8987"/>
            </a:solidFill>
            <a:ln>
              <a:noFill/>
            </a:ln>
          </p:spPr>
        </p:sp>
        <p:sp>
          <p:nvSpPr>
            <p:cNvPr id="189" name="Google Shape;189;p6"/>
            <p:cNvSpPr txBox="1"/>
            <p:nvPr/>
          </p:nvSpPr>
          <p:spPr>
            <a:xfrm>
              <a:off x="0" y="-38100"/>
              <a:ext cx="812800" cy="821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0" name="Google Shape;190;p6"/>
          <p:cNvGrpSpPr/>
          <p:nvPr/>
        </p:nvGrpSpPr>
        <p:grpSpPr>
          <a:xfrm>
            <a:off x="-1753117" y="7316578"/>
            <a:ext cx="3086100" cy="3120318"/>
            <a:chOff x="0" y="-38100"/>
            <a:chExt cx="812800" cy="821812"/>
          </a:xfrm>
        </p:grpSpPr>
        <p:sp>
          <p:nvSpPr>
            <p:cNvPr id="191" name="Google Shape;191;p6"/>
            <p:cNvSpPr/>
            <p:nvPr/>
          </p:nvSpPr>
          <p:spPr>
            <a:xfrm>
              <a:off x="0" y="0"/>
              <a:ext cx="812800" cy="783712"/>
            </a:xfrm>
            <a:custGeom>
              <a:rect b="b" l="l" r="r" t="t"/>
              <a:pathLst>
                <a:path extrusionOk="0" h="78371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783712"/>
                  </a:lnTo>
                  <a:lnTo>
                    <a:pt x="0" y="783712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</p:sp>
        <p:sp>
          <p:nvSpPr>
            <p:cNvPr id="192" name="Google Shape;192;p6"/>
            <p:cNvSpPr txBox="1"/>
            <p:nvPr/>
          </p:nvSpPr>
          <p:spPr>
            <a:xfrm>
              <a:off x="0" y="-38100"/>
              <a:ext cx="812800" cy="821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3" name="Google Shape;193;p6"/>
          <p:cNvGrpSpPr/>
          <p:nvPr/>
        </p:nvGrpSpPr>
        <p:grpSpPr>
          <a:xfrm>
            <a:off x="16776087" y="-539578"/>
            <a:ext cx="2344551" cy="2157882"/>
            <a:chOff x="0" y="-38100"/>
            <a:chExt cx="617495" cy="568331"/>
          </a:xfrm>
        </p:grpSpPr>
        <p:sp>
          <p:nvSpPr>
            <p:cNvPr id="194" name="Google Shape;194;p6"/>
            <p:cNvSpPr/>
            <p:nvPr/>
          </p:nvSpPr>
          <p:spPr>
            <a:xfrm>
              <a:off x="0" y="0"/>
              <a:ext cx="617495" cy="530231"/>
            </a:xfrm>
            <a:custGeom>
              <a:rect b="b" l="l" r="r" t="t"/>
              <a:pathLst>
                <a:path extrusionOk="0" h="530231" w="617495">
                  <a:moveTo>
                    <a:pt x="0" y="0"/>
                  </a:moveTo>
                  <a:lnTo>
                    <a:pt x="617495" y="0"/>
                  </a:lnTo>
                  <a:lnTo>
                    <a:pt x="617495" y="530231"/>
                  </a:lnTo>
                  <a:lnTo>
                    <a:pt x="0" y="530231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</p:sp>
        <p:sp>
          <p:nvSpPr>
            <p:cNvPr id="195" name="Google Shape;195;p6"/>
            <p:cNvSpPr txBox="1"/>
            <p:nvPr/>
          </p:nvSpPr>
          <p:spPr>
            <a:xfrm>
              <a:off x="0" y="-38100"/>
              <a:ext cx="617495" cy="568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6" name="Google Shape;196;p6"/>
          <p:cNvGrpSpPr/>
          <p:nvPr/>
        </p:nvGrpSpPr>
        <p:grpSpPr>
          <a:xfrm>
            <a:off x="17259300" y="641994"/>
            <a:ext cx="3086100" cy="3120318"/>
            <a:chOff x="0" y="-38100"/>
            <a:chExt cx="812800" cy="821812"/>
          </a:xfrm>
        </p:grpSpPr>
        <p:sp>
          <p:nvSpPr>
            <p:cNvPr id="197" name="Google Shape;197;p6"/>
            <p:cNvSpPr/>
            <p:nvPr/>
          </p:nvSpPr>
          <p:spPr>
            <a:xfrm>
              <a:off x="0" y="0"/>
              <a:ext cx="812800" cy="783712"/>
            </a:xfrm>
            <a:custGeom>
              <a:rect b="b" l="l" r="r" t="t"/>
              <a:pathLst>
                <a:path extrusionOk="0" h="78371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783712"/>
                  </a:lnTo>
                  <a:lnTo>
                    <a:pt x="0" y="783712"/>
                  </a:lnTo>
                  <a:close/>
                </a:path>
              </a:pathLst>
            </a:custGeom>
            <a:solidFill>
              <a:srgbClr val="0A8987"/>
            </a:solidFill>
            <a:ln>
              <a:noFill/>
            </a:ln>
          </p:spPr>
        </p:sp>
        <p:sp>
          <p:nvSpPr>
            <p:cNvPr id="198" name="Google Shape;198;p6"/>
            <p:cNvSpPr txBox="1"/>
            <p:nvPr/>
          </p:nvSpPr>
          <p:spPr>
            <a:xfrm>
              <a:off x="0" y="-38100"/>
              <a:ext cx="812800" cy="821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9" name="Google Shape;199;p6"/>
          <p:cNvSpPr/>
          <p:nvPr/>
        </p:nvSpPr>
        <p:spPr>
          <a:xfrm>
            <a:off x="3493371" y="3010387"/>
            <a:ext cx="11301259" cy="4266225"/>
          </a:xfrm>
          <a:custGeom>
            <a:rect b="b" l="l" r="r" t="t"/>
            <a:pathLst>
              <a:path extrusionOk="0" h="4266225" w="11301259">
                <a:moveTo>
                  <a:pt x="0" y="0"/>
                </a:moveTo>
                <a:lnTo>
                  <a:pt x="11301258" y="0"/>
                </a:lnTo>
                <a:lnTo>
                  <a:pt x="11301258" y="4266226"/>
                </a:lnTo>
                <a:lnTo>
                  <a:pt x="0" y="426622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4" name="Google Shape;204;p7"/>
          <p:cNvGrpSpPr/>
          <p:nvPr/>
        </p:nvGrpSpPr>
        <p:grpSpPr>
          <a:xfrm>
            <a:off x="311307" y="-144661"/>
            <a:ext cx="388125" cy="8565666"/>
            <a:chOff x="0" y="-38100"/>
            <a:chExt cx="102222" cy="2255978"/>
          </a:xfrm>
        </p:grpSpPr>
        <p:sp>
          <p:nvSpPr>
            <p:cNvPr id="205" name="Google Shape;205;p7"/>
            <p:cNvSpPr/>
            <p:nvPr/>
          </p:nvSpPr>
          <p:spPr>
            <a:xfrm>
              <a:off x="0" y="0"/>
              <a:ext cx="102222" cy="2217878"/>
            </a:xfrm>
            <a:custGeom>
              <a:rect b="b" l="l" r="r" t="t"/>
              <a:pathLst>
                <a:path extrusionOk="0" h="2217878" w="102222">
                  <a:moveTo>
                    <a:pt x="0" y="0"/>
                  </a:moveTo>
                  <a:lnTo>
                    <a:pt x="102222" y="0"/>
                  </a:lnTo>
                  <a:lnTo>
                    <a:pt x="102222" y="2217878"/>
                  </a:lnTo>
                  <a:lnTo>
                    <a:pt x="0" y="2217878"/>
                  </a:lnTo>
                  <a:close/>
                </a:path>
              </a:pathLst>
            </a:custGeom>
            <a:solidFill>
              <a:srgbClr val="0A8987"/>
            </a:solidFill>
            <a:ln>
              <a:noFill/>
            </a:ln>
          </p:spPr>
        </p:sp>
        <p:sp>
          <p:nvSpPr>
            <p:cNvPr id="206" name="Google Shape;206;p7"/>
            <p:cNvSpPr txBox="1"/>
            <p:nvPr/>
          </p:nvSpPr>
          <p:spPr>
            <a:xfrm>
              <a:off x="0" y="-38100"/>
              <a:ext cx="102222" cy="225597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7" name="Google Shape;207;p7"/>
          <p:cNvGrpSpPr/>
          <p:nvPr/>
        </p:nvGrpSpPr>
        <p:grpSpPr>
          <a:xfrm>
            <a:off x="0" y="-144661"/>
            <a:ext cx="505369" cy="10431661"/>
            <a:chOff x="0" y="-38100"/>
            <a:chExt cx="133101" cy="2747433"/>
          </a:xfrm>
        </p:grpSpPr>
        <p:sp>
          <p:nvSpPr>
            <p:cNvPr id="208" name="Google Shape;208;p7"/>
            <p:cNvSpPr/>
            <p:nvPr/>
          </p:nvSpPr>
          <p:spPr>
            <a:xfrm>
              <a:off x="0" y="0"/>
              <a:ext cx="133101" cy="2709333"/>
            </a:xfrm>
            <a:custGeom>
              <a:rect b="b" l="l" r="r" t="t"/>
              <a:pathLst>
                <a:path extrusionOk="0" h="2709333" w="133101">
                  <a:moveTo>
                    <a:pt x="0" y="0"/>
                  </a:moveTo>
                  <a:lnTo>
                    <a:pt x="133101" y="0"/>
                  </a:lnTo>
                  <a:lnTo>
                    <a:pt x="13310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</p:sp>
        <p:sp>
          <p:nvSpPr>
            <p:cNvPr id="209" name="Google Shape;209;p7"/>
            <p:cNvSpPr txBox="1"/>
            <p:nvPr/>
          </p:nvSpPr>
          <p:spPr>
            <a:xfrm>
              <a:off x="0" y="-38100"/>
              <a:ext cx="133101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0" name="Google Shape;210;p7"/>
          <p:cNvGrpSpPr/>
          <p:nvPr/>
        </p:nvGrpSpPr>
        <p:grpSpPr>
          <a:xfrm>
            <a:off x="17660541" y="8602991"/>
            <a:ext cx="1066563" cy="1165957"/>
            <a:chOff x="0" y="-38100"/>
            <a:chExt cx="280906" cy="307083"/>
          </a:xfrm>
        </p:grpSpPr>
        <p:sp>
          <p:nvSpPr>
            <p:cNvPr id="211" name="Google Shape;211;p7"/>
            <p:cNvSpPr/>
            <p:nvPr/>
          </p:nvSpPr>
          <p:spPr>
            <a:xfrm>
              <a:off x="0" y="0"/>
              <a:ext cx="280906" cy="268983"/>
            </a:xfrm>
            <a:custGeom>
              <a:rect b="b" l="l" r="r" t="t"/>
              <a:pathLst>
                <a:path extrusionOk="0" h="268983" w="280906">
                  <a:moveTo>
                    <a:pt x="0" y="0"/>
                  </a:moveTo>
                  <a:lnTo>
                    <a:pt x="280906" y="0"/>
                  </a:lnTo>
                  <a:lnTo>
                    <a:pt x="280906" y="268983"/>
                  </a:lnTo>
                  <a:lnTo>
                    <a:pt x="0" y="268983"/>
                  </a:lnTo>
                  <a:close/>
                </a:path>
              </a:pathLst>
            </a:custGeom>
            <a:solidFill>
              <a:srgbClr val="0A8987"/>
            </a:solidFill>
            <a:ln>
              <a:noFill/>
            </a:ln>
          </p:spPr>
        </p:sp>
        <p:sp>
          <p:nvSpPr>
            <p:cNvPr id="212" name="Google Shape;212;p7"/>
            <p:cNvSpPr txBox="1"/>
            <p:nvPr/>
          </p:nvSpPr>
          <p:spPr>
            <a:xfrm>
              <a:off x="0" y="-38100"/>
              <a:ext cx="280906" cy="3070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3" name="Google Shape;213;p7"/>
          <p:cNvGrpSpPr/>
          <p:nvPr/>
        </p:nvGrpSpPr>
        <p:grpSpPr>
          <a:xfrm>
            <a:off x="17259300" y="9113639"/>
            <a:ext cx="1467805" cy="1435160"/>
            <a:chOff x="0" y="-38100"/>
            <a:chExt cx="386582" cy="377985"/>
          </a:xfrm>
        </p:grpSpPr>
        <p:sp>
          <p:nvSpPr>
            <p:cNvPr id="214" name="Google Shape;214;p7"/>
            <p:cNvSpPr/>
            <p:nvPr/>
          </p:nvSpPr>
          <p:spPr>
            <a:xfrm>
              <a:off x="0" y="0"/>
              <a:ext cx="386582" cy="339885"/>
            </a:xfrm>
            <a:custGeom>
              <a:rect b="b" l="l" r="r" t="t"/>
              <a:pathLst>
                <a:path extrusionOk="0" h="339885" w="386582">
                  <a:moveTo>
                    <a:pt x="0" y="0"/>
                  </a:moveTo>
                  <a:lnTo>
                    <a:pt x="386582" y="0"/>
                  </a:lnTo>
                  <a:lnTo>
                    <a:pt x="386582" y="339885"/>
                  </a:lnTo>
                  <a:lnTo>
                    <a:pt x="0" y="339885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</p:sp>
        <p:sp>
          <p:nvSpPr>
            <p:cNvPr id="215" name="Google Shape;215;p7"/>
            <p:cNvSpPr txBox="1"/>
            <p:nvPr/>
          </p:nvSpPr>
          <p:spPr>
            <a:xfrm>
              <a:off x="0" y="-38100"/>
              <a:ext cx="386582" cy="3779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6" name="Google Shape;216;p7"/>
          <p:cNvSpPr/>
          <p:nvPr/>
        </p:nvSpPr>
        <p:spPr>
          <a:xfrm>
            <a:off x="2155694" y="5099050"/>
            <a:ext cx="14331338" cy="4836826"/>
          </a:xfrm>
          <a:custGeom>
            <a:rect b="b" l="l" r="r" t="t"/>
            <a:pathLst>
              <a:path extrusionOk="0" h="4836826" w="14331338">
                <a:moveTo>
                  <a:pt x="0" y="0"/>
                </a:moveTo>
                <a:lnTo>
                  <a:pt x="14331337" y="0"/>
                </a:lnTo>
                <a:lnTo>
                  <a:pt x="14331337" y="4836826"/>
                </a:lnTo>
                <a:lnTo>
                  <a:pt x="0" y="483682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7" name="Google Shape;217;p7"/>
          <p:cNvSpPr txBox="1"/>
          <p:nvPr/>
        </p:nvSpPr>
        <p:spPr>
          <a:xfrm>
            <a:off x="1201176" y="285000"/>
            <a:ext cx="148203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99"/>
              <a:buFont typeface="Arial"/>
              <a:buNone/>
            </a:pPr>
            <a:r>
              <a:rPr b="1" i="0" lang="en-US" sz="6999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¿Qué es Microsoft PowerApps?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7"/>
          <p:cNvSpPr txBox="1"/>
          <p:nvPr/>
        </p:nvSpPr>
        <p:spPr>
          <a:xfrm>
            <a:off x="1278155" y="1508125"/>
            <a:ext cx="16382387" cy="3457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Es una plataforma de desarrollo de aplicaciones low-code que nos permite crear aplicaciones móviles y web personalizadas sin necesidad de ser programadores expertos, entre las funciones de PowerApps hay: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1" marL="6477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Crear aplicaciones sin código.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1" marL="6477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Personalizar aplicaciones.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1" marL="6477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Integrar nuestras aplicaciones con otros productos de Microsoft.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1" marL="6477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Compartir nuestras aplicaciones con otros.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8"/>
          <p:cNvSpPr/>
          <p:nvPr/>
        </p:nvSpPr>
        <p:spPr>
          <a:xfrm flipH="1" rot="5679621">
            <a:off x="7710161" y="1015520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1"/>
                </a:moveTo>
                <a:lnTo>
                  <a:pt x="3138698" y="18364721"/>
                </a:lnTo>
                <a:lnTo>
                  <a:pt x="3138698" y="0"/>
                </a:lnTo>
                <a:lnTo>
                  <a:pt x="0" y="0"/>
                </a:lnTo>
                <a:lnTo>
                  <a:pt x="0" y="18364721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4" name="Google Shape;224;p8"/>
          <p:cNvSpPr/>
          <p:nvPr/>
        </p:nvSpPr>
        <p:spPr>
          <a:xfrm flipH="1" rot="5679621">
            <a:off x="7894116" y="1193759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1"/>
                </a:moveTo>
                <a:lnTo>
                  <a:pt x="3138698" y="18364721"/>
                </a:lnTo>
                <a:lnTo>
                  <a:pt x="3138698" y="0"/>
                </a:lnTo>
                <a:lnTo>
                  <a:pt x="0" y="0"/>
                </a:lnTo>
                <a:lnTo>
                  <a:pt x="0" y="18364721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25" name="Google Shape;225;p8"/>
          <p:cNvGrpSpPr/>
          <p:nvPr/>
        </p:nvGrpSpPr>
        <p:grpSpPr>
          <a:xfrm>
            <a:off x="1517594" y="2085789"/>
            <a:ext cx="731003" cy="760368"/>
            <a:chOff x="0" y="0"/>
            <a:chExt cx="974670" cy="1013824"/>
          </a:xfrm>
        </p:grpSpPr>
        <p:sp>
          <p:nvSpPr>
            <p:cNvPr id="226" name="Google Shape;226;p8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0A89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" name="Google Shape;227;p8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24"/>
                <a:buFont typeface="Arial"/>
                <a:buNone/>
              </a:pPr>
              <a:r>
                <a:rPr b="1" i="0" lang="en-US" sz="3924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8" name="Google Shape;228;p8"/>
          <p:cNvGrpSpPr/>
          <p:nvPr/>
        </p:nvGrpSpPr>
        <p:grpSpPr>
          <a:xfrm>
            <a:off x="1517594" y="4148195"/>
            <a:ext cx="731003" cy="760368"/>
            <a:chOff x="0" y="0"/>
            <a:chExt cx="974670" cy="1013824"/>
          </a:xfrm>
        </p:grpSpPr>
        <p:sp>
          <p:nvSpPr>
            <p:cNvPr id="229" name="Google Shape;229;p8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0A89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" name="Google Shape;230;p8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24"/>
                <a:buFont typeface="Arial"/>
                <a:buNone/>
              </a:pPr>
              <a:r>
                <a:rPr b="1" i="0" lang="en-US" sz="3924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1" name="Google Shape;231;p8"/>
          <p:cNvGrpSpPr/>
          <p:nvPr/>
        </p:nvGrpSpPr>
        <p:grpSpPr>
          <a:xfrm>
            <a:off x="1517594" y="6439867"/>
            <a:ext cx="731003" cy="760368"/>
            <a:chOff x="0" y="0"/>
            <a:chExt cx="974670" cy="1013824"/>
          </a:xfrm>
        </p:grpSpPr>
        <p:sp>
          <p:nvSpPr>
            <p:cNvPr id="232" name="Google Shape;232;p8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0A89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" name="Google Shape;233;p8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24"/>
                <a:buFont typeface="Arial"/>
                <a:buNone/>
              </a:pPr>
              <a:r>
                <a:rPr b="1" i="0" lang="en-US" sz="3924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34" name="Google Shape;234;p8"/>
          <p:cNvSpPr txBox="1"/>
          <p:nvPr/>
        </p:nvSpPr>
        <p:spPr>
          <a:xfrm>
            <a:off x="1663522" y="8536803"/>
            <a:ext cx="439148" cy="6359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2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24"/>
              <a:buFont typeface="Arial"/>
              <a:buNone/>
            </a:pPr>
            <a:r>
              <a:rPr b="1" i="0" lang="en-US" sz="392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8"/>
          <p:cNvSpPr txBox="1"/>
          <p:nvPr/>
        </p:nvSpPr>
        <p:spPr>
          <a:xfrm>
            <a:off x="2309801" y="439737"/>
            <a:ext cx="14307328" cy="1120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99"/>
              <a:buFont typeface="Arial"/>
              <a:buNone/>
            </a:pPr>
            <a:r>
              <a:rPr b="1" i="0" lang="en-US" sz="6999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CASOS DE USO DE PowerApps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8"/>
          <p:cNvSpPr txBox="1"/>
          <p:nvPr/>
        </p:nvSpPr>
        <p:spPr>
          <a:xfrm>
            <a:off x="2441330" y="2057214"/>
            <a:ext cx="13591279" cy="1476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Aplicaciones de Productividad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Crear aplicaciones de automatización de tareas repetitivas, como la gestión de proyectos o la aprobación de flujos de trabajo.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8"/>
          <p:cNvSpPr txBox="1"/>
          <p:nvPr/>
        </p:nvSpPr>
        <p:spPr>
          <a:xfrm>
            <a:off x="2441330" y="4119620"/>
            <a:ext cx="1417579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Aplicación de Clientes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Crear aplicaciones móviles para clientes que les permitan realizar pedidos, acceder a información o solicitar asistencia.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0" i="0" sz="3000" u="none" cap="none" strike="noStrike">
              <a:solidFill>
                <a:srgbClr val="29303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8"/>
          <p:cNvSpPr txBox="1"/>
          <p:nvPr/>
        </p:nvSpPr>
        <p:spPr>
          <a:xfrm>
            <a:off x="2441330" y="6411292"/>
            <a:ext cx="14175799" cy="1476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Aplicaciones de Negocios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Crear aplicaciones personalizadas para las necesidades específicas del negocio como aplicaciones de gestión de inventario.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3" name="Google Shape;243;p9"/>
          <p:cNvGrpSpPr/>
          <p:nvPr/>
        </p:nvGrpSpPr>
        <p:grpSpPr>
          <a:xfrm>
            <a:off x="0" y="8824911"/>
            <a:ext cx="7251395" cy="1479444"/>
            <a:chOff x="0" y="-38100"/>
            <a:chExt cx="1909832" cy="389648"/>
          </a:xfrm>
        </p:grpSpPr>
        <p:sp>
          <p:nvSpPr>
            <p:cNvPr id="244" name="Google Shape;244;p9"/>
            <p:cNvSpPr/>
            <p:nvPr/>
          </p:nvSpPr>
          <p:spPr>
            <a:xfrm>
              <a:off x="0" y="0"/>
              <a:ext cx="1909832" cy="351548"/>
            </a:xfrm>
            <a:custGeom>
              <a:rect b="b" l="l" r="r" t="t"/>
              <a:pathLst>
                <a:path extrusionOk="0" h="351548" w="1909832">
                  <a:moveTo>
                    <a:pt x="0" y="0"/>
                  </a:moveTo>
                  <a:lnTo>
                    <a:pt x="1909832" y="0"/>
                  </a:lnTo>
                  <a:lnTo>
                    <a:pt x="1909832" y="351548"/>
                  </a:lnTo>
                  <a:lnTo>
                    <a:pt x="0" y="351548"/>
                  </a:lnTo>
                  <a:close/>
                </a:path>
              </a:pathLst>
            </a:custGeom>
            <a:solidFill>
              <a:srgbClr val="0A8987"/>
            </a:solidFill>
            <a:ln>
              <a:noFill/>
            </a:ln>
          </p:spPr>
        </p:sp>
        <p:sp>
          <p:nvSpPr>
            <p:cNvPr id="245" name="Google Shape;245;p9"/>
            <p:cNvSpPr txBox="1"/>
            <p:nvPr/>
          </p:nvSpPr>
          <p:spPr>
            <a:xfrm>
              <a:off x="0" y="-38100"/>
              <a:ext cx="1909832" cy="3896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6" name="Google Shape;246;p9"/>
          <p:cNvGrpSpPr/>
          <p:nvPr/>
        </p:nvGrpSpPr>
        <p:grpSpPr>
          <a:xfrm>
            <a:off x="0" y="9113639"/>
            <a:ext cx="18288000" cy="1173361"/>
            <a:chOff x="0" y="-38100"/>
            <a:chExt cx="4816593" cy="309033"/>
          </a:xfrm>
        </p:grpSpPr>
        <p:sp>
          <p:nvSpPr>
            <p:cNvPr id="247" name="Google Shape;247;p9"/>
            <p:cNvSpPr/>
            <p:nvPr/>
          </p:nvSpPr>
          <p:spPr>
            <a:xfrm>
              <a:off x="0" y="0"/>
              <a:ext cx="4816592" cy="270933"/>
            </a:xfrm>
            <a:custGeom>
              <a:rect b="b" l="l" r="r" t="t"/>
              <a:pathLst>
                <a:path extrusionOk="0" h="2709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</p:sp>
        <p:sp>
          <p:nvSpPr>
            <p:cNvPr id="248" name="Google Shape;248;p9"/>
            <p:cNvSpPr txBox="1"/>
            <p:nvPr/>
          </p:nvSpPr>
          <p:spPr>
            <a:xfrm>
              <a:off x="0" y="-38100"/>
              <a:ext cx="4816593" cy="3090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9" name="Google Shape;249;p9"/>
          <p:cNvSpPr/>
          <p:nvPr/>
        </p:nvSpPr>
        <p:spPr>
          <a:xfrm>
            <a:off x="1643265" y="2329665"/>
            <a:ext cx="15616035" cy="4548170"/>
          </a:xfrm>
          <a:custGeom>
            <a:rect b="b" l="l" r="r" t="t"/>
            <a:pathLst>
              <a:path extrusionOk="0" h="4548170" w="15616035">
                <a:moveTo>
                  <a:pt x="0" y="0"/>
                </a:moveTo>
                <a:lnTo>
                  <a:pt x="15616035" y="0"/>
                </a:lnTo>
                <a:lnTo>
                  <a:pt x="15616035" y="4548170"/>
                </a:lnTo>
                <a:lnTo>
                  <a:pt x="0" y="45481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0" name="Google Shape;250;p9"/>
          <p:cNvSpPr txBox="1"/>
          <p:nvPr/>
        </p:nvSpPr>
        <p:spPr>
          <a:xfrm>
            <a:off x="3496932" y="971550"/>
            <a:ext cx="11294135" cy="81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i="0" lang="en-US" sz="5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Precios de PowerApps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5" name="Google Shape;255;p10"/>
          <p:cNvGrpSpPr/>
          <p:nvPr/>
        </p:nvGrpSpPr>
        <p:grpSpPr>
          <a:xfrm>
            <a:off x="-1242857" y="8804406"/>
            <a:ext cx="3086100" cy="3120318"/>
            <a:chOff x="0" y="-38100"/>
            <a:chExt cx="812800" cy="821812"/>
          </a:xfrm>
        </p:grpSpPr>
        <p:sp>
          <p:nvSpPr>
            <p:cNvPr id="256" name="Google Shape;256;p10"/>
            <p:cNvSpPr/>
            <p:nvPr/>
          </p:nvSpPr>
          <p:spPr>
            <a:xfrm>
              <a:off x="0" y="0"/>
              <a:ext cx="812800" cy="783712"/>
            </a:xfrm>
            <a:custGeom>
              <a:rect b="b" l="l" r="r" t="t"/>
              <a:pathLst>
                <a:path extrusionOk="0" h="78371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783712"/>
                  </a:lnTo>
                  <a:lnTo>
                    <a:pt x="0" y="783712"/>
                  </a:lnTo>
                  <a:close/>
                </a:path>
              </a:pathLst>
            </a:custGeom>
            <a:solidFill>
              <a:srgbClr val="0A8987"/>
            </a:solidFill>
            <a:ln>
              <a:noFill/>
            </a:ln>
          </p:spPr>
        </p:sp>
        <p:sp>
          <p:nvSpPr>
            <p:cNvPr id="257" name="Google Shape;257;p10"/>
            <p:cNvSpPr txBox="1"/>
            <p:nvPr/>
          </p:nvSpPr>
          <p:spPr>
            <a:xfrm>
              <a:off x="0" y="-38100"/>
              <a:ext cx="812800" cy="821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8" name="Google Shape;258;p10"/>
          <p:cNvGrpSpPr/>
          <p:nvPr/>
        </p:nvGrpSpPr>
        <p:grpSpPr>
          <a:xfrm>
            <a:off x="-1753117" y="7316578"/>
            <a:ext cx="3086100" cy="3120318"/>
            <a:chOff x="0" y="-38100"/>
            <a:chExt cx="812800" cy="821812"/>
          </a:xfrm>
        </p:grpSpPr>
        <p:sp>
          <p:nvSpPr>
            <p:cNvPr id="259" name="Google Shape;259;p10"/>
            <p:cNvSpPr/>
            <p:nvPr/>
          </p:nvSpPr>
          <p:spPr>
            <a:xfrm>
              <a:off x="0" y="0"/>
              <a:ext cx="812800" cy="783712"/>
            </a:xfrm>
            <a:custGeom>
              <a:rect b="b" l="l" r="r" t="t"/>
              <a:pathLst>
                <a:path extrusionOk="0" h="78371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783712"/>
                  </a:lnTo>
                  <a:lnTo>
                    <a:pt x="0" y="783712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</p:sp>
        <p:sp>
          <p:nvSpPr>
            <p:cNvPr id="260" name="Google Shape;260;p10"/>
            <p:cNvSpPr txBox="1"/>
            <p:nvPr/>
          </p:nvSpPr>
          <p:spPr>
            <a:xfrm>
              <a:off x="0" y="-38100"/>
              <a:ext cx="812800" cy="821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1" name="Google Shape;261;p10"/>
          <p:cNvGrpSpPr/>
          <p:nvPr/>
        </p:nvGrpSpPr>
        <p:grpSpPr>
          <a:xfrm>
            <a:off x="16776087" y="-539578"/>
            <a:ext cx="2344551" cy="2157882"/>
            <a:chOff x="0" y="-38100"/>
            <a:chExt cx="617495" cy="568331"/>
          </a:xfrm>
        </p:grpSpPr>
        <p:sp>
          <p:nvSpPr>
            <p:cNvPr id="262" name="Google Shape;262;p10"/>
            <p:cNvSpPr/>
            <p:nvPr/>
          </p:nvSpPr>
          <p:spPr>
            <a:xfrm>
              <a:off x="0" y="0"/>
              <a:ext cx="617495" cy="530231"/>
            </a:xfrm>
            <a:custGeom>
              <a:rect b="b" l="l" r="r" t="t"/>
              <a:pathLst>
                <a:path extrusionOk="0" h="530231" w="617495">
                  <a:moveTo>
                    <a:pt x="0" y="0"/>
                  </a:moveTo>
                  <a:lnTo>
                    <a:pt x="617495" y="0"/>
                  </a:lnTo>
                  <a:lnTo>
                    <a:pt x="617495" y="530231"/>
                  </a:lnTo>
                  <a:lnTo>
                    <a:pt x="0" y="530231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</p:sp>
        <p:sp>
          <p:nvSpPr>
            <p:cNvPr id="263" name="Google Shape;263;p10"/>
            <p:cNvSpPr txBox="1"/>
            <p:nvPr/>
          </p:nvSpPr>
          <p:spPr>
            <a:xfrm>
              <a:off x="0" y="-38100"/>
              <a:ext cx="617495" cy="568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4" name="Google Shape;264;p10"/>
          <p:cNvGrpSpPr/>
          <p:nvPr/>
        </p:nvGrpSpPr>
        <p:grpSpPr>
          <a:xfrm>
            <a:off x="17259300" y="641994"/>
            <a:ext cx="3086100" cy="3120318"/>
            <a:chOff x="0" y="-38100"/>
            <a:chExt cx="812800" cy="821812"/>
          </a:xfrm>
        </p:grpSpPr>
        <p:sp>
          <p:nvSpPr>
            <p:cNvPr id="265" name="Google Shape;265;p10"/>
            <p:cNvSpPr/>
            <p:nvPr/>
          </p:nvSpPr>
          <p:spPr>
            <a:xfrm>
              <a:off x="0" y="0"/>
              <a:ext cx="812800" cy="783712"/>
            </a:xfrm>
            <a:custGeom>
              <a:rect b="b" l="l" r="r" t="t"/>
              <a:pathLst>
                <a:path extrusionOk="0" h="78371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783712"/>
                  </a:lnTo>
                  <a:lnTo>
                    <a:pt x="0" y="783712"/>
                  </a:lnTo>
                  <a:close/>
                </a:path>
              </a:pathLst>
            </a:custGeom>
            <a:solidFill>
              <a:srgbClr val="0A8987"/>
            </a:solidFill>
            <a:ln>
              <a:noFill/>
            </a:ln>
          </p:spPr>
        </p:sp>
        <p:sp>
          <p:nvSpPr>
            <p:cNvPr id="266" name="Google Shape;266;p10"/>
            <p:cNvSpPr txBox="1"/>
            <p:nvPr/>
          </p:nvSpPr>
          <p:spPr>
            <a:xfrm>
              <a:off x="0" y="-38100"/>
              <a:ext cx="812800" cy="821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7" name="Google Shape;267;p10"/>
          <p:cNvSpPr/>
          <p:nvPr/>
        </p:nvSpPr>
        <p:spPr>
          <a:xfrm>
            <a:off x="3737095" y="2667137"/>
            <a:ext cx="10813811" cy="4952725"/>
          </a:xfrm>
          <a:custGeom>
            <a:rect b="b" l="l" r="r" t="t"/>
            <a:pathLst>
              <a:path extrusionOk="0" h="4952725" w="10813811">
                <a:moveTo>
                  <a:pt x="0" y="0"/>
                </a:moveTo>
                <a:lnTo>
                  <a:pt x="10813810" y="0"/>
                </a:lnTo>
                <a:lnTo>
                  <a:pt x="10813810" y="4952726"/>
                </a:lnTo>
                <a:lnTo>
                  <a:pt x="0" y="495272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2" name="Google Shape;272;p11"/>
          <p:cNvGrpSpPr/>
          <p:nvPr/>
        </p:nvGrpSpPr>
        <p:grpSpPr>
          <a:xfrm>
            <a:off x="0" y="-171146"/>
            <a:ext cx="566738" cy="2834568"/>
            <a:chOff x="0" y="-38100"/>
            <a:chExt cx="149264" cy="746553"/>
          </a:xfrm>
        </p:grpSpPr>
        <p:sp>
          <p:nvSpPr>
            <p:cNvPr id="273" name="Google Shape;273;p11"/>
            <p:cNvSpPr/>
            <p:nvPr/>
          </p:nvSpPr>
          <p:spPr>
            <a:xfrm>
              <a:off x="0" y="0"/>
              <a:ext cx="149264" cy="708453"/>
            </a:xfrm>
            <a:custGeom>
              <a:rect b="b" l="l" r="r" t="t"/>
              <a:pathLst>
                <a:path extrusionOk="0" h="708453" w="149264">
                  <a:moveTo>
                    <a:pt x="0" y="0"/>
                  </a:moveTo>
                  <a:lnTo>
                    <a:pt x="149264" y="0"/>
                  </a:lnTo>
                  <a:lnTo>
                    <a:pt x="149264" y="708453"/>
                  </a:lnTo>
                  <a:lnTo>
                    <a:pt x="0" y="708453"/>
                  </a:lnTo>
                  <a:close/>
                </a:path>
              </a:pathLst>
            </a:custGeom>
            <a:solidFill>
              <a:srgbClr val="0A8987"/>
            </a:solidFill>
            <a:ln>
              <a:noFill/>
            </a:ln>
          </p:spPr>
        </p:sp>
        <p:sp>
          <p:nvSpPr>
            <p:cNvPr id="274" name="Google Shape;274;p11"/>
            <p:cNvSpPr txBox="1"/>
            <p:nvPr/>
          </p:nvSpPr>
          <p:spPr>
            <a:xfrm>
              <a:off x="0" y="-38100"/>
              <a:ext cx="149264" cy="74655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75" name="Google Shape;275;p11"/>
          <p:cNvGrpSpPr/>
          <p:nvPr/>
        </p:nvGrpSpPr>
        <p:grpSpPr>
          <a:xfrm>
            <a:off x="0" y="-144661"/>
            <a:ext cx="1133475" cy="1463129"/>
            <a:chOff x="0" y="-38100"/>
            <a:chExt cx="298528" cy="385351"/>
          </a:xfrm>
        </p:grpSpPr>
        <p:sp>
          <p:nvSpPr>
            <p:cNvPr id="276" name="Google Shape;276;p11"/>
            <p:cNvSpPr/>
            <p:nvPr/>
          </p:nvSpPr>
          <p:spPr>
            <a:xfrm>
              <a:off x="0" y="0"/>
              <a:ext cx="298528" cy="347251"/>
            </a:xfrm>
            <a:custGeom>
              <a:rect b="b" l="l" r="r" t="t"/>
              <a:pathLst>
                <a:path extrusionOk="0" h="347251" w="298528">
                  <a:moveTo>
                    <a:pt x="0" y="0"/>
                  </a:moveTo>
                  <a:lnTo>
                    <a:pt x="298528" y="0"/>
                  </a:lnTo>
                  <a:lnTo>
                    <a:pt x="298528" y="347251"/>
                  </a:lnTo>
                  <a:lnTo>
                    <a:pt x="0" y="347251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</p:sp>
        <p:sp>
          <p:nvSpPr>
            <p:cNvPr id="277" name="Google Shape;277;p11"/>
            <p:cNvSpPr txBox="1"/>
            <p:nvPr/>
          </p:nvSpPr>
          <p:spPr>
            <a:xfrm>
              <a:off x="0" y="-38100"/>
              <a:ext cx="298528" cy="38535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78" name="Google Shape;278;p11"/>
          <p:cNvGrpSpPr/>
          <p:nvPr/>
        </p:nvGrpSpPr>
        <p:grpSpPr>
          <a:xfrm>
            <a:off x="16776087" y="8921922"/>
            <a:ext cx="2344551" cy="2157882"/>
            <a:chOff x="0" y="-38100"/>
            <a:chExt cx="617495" cy="568331"/>
          </a:xfrm>
        </p:grpSpPr>
        <p:sp>
          <p:nvSpPr>
            <p:cNvPr id="279" name="Google Shape;279;p11"/>
            <p:cNvSpPr/>
            <p:nvPr/>
          </p:nvSpPr>
          <p:spPr>
            <a:xfrm>
              <a:off x="0" y="0"/>
              <a:ext cx="617495" cy="530231"/>
            </a:xfrm>
            <a:custGeom>
              <a:rect b="b" l="l" r="r" t="t"/>
              <a:pathLst>
                <a:path extrusionOk="0" h="530231" w="617495">
                  <a:moveTo>
                    <a:pt x="0" y="0"/>
                  </a:moveTo>
                  <a:lnTo>
                    <a:pt x="617495" y="0"/>
                  </a:lnTo>
                  <a:lnTo>
                    <a:pt x="617495" y="530231"/>
                  </a:lnTo>
                  <a:lnTo>
                    <a:pt x="0" y="530231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</p:sp>
        <p:sp>
          <p:nvSpPr>
            <p:cNvPr id="280" name="Google Shape;280;p11"/>
            <p:cNvSpPr txBox="1"/>
            <p:nvPr/>
          </p:nvSpPr>
          <p:spPr>
            <a:xfrm>
              <a:off x="0" y="-38100"/>
              <a:ext cx="617495" cy="568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1" name="Google Shape;281;p11"/>
          <p:cNvGrpSpPr/>
          <p:nvPr/>
        </p:nvGrpSpPr>
        <p:grpSpPr>
          <a:xfrm>
            <a:off x="17577588" y="6952876"/>
            <a:ext cx="3086100" cy="3120318"/>
            <a:chOff x="0" y="-38100"/>
            <a:chExt cx="812800" cy="821812"/>
          </a:xfrm>
        </p:grpSpPr>
        <p:sp>
          <p:nvSpPr>
            <p:cNvPr id="282" name="Google Shape;282;p11"/>
            <p:cNvSpPr/>
            <p:nvPr/>
          </p:nvSpPr>
          <p:spPr>
            <a:xfrm>
              <a:off x="0" y="0"/>
              <a:ext cx="812800" cy="783712"/>
            </a:xfrm>
            <a:custGeom>
              <a:rect b="b" l="l" r="r" t="t"/>
              <a:pathLst>
                <a:path extrusionOk="0" h="78371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783712"/>
                  </a:lnTo>
                  <a:lnTo>
                    <a:pt x="0" y="783712"/>
                  </a:lnTo>
                  <a:close/>
                </a:path>
              </a:pathLst>
            </a:custGeom>
            <a:solidFill>
              <a:srgbClr val="0A8987"/>
            </a:solidFill>
            <a:ln>
              <a:noFill/>
            </a:ln>
          </p:spPr>
        </p:sp>
        <p:sp>
          <p:nvSpPr>
            <p:cNvPr id="283" name="Google Shape;283;p11"/>
            <p:cNvSpPr txBox="1"/>
            <p:nvPr/>
          </p:nvSpPr>
          <p:spPr>
            <a:xfrm>
              <a:off x="0" y="-38100"/>
              <a:ext cx="812800" cy="821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4" name="Google Shape;284;p11"/>
          <p:cNvSpPr/>
          <p:nvPr/>
        </p:nvSpPr>
        <p:spPr>
          <a:xfrm>
            <a:off x="9632730" y="2051629"/>
            <a:ext cx="7626570" cy="6730448"/>
          </a:xfrm>
          <a:custGeom>
            <a:rect b="b" l="l" r="r" t="t"/>
            <a:pathLst>
              <a:path extrusionOk="0" h="6730448" w="7626570">
                <a:moveTo>
                  <a:pt x="0" y="0"/>
                </a:moveTo>
                <a:lnTo>
                  <a:pt x="7626570" y="0"/>
                </a:lnTo>
                <a:lnTo>
                  <a:pt x="7626570" y="6730448"/>
                </a:lnTo>
                <a:lnTo>
                  <a:pt x="0" y="67304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5" name="Google Shape;285;p11"/>
          <p:cNvSpPr txBox="1"/>
          <p:nvPr/>
        </p:nvSpPr>
        <p:spPr>
          <a:xfrm>
            <a:off x="1133475" y="2683178"/>
            <a:ext cx="8184930" cy="5438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Es una </a:t>
            </a:r>
            <a:r>
              <a:rPr b="1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herramienta de automatización de procesos robóticos</a:t>
            </a: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 [RPA] que nos permite automatizar tareas repetitivas en aplicaciones de escritorio y web, entre las funciones principales de Power Automate están: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1" marL="6477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Automatizar tareas repetitivas.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1" marL="6477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Crear flujos de trabajo.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1" marL="6477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Utilizar la RPA.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1" marL="6477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Compartir los flujos de trabajo con otros.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11"/>
          <p:cNvSpPr txBox="1"/>
          <p:nvPr/>
        </p:nvSpPr>
        <p:spPr>
          <a:xfrm>
            <a:off x="1853676" y="439725"/>
            <a:ext cx="166107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99"/>
              <a:buFont typeface="Arial"/>
              <a:buNone/>
            </a:pPr>
            <a:r>
              <a:rPr b="1" i="0" lang="en-US" sz="6999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¿Qué es Microsoft Power Automate?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2"/>
          <p:cNvSpPr/>
          <p:nvPr/>
        </p:nvSpPr>
        <p:spPr>
          <a:xfrm flipH="1" rot="5679621">
            <a:off x="7710161" y="1015520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1"/>
                </a:moveTo>
                <a:lnTo>
                  <a:pt x="3138698" y="18364721"/>
                </a:lnTo>
                <a:lnTo>
                  <a:pt x="3138698" y="0"/>
                </a:lnTo>
                <a:lnTo>
                  <a:pt x="0" y="0"/>
                </a:lnTo>
                <a:lnTo>
                  <a:pt x="0" y="18364721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92" name="Google Shape;292;p12"/>
          <p:cNvSpPr/>
          <p:nvPr/>
        </p:nvSpPr>
        <p:spPr>
          <a:xfrm flipH="1" rot="5679621">
            <a:off x="7894116" y="1193759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1"/>
                </a:moveTo>
                <a:lnTo>
                  <a:pt x="3138698" y="18364721"/>
                </a:lnTo>
                <a:lnTo>
                  <a:pt x="3138698" y="0"/>
                </a:lnTo>
                <a:lnTo>
                  <a:pt x="0" y="0"/>
                </a:lnTo>
                <a:lnTo>
                  <a:pt x="0" y="18364721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93" name="Google Shape;293;p12"/>
          <p:cNvGrpSpPr/>
          <p:nvPr/>
        </p:nvGrpSpPr>
        <p:grpSpPr>
          <a:xfrm>
            <a:off x="1539208" y="2341904"/>
            <a:ext cx="731003" cy="760368"/>
            <a:chOff x="0" y="0"/>
            <a:chExt cx="974670" cy="1013824"/>
          </a:xfrm>
        </p:grpSpPr>
        <p:sp>
          <p:nvSpPr>
            <p:cNvPr id="294" name="Google Shape;294;p12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0A89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" name="Google Shape;295;p12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24"/>
                <a:buFont typeface="Arial"/>
                <a:buNone/>
              </a:pPr>
              <a:r>
                <a:rPr b="1" i="0" lang="en-US" sz="3924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96" name="Google Shape;296;p12"/>
          <p:cNvGrpSpPr/>
          <p:nvPr/>
        </p:nvGrpSpPr>
        <p:grpSpPr>
          <a:xfrm>
            <a:off x="1539208" y="4426247"/>
            <a:ext cx="731003" cy="760368"/>
            <a:chOff x="0" y="0"/>
            <a:chExt cx="974670" cy="1013824"/>
          </a:xfrm>
        </p:grpSpPr>
        <p:sp>
          <p:nvSpPr>
            <p:cNvPr id="297" name="Google Shape;297;p12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0A89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" name="Google Shape;298;p12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24"/>
                <a:buFont typeface="Arial"/>
                <a:buNone/>
              </a:pPr>
              <a:r>
                <a:rPr b="1" i="0" lang="en-US" sz="3924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99" name="Google Shape;299;p12"/>
          <p:cNvGrpSpPr/>
          <p:nvPr/>
        </p:nvGrpSpPr>
        <p:grpSpPr>
          <a:xfrm>
            <a:off x="1539208" y="6482015"/>
            <a:ext cx="731003" cy="760368"/>
            <a:chOff x="0" y="0"/>
            <a:chExt cx="974670" cy="1013824"/>
          </a:xfrm>
        </p:grpSpPr>
        <p:sp>
          <p:nvSpPr>
            <p:cNvPr id="300" name="Google Shape;300;p12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0A89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" name="Google Shape;301;p12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24"/>
                <a:buFont typeface="Arial"/>
                <a:buNone/>
              </a:pPr>
              <a:r>
                <a:rPr b="1" i="0" lang="en-US" sz="3924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02" name="Google Shape;302;p12"/>
          <p:cNvSpPr txBox="1"/>
          <p:nvPr/>
        </p:nvSpPr>
        <p:spPr>
          <a:xfrm>
            <a:off x="1214699" y="439725"/>
            <a:ext cx="149247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99"/>
              <a:buFont typeface="Arial"/>
              <a:buNone/>
            </a:pPr>
            <a:r>
              <a:rPr b="1" i="0" lang="en-US" sz="6999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Casos de uso de Power Automate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12"/>
          <p:cNvSpPr txBox="1"/>
          <p:nvPr/>
        </p:nvSpPr>
        <p:spPr>
          <a:xfrm>
            <a:off x="2462943" y="2214904"/>
            <a:ext cx="14924779" cy="1476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Automatizar tareas repetitivas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Automatizar tareas como enviar correos electrónicos, crear documentos y actualizar registros.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12"/>
          <p:cNvSpPr txBox="1"/>
          <p:nvPr/>
        </p:nvSpPr>
        <p:spPr>
          <a:xfrm>
            <a:off x="2462943" y="4320656"/>
            <a:ext cx="14817970" cy="1476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Automatización robótica de procesos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Automatizar tareas repetitivas en aplicaciones de escritorio, como la introducción de datos o la extracción de datos.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12"/>
          <p:cNvSpPr txBox="1"/>
          <p:nvPr/>
        </p:nvSpPr>
        <p:spPr>
          <a:xfrm>
            <a:off x="2462943" y="6425681"/>
            <a:ext cx="14358152" cy="1971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Creación de flujos de trabajos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Crear flujos de trabajo automatizados complejos que abarcan diferentes aplicaciones y servicios, como la aprobación de solicitudes de vacaciones o el procesamiento de pedidos.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0" name="Google Shape;310;p13"/>
          <p:cNvGrpSpPr/>
          <p:nvPr/>
        </p:nvGrpSpPr>
        <p:grpSpPr>
          <a:xfrm>
            <a:off x="0" y="8824911"/>
            <a:ext cx="7251395" cy="1479444"/>
            <a:chOff x="0" y="-38100"/>
            <a:chExt cx="1909832" cy="389648"/>
          </a:xfrm>
        </p:grpSpPr>
        <p:sp>
          <p:nvSpPr>
            <p:cNvPr id="311" name="Google Shape;311;p13"/>
            <p:cNvSpPr/>
            <p:nvPr/>
          </p:nvSpPr>
          <p:spPr>
            <a:xfrm>
              <a:off x="0" y="0"/>
              <a:ext cx="1909832" cy="351548"/>
            </a:xfrm>
            <a:custGeom>
              <a:rect b="b" l="l" r="r" t="t"/>
              <a:pathLst>
                <a:path extrusionOk="0" h="351548" w="1909832">
                  <a:moveTo>
                    <a:pt x="0" y="0"/>
                  </a:moveTo>
                  <a:lnTo>
                    <a:pt x="1909832" y="0"/>
                  </a:lnTo>
                  <a:lnTo>
                    <a:pt x="1909832" y="351548"/>
                  </a:lnTo>
                  <a:lnTo>
                    <a:pt x="0" y="351548"/>
                  </a:lnTo>
                  <a:close/>
                </a:path>
              </a:pathLst>
            </a:custGeom>
            <a:solidFill>
              <a:srgbClr val="0A8987"/>
            </a:solidFill>
            <a:ln>
              <a:noFill/>
            </a:ln>
          </p:spPr>
        </p:sp>
        <p:sp>
          <p:nvSpPr>
            <p:cNvPr id="312" name="Google Shape;312;p13"/>
            <p:cNvSpPr txBox="1"/>
            <p:nvPr/>
          </p:nvSpPr>
          <p:spPr>
            <a:xfrm>
              <a:off x="0" y="-38100"/>
              <a:ext cx="1909832" cy="3896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13" name="Google Shape;313;p13"/>
          <p:cNvGrpSpPr/>
          <p:nvPr/>
        </p:nvGrpSpPr>
        <p:grpSpPr>
          <a:xfrm>
            <a:off x="0" y="9113639"/>
            <a:ext cx="18288000" cy="1173361"/>
            <a:chOff x="0" y="-38100"/>
            <a:chExt cx="4816593" cy="309033"/>
          </a:xfrm>
        </p:grpSpPr>
        <p:sp>
          <p:nvSpPr>
            <p:cNvPr id="314" name="Google Shape;314;p13"/>
            <p:cNvSpPr/>
            <p:nvPr/>
          </p:nvSpPr>
          <p:spPr>
            <a:xfrm>
              <a:off x="0" y="0"/>
              <a:ext cx="4816592" cy="270933"/>
            </a:xfrm>
            <a:custGeom>
              <a:rect b="b" l="l" r="r" t="t"/>
              <a:pathLst>
                <a:path extrusionOk="0" h="2709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</p:sp>
        <p:sp>
          <p:nvSpPr>
            <p:cNvPr id="315" name="Google Shape;315;p13"/>
            <p:cNvSpPr txBox="1"/>
            <p:nvPr/>
          </p:nvSpPr>
          <p:spPr>
            <a:xfrm>
              <a:off x="0" y="-38100"/>
              <a:ext cx="4816593" cy="3090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16" name="Google Shape;316;p13"/>
          <p:cNvSpPr/>
          <p:nvPr/>
        </p:nvSpPr>
        <p:spPr>
          <a:xfrm>
            <a:off x="1028700" y="1932636"/>
            <a:ext cx="16230600" cy="6167628"/>
          </a:xfrm>
          <a:custGeom>
            <a:rect b="b" l="l" r="r" t="t"/>
            <a:pathLst>
              <a:path extrusionOk="0" h="6167628" w="16230600">
                <a:moveTo>
                  <a:pt x="0" y="0"/>
                </a:moveTo>
                <a:lnTo>
                  <a:pt x="16230600" y="0"/>
                </a:lnTo>
                <a:lnTo>
                  <a:pt x="16230600" y="6167628"/>
                </a:lnTo>
                <a:lnTo>
                  <a:pt x="0" y="61676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17" name="Google Shape;317;p13"/>
          <p:cNvSpPr txBox="1"/>
          <p:nvPr/>
        </p:nvSpPr>
        <p:spPr>
          <a:xfrm>
            <a:off x="3496932" y="971550"/>
            <a:ext cx="11294135" cy="81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i="0" lang="en-US" sz="5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Precios de Power Automate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2" name="Google Shape;322;p14"/>
          <p:cNvGrpSpPr/>
          <p:nvPr/>
        </p:nvGrpSpPr>
        <p:grpSpPr>
          <a:xfrm>
            <a:off x="16776087" y="-539578"/>
            <a:ext cx="2344551" cy="2157882"/>
            <a:chOff x="0" y="-38100"/>
            <a:chExt cx="617495" cy="568331"/>
          </a:xfrm>
        </p:grpSpPr>
        <p:sp>
          <p:nvSpPr>
            <p:cNvPr id="323" name="Google Shape;323;p14"/>
            <p:cNvSpPr/>
            <p:nvPr/>
          </p:nvSpPr>
          <p:spPr>
            <a:xfrm>
              <a:off x="0" y="0"/>
              <a:ext cx="617495" cy="530231"/>
            </a:xfrm>
            <a:custGeom>
              <a:rect b="b" l="l" r="r" t="t"/>
              <a:pathLst>
                <a:path extrusionOk="0" h="530231" w="617495">
                  <a:moveTo>
                    <a:pt x="0" y="0"/>
                  </a:moveTo>
                  <a:lnTo>
                    <a:pt x="617495" y="0"/>
                  </a:lnTo>
                  <a:lnTo>
                    <a:pt x="617495" y="530231"/>
                  </a:lnTo>
                  <a:lnTo>
                    <a:pt x="0" y="530231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</p:sp>
        <p:sp>
          <p:nvSpPr>
            <p:cNvPr id="324" name="Google Shape;324;p14"/>
            <p:cNvSpPr txBox="1"/>
            <p:nvPr/>
          </p:nvSpPr>
          <p:spPr>
            <a:xfrm>
              <a:off x="0" y="-38100"/>
              <a:ext cx="617495" cy="568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5" name="Google Shape;325;p14"/>
          <p:cNvGrpSpPr/>
          <p:nvPr/>
        </p:nvGrpSpPr>
        <p:grpSpPr>
          <a:xfrm>
            <a:off x="17259300" y="641994"/>
            <a:ext cx="3086100" cy="3120318"/>
            <a:chOff x="0" y="-38100"/>
            <a:chExt cx="812800" cy="821812"/>
          </a:xfrm>
        </p:grpSpPr>
        <p:sp>
          <p:nvSpPr>
            <p:cNvPr id="326" name="Google Shape;326;p14"/>
            <p:cNvSpPr/>
            <p:nvPr/>
          </p:nvSpPr>
          <p:spPr>
            <a:xfrm>
              <a:off x="0" y="0"/>
              <a:ext cx="812800" cy="783712"/>
            </a:xfrm>
            <a:custGeom>
              <a:rect b="b" l="l" r="r" t="t"/>
              <a:pathLst>
                <a:path extrusionOk="0" h="78371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783712"/>
                  </a:lnTo>
                  <a:lnTo>
                    <a:pt x="0" y="783712"/>
                  </a:lnTo>
                  <a:close/>
                </a:path>
              </a:pathLst>
            </a:custGeom>
            <a:solidFill>
              <a:srgbClr val="0A8987"/>
            </a:solidFill>
            <a:ln>
              <a:noFill/>
            </a:ln>
          </p:spPr>
        </p:sp>
        <p:sp>
          <p:nvSpPr>
            <p:cNvPr id="327" name="Google Shape;327;p14"/>
            <p:cNvSpPr txBox="1"/>
            <p:nvPr/>
          </p:nvSpPr>
          <p:spPr>
            <a:xfrm>
              <a:off x="0" y="-38100"/>
              <a:ext cx="812800" cy="821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28" name="Google Shape;328;p14"/>
          <p:cNvSpPr/>
          <p:nvPr/>
        </p:nvSpPr>
        <p:spPr>
          <a:xfrm>
            <a:off x="1616075" y="2274484"/>
            <a:ext cx="3205523" cy="3136262"/>
          </a:xfrm>
          <a:custGeom>
            <a:rect b="b" l="l" r="r" t="t"/>
            <a:pathLst>
              <a:path extrusionOk="0" h="3136262" w="3205523">
                <a:moveTo>
                  <a:pt x="0" y="0"/>
                </a:moveTo>
                <a:lnTo>
                  <a:pt x="3205523" y="0"/>
                </a:lnTo>
                <a:lnTo>
                  <a:pt x="3205523" y="3136261"/>
                </a:lnTo>
                <a:lnTo>
                  <a:pt x="0" y="313626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9481" l="-52764" r="-53635" t="-9183"/>
            </a:stretch>
          </a:blipFill>
          <a:ln cap="sq" cmpd="sng" w="19050">
            <a:solidFill>
              <a:srgbClr val="29303C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329" name="Google Shape;329;p14"/>
          <p:cNvSpPr/>
          <p:nvPr/>
        </p:nvSpPr>
        <p:spPr>
          <a:xfrm>
            <a:off x="7176109" y="2274484"/>
            <a:ext cx="3136262" cy="3136262"/>
          </a:xfrm>
          <a:custGeom>
            <a:rect b="b" l="l" r="r" t="t"/>
            <a:pathLst>
              <a:path extrusionOk="0" h="3136262" w="3136262">
                <a:moveTo>
                  <a:pt x="0" y="0"/>
                </a:moveTo>
                <a:lnTo>
                  <a:pt x="3136262" y="0"/>
                </a:lnTo>
                <a:lnTo>
                  <a:pt x="3136262" y="3136261"/>
                </a:lnTo>
                <a:lnTo>
                  <a:pt x="0" y="313626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 cap="sq" cmpd="sng" w="19050">
            <a:solidFill>
              <a:srgbClr val="29303C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330" name="Google Shape;330;p14"/>
          <p:cNvSpPr/>
          <p:nvPr/>
        </p:nvSpPr>
        <p:spPr>
          <a:xfrm>
            <a:off x="13323518" y="2274484"/>
            <a:ext cx="3136262" cy="3136262"/>
          </a:xfrm>
          <a:custGeom>
            <a:rect b="b" l="l" r="r" t="t"/>
            <a:pathLst>
              <a:path extrusionOk="0" h="3136262" w="3136262">
                <a:moveTo>
                  <a:pt x="0" y="0"/>
                </a:moveTo>
                <a:lnTo>
                  <a:pt x="3136262" y="0"/>
                </a:lnTo>
                <a:lnTo>
                  <a:pt x="3136262" y="3136261"/>
                </a:lnTo>
                <a:lnTo>
                  <a:pt x="0" y="313626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 cap="sq" cmpd="sng" w="19050">
            <a:solidFill>
              <a:srgbClr val="29303C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331" name="Google Shape;331;p14"/>
          <p:cNvSpPr txBox="1"/>
          <p:nvPr/>
        </p:nvSpPr>
        <p:spPr>
          <a:xfrm>
            <a:off x="1028700" y="332293"/>
            <a:ext cx="15431080" cy="163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i="0" lang="en-US" sz="5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OTRAS APLICACIONES DE MICROSOFT POWER PLATFORMS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2" name="Google Shape;332;p14"/>
          <p:cNvCxnSpPr/>
          <p:nvPr/>
        </p:nvCxnSpPr>
        <p:spPr>
          <a:xfrm>
            <a:off x="5866130" y="2416413"/>
            <a:ext cx="0" cy="6841887"/>
          </a:xfrm>
          <a:prstGeom prst="straightConnector1">
            <a:avLst/>
          </a:prstGeom>
          <a:noFill/>
          <a:ln cap="flat" cmpd="sng" w="38100">
            <a:solidFill>
              <a:srgbClr val="29303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3" name="Google Shape;333;p14"/>
          <p:cNvCxnSpPr/>
          <p:nvPr/>
        </p:nvCxnSpPr>
        <p:spPr>
          <a:xfrm>
            <a:off x="12209780" y="2416413"/>
            <a:ext cx="0" cy="6841887"/>
          </a:xfrm>
          <a:prstGeom prst="straightConnector1">
            <a:avLst/>
          </a:prstGeom>
          <a:noFill/>
          <a:ln cap="flat" cmpd="sng" w="38100">
            <a:solidFill>
              <a:srgbClr val="29303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4" name="Google Shape;334;p14"/>
          <p:cNvSpPr txBox="1"/>
          <p:nvPr/>
        </p:nvSpPr>
        <p:spPr>
          <a:xfrm>
            <a:off x="1226812" y="5696495"/>
            <a:ext cx="3984049" cy="395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Es una herramienta completa de visualización y análisis de datos que nos permite convertir nuestros datos en información útil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14"/>
          <p:cNvSpPr txBox="1"/>
          <p:nvPr/>
        </p:nvSpPr>
        <p:spPr>
          <a:xfrm>
            <a:off x="6752215" y="5696495"/>
            <a:ext cx="3984049" cy="395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Plataforma para la creación de chatbots y asistentes virtuales que nos permite crear chatbots que pueden interactuar con los usuarios de forma natural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14"/>
          <p:cNvSpPr txBox="1"/>
          <p:nvPr/>
        </p:nvSpPr>
        <p:spPr>
          <a:xfrm>
            <a:off x="12899625" y="5696495"/>
            <a:ext cx="3984049" cy="395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Es una plataforma de creación de sitios web sin código que nos permite crear sitios web modernos y profesionales sin necesidad de ser un programador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5"/>
          <p:cNvSpPr txBox="1"/>
          <p:nvPr/>
        </p:nvSpPr>
        <p:spPr>
          <a:xfrm>
            <a:off x="2334521" y="599507"/>
            <a:ext cx="13395714" cy="1971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VENTAJAS DE MICROSOFT POWER PLATFORMS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42" name="Google Shape;342;p15"/>
          <p:cNvGrpSpPr/>
          <p:nvPr/>
        </p:nvGrpSpPr>
        <p:grpSpPr>
          <a:xfrm>
            <a:off x="16487775" y="8897057"/>
            <a:ext cx="1800225" cy="1389943"/>
            <a:chOff x="0" y="-38100"/>
            <a:chExt cx="474133" cy="366075"/>
          </a:xfrm>
        </p:grpSpPr>
        <p:sp>
          <p:nvSpPr>
            <p:cNvPr id="343" name="Google Shape;343;p15"/>
            <p:cNvSpPr/>
            <p:nvPr/>
          </p:nvSpPr>
          <p:spPr>
            <a:xfrm>
              <a:off x="0" y="0"/>
              <a:ext cx="474133" cy="327975"/>
            </a:xfrm>
            <a:custGeom>
              <a:rect b="b" l="l" r="r" t="t"/>
              <a:pathLst>
                <a:path extrusionOk="0" h="327975" w="474133">
                  <a:moveTo>
                    <a:pt x="0" y="0"/>
                  </a:moveTo>
                  <a:lnTo>
                    <a:pt x="474133" y="0"/>
                  </a:lnTo>
                  <a:lnTo>
                    <a:pt x="474133" y="327975"/>
                  </a:lnTo>
                  <a:lnTo>
                    <a:pt x="0" y="327975"/>
                  </a:lnTo>
                  <a:close/>
                </a:path>
              </a:pathLst>
            </a:custGeom>
            <a:solidFill>
              <a:srgbClr val="0A8987"/>
            </a:solidFill>
            <a:ln>
              <a:noFill/>
            </a:ln>
          </p:spPr>
        </p:sp>
        <p:sp>
          <p:nvSpPr>
            <p:cNvPr id="344" name="Google Shape;344;p15"/>
            <p:cNvSpPr txBox="1"/>
            <p:nvPr/>
          </p:nvSpPr>
          <p:spPr>
            <a:xfrm>
              <a:off x="0" y="-38100"/>
              <a:ext cx="474133" cy="3660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45" name="Google Shape;345;p15"/>
          <p:cNvGrpSpPr/>
          <p:nvPr/>
        </p:nvGrpSpPr>
        <p:grpSpPr>
          <a:xfrm>
            <a:off x="0" y="9113639"/>
            <a:ext cx="18288000" cy="1173361"/>
            <a:chOff x="0" y="-38100"/>
            <a:chExt cx="4816593" cy="309033"/>
          </a:xfrm>
        </p:grpSpPr>
        <p:sp>
          <p:nvSpPr>
            <p:cNvPr id="346" name="Google Shape;346;p15"/>
            <p:cNvSpPr/>
            <p:nvPr/>
          </p:nvSpPr>
          <p:spPr>
            <a:xfrm>
              <a:off x="0" y="0"/>
              <a:ext cx="4816592" cy="270933"/>
            </a:xfrm>
            <a:custGeom>
              <a:rect b="b" l="l" r="r" t="t"/>
              <a:pathLst>
                <a:path extrusionOk="0" h="2709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</p:sp>
        <p:sp>
          <p:nvSpPr>
            <p:cNvPr id="347" name="Google Shape;347;p15"/>
            <p:cNvSpPr txBox="1"/>
            <p:nvPr/>
          </p:nvSpPr>
          <p:spPr>
            <a:xfrm>
              <a:off x="0" y="-38100"/>
              <a:ext cx="4816593" cy="3090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48" name="Google Shape;348;p15"/>
          <p:cNvGrpSpPr/>
          <p:nvPr/>
        </p:nvGrpSpPr>
        <p:grpSpPr>
          <a:xfrm>
            <a:off x="1410785" y="2955357"/>
            <a:ext cx="731003" cy="760368"/>
            <a:chOff x="0" y="0"/>
            <a:chExt cx="974670" cy="1013824"/>
          </a:xfrm>
        </p:grpSpPr>
        <p:sp>
          <p:nvSpPr>
            <p:cNvPr id="349" name="Google Shape;349;p15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0A89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0" name="Google Shape;350;p15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24"/>
                <a:buFont typeface="Arial"/>
                <a:buNone/>
              </a:pPr>
              <a:r>
                <a:rPr b="1" i="0" lang="en-US" sz="3924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51" name="Google Shape;351;p15"/>
          <p:cNvGrpSpPr/>
          <p:nvPr/>
        </p:nvGrpSpPr>
        <p:grpSpPr>
          <a:xfrm>
            <a:off x="1410785" y="4744834"/>
            <a:ext cx="731003" cy="760368"/>
            <a:chOff x="0" y="0"/>
            <a:chExt cx="974670" cy="1013824"/>
          </a:xfrm>
        </p:grpSpPr>
        <p:sp>
          <p:nvSpPr>
            <p:cNvPr id="352" name="Google Shape;352;p15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0A89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3" name="Google Shape;353;p15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24"/>
                <a:buFont typeface="Arial"/>
                <a:buNone/>
              </a:pPr>
              <a:r>
                <a:rPr b="1" i="0" lang="en-US" sz="3924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54" name="Google Shape;354;p15"/>
          <p:cNvGrpSpPr/>
          <p:nvPr/>
        </p:nvGrpSpPr>
        <p:grpSpPr>
          <a:xfrm>
            <a:off x="1410785" y="6581527"/>
            <a:ext cx="731003" cy="760368"/>
            <a:chOff x="0" y="0"/>
            <a:chExt cx="974670" cy="1013824"/>
          </a:xfrm>
        </p:grpSpPr>
        <p:sp>
          <p:nvSpPr>
            <p:cNvPr id="355" name="Google Shape;355;p15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0A89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6" name="Google Shape;356;p15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24"/>
                <a:buFont typeface="Arial"/>
                <a:buNone/>
              </a:pPr>
              <a:r>
                <a:rPr b="1" i="0" lang="en-US" sz="3924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57" name="Google Shape;357;p15"/>
          <p:cNvSpPr txBox="1"/>
          <p:nvPr/>
        </p:nvSpPr>
        <p:spPr>
          <a:xfrm>
            <a:off x="2334521" y="2828357"/>
            <a:ext cx="14924779" cy="1476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Ahorro de costos de personal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Disminuye los gastos en desarrollo de aplicaciones al permitir que los usuarios no técnicos puedan crear soluciones empresariales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15"/>
          <p:cNvSpPr txBox="1"/>
          <p:nvPr/>
        </p:nvSpPr>
        <p:spPr>
          <a:xfrm>
            <a:off x="2334521" y="4639243"/>
            <a:ext cx="14817970" cy="1476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Integración perfecta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Se integran perfectamente con otras herramientas de Microsoft, como Office 365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15"/>
          <p:cNvSpPr txBox="1"/>
          <p:nvPr/>
        </p:nvSpPr>
        <p:spPr>
          <a:xfrm>
            <a:off x="2334521" y="6525193"/>
            <a:ext cx="14358152" cy="1476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Desarrollo rápido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Permiten un desarrollo rápido de soluciones a la medida, lo que reduce el tiempo de lanzamiento al mercado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16"/>
          <p:cNvSpPr txBox="1"/>
          <p:nvPr/>
        </p:nvSpPr>
        <p:spPr>
          <a:xfrm>
            <a:off x="2037864" y="298450"/>
            <a:ext cx="14951464" cy="1971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DESVENTAJAS DE MICROSOFT POWER PLATFORMS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65" name="Google Shape;365;p16"/>
          <p:cNvGrpSpPr/>
          <p:nvPr/>
        </p:nvGrpSpPr>
        <p:grpSpPr>
          <a:xfrm>
            <a:off x="0" y="8897057"/>
            <a:ext cx="1800225" cy="1389943"/>
            <a:chOff x="0" y="-38100"/>
            <a:chExt cx="474133" cy="366075"/>
          </a:xfrm>
        </p:grpSpPr>
        <p:sp>
          <p:nvSpPr>
            <p:cNvPr id="366" name="Google Shape;366;p16"/>
            <p:cNvSpPr/>
            <p:nvPr/>
          </p:nvSpPr>
          <p:spPr>
            <a:xfrm>
              <a:off x="0" y="0"/>
              <a:ext cx="474133" cy="327975"/>
            </a:xfrm>
            <a:custGeom>
              <a:rect b="b" l="l" r="r" t="t"/>
              <a:pathLst>
                <a:path extrusionOk="0" h="327975" w="474133">
                  <a:moveTo>
                    <a:pt x="0" y="0"/>
                  </a:moveTo>
                  <a:lnTo>
                    <a:pt x="474133" y="0"/>
                  </a:lnTo>
                  <a:lnTo>
                    <a:pt x="474133" y="327975"/>
                  </a:lnTo>
                  <a:lnTo>
                    <a:pt x="0" y="327975"/>
                  </a:lnTo>
                  <a:close/>
                </a:path>
              </a:pathLst>
            </a:custGeom>
            <a:solidFill>
              <a:srgbClr val="0A8987"/>
            </a:solidFill>
            <a:ln>
              <a:noFill/>
            </a:ln>
          </p:spPr>
        </p:sp>
        <p:sp>
          <p:nvSpPr>
            <p:cNvPr id="367" name="Google Shape;367;p16"/>
            <p:cNvSpPr txBox="1"/>
            <p:nvPr/>
          </p:nvSpPr>
          <p:spPr>
            <a:xfrm>
              <a:off x="0" y="-38100"/>
              <a:ext cx="474133" cy="3660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8" name="Google Shape;368;p16"/>
          <p:cNvGrpSpPr/>
          <p:nvPr/>
        </p:nvGrpSpPr>
        <p:grpSpPr>
          <a:xfrm>
            <a:off x="0" y="9113639"/>
            <a:ext cx="18288000" cy="1173361"/>
            <a:chOff x="0" y="-38100"/>
            <a:chExt cx="4816593" cy="309033"/>
          </a:xfrm>
        </p:grpSpPr>
        <p:sp>
          <p:nvSpPr>
            <p:cNvPr id="369" name="Google Shape;369;p16"/>
            <p:cNvSpPr/>
            <p:nvPr/>
          </p:nvSpPr>
          <p:spPr>
            <a:xfrm>
              <a:off x="0" y="0"/>
              <a:ext cx="4816592" cy="270933"/>
            </a:xfrm>
            <a:custGeom>
              <a:rect b="b" l="l" r="r" t="t"/>
              <a:pathLst>
                <a:path extrusionOk="0" h="2709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</p:sp>
        <p:sp>
          <p:nvSpPr>
            <p:cNvPr id="370" name="Google Shape;370;p16"/>
            <p:cNvSpPr txBox="1"/>
            <p:nvPr/>
          </p:nvSpPr>
          <p:spPr>
            <a:xfrm>
              <a:off x="0" y="-38100"/>
              <a:ext cx="4816593" cy="3090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71" name="Google Shape;371;p16"/>
          <p:cNvGrpSpPr/>
          <p:nvPr/>
        </p:nvGrpSpPr>
        <p:grpSpPr>
          <a:xfrm>
            <a:off x="1410785" y="2491671"/>
            <a:ext cx="731003" cy="760368"/>
            <a:chOff x="0" y="0"/>
            <a:chExt cx="974670" cy="1013824"/>
          </a:xfrm>
        </p:grpSpPr>
        <p:sp>
          <p:nvSpPr>
            <p:cNvPr id="372" name="Google Shape;372;p16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0A89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3" name="Google Shape;373;p16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24"/>
                <a:buFont typeface="Arial"/>
                <a:buNone/>
              </a:pPr>
              <a:r>
                <a:rPr b="1" i="0" lang="en-US" sz="3924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74" name="Google Shape;374;p16"/>
          <p:cNvGrpSpPr/>
          <p:nvPr/>
        </p:nvGrpSpPr>
        <p:grpSpPr>
          <a:xfrm>
            <a:off x="1410785" y="4576014"/>
            <a:ext cx="731003" cy="760368"/>
            <a:chOff x="0" y="0"/>
            <a:chExt cx="974670" cy="1013824"/>
          </a:xfrm>
        </p:grpSpPr>
        <p:sp>
          <p:nvSpPr>
            <p:cNvPr id="375" name="Google Shape;375;p16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0A89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6" name="Google Shape;376;p16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24"/>
                <a:buFont typeface="Arial"/>
                <a:buNone/>
              </a:pPr>
              <a:r>
                <a:rPr b="1" i="0" lang="en-US" sz="3924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77" name="Google Shape;377;p16"/>
          <p:cNvGrpSpPr/>
          <p:nvPr/>
        </p:nvGrpSpPr>
        <p:grpSpPr>
          <a:xfrm>
            <a:off x="1410785" y="6631782"/>
            <a:ext cx="731003" cy="760368"/>
            <a:chOff x="0" y="0"/>
            <a:chExt cx="974670" cy="1013824"/>
          </a:xfrm>
        </p:grpSpPr>
        <p:sp>
          <p:nvSpPr>
            <p:cNvPr id="378" name="Google Shape;378;p16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0A89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9" name="Google Shape;379;p16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24"/>
                <a:buFont typeface="Arial"/>
                <a:buNone/>
              </a:pPr>
              <a:r>
                <a:rPr b="1" i="0" lang="en-US" sz="3924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80" name="Google Shape;380;p16"/>
          <p:cNvSpPr txBox="1"/>
          <p:nvPr/>
        </p:nvSpPr>
        <p:spPr>
          <a:xfrm>
            <a:off x="2334521" y="2364671"/>
            <a:ext cx="14924779" cy="1476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Limitaciones de privacidad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Pueden surgir problemas de privacidad, especialmente al integrar la plataforma con otras herramientas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16"/>
          <p:cNvSpPr txBox="1"/>
          <p:nvPr/>
        </p:nvSpPr>
        <p:spPr>
          <a:xfrm>
            <a:off x="2334521" y="4470423"/>
            <a:ext cx="14817970" cy="1476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Dependencia de Microsoft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La dependencia de la plataforma de Microsoft puede limitar la flexibilidad y la capacidad de integrarse con otras herramientas externas.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16"/>
          <p:cNvSpPr txBox="1"/>
          <p:nvPr/>
        </p:nvSpPr>
        <p:spPr>
          <a:xfrm>
            <a:off x="2334521" y="6575448"/>
            <a:ext cx="14358152" cy="1971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Costos por suscripción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La suscripción a las herramientas de la plataforma puede resultar costosa, especialmente para pequeñas empresas o organizaciones con pocos usuarios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17"/>
          <p:cNvSpPr txBox="1"/>
          <p:nvPr/>
        </p:nvSpPr>
        <p:spPr>
          <a:xfrm>
            <a:off x="6420085" y="2861681"/>
            <a:ext cx="6860705" cy="1120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99"/>
              <a:buFont typeface="Arial"/>
              <a:buNone/>
            </a:pPr>
            <a:r>
              <a:rPr b="0" i="0" lang="en-US" sz="6999" u="none" cap="none" strike="noStrike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PARTE PRÁTICA 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17"/>
          <p:cNvSpPr txBox="1"/>
          <p:nvPr/>
        </p:nvSpPr>
        <p:spPr>
          <a:xfrm>
            <a:off x="2162609" y="3925306"/>
            <a:ext cx="14581906" cy="22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99"/>
              <a:buFont typeface="Arial"/>
              <a:buNone/>
            </a:pPr>
            <a:r>
              <a:rPr b="0" i="0" lang="en-US" sz="6999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CONFIGURACIÓN Y USO DE POWER APPS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17"/>
          <p:cNvSpPr/>
          <p:nvPr/>
        </p:nvSpPr>
        <p:spPr>
          <a:xfrm flipH="1" rot="5679621">
            <a:off x="7672969" y="926401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1"/>
                </a:moveTo>
                <a:lnTo>
                  <a:pt x="3138698" y="18364721"/>
                </a:lnTo>
                <a:lnTo>
                  <a:pt x="3138698" y="0"/>
                </a:lnTo>
                <a:lnTo>
                  <a:pt x="0" y="0"/>
                </a:lnTo>
                <a:lnTo>
                  <a:pt x="0" y="18364721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90" name="Google Shape;390;p17"/>
          <p:cNvSpPr/>
          <p:nvPr/>
        </p:nvSpPr>
        <p:spPr>
          <a:xfrm flipH="1" rot="5679621">
            <a:off x="7856925" y="1104639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2"/>
                </a:moveTo>
                <a:lnTo>
                  <a:pt x="3138697" y="18364722"/>
                </a:lnTo>
                <a:lnTo>
                  <a:pt x="3138697" y="0"/>
                </a:lnTo>
                <a:lnTo>
                  <a:pt x="0" y="0"/>
                </a:lnTo>
                <a:lnTo>
                  <a:pt x="0" y="18364722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18"/>
          <p:cNvSpPr txBox="1"/>
          <p:nvPr/>
        </p:nvSpPr>
        <p:spPr>
          <a:xfrm>
            <a:off x="5995921" y="2861681"/>
            <a:ext cx="6860705" cy="1120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99"/>
              <a:buFont typeface="Arial"/>
              <a:buNone/>
            </a:pPr>
            <a:r>
              <a:rPr b="0" i="0" lang="en-US" sz="6999" u="none" cap="none" strike="noStrike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PARTE PRÁTICA II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18"/>
          <p:cNvSpPr txBox="1"/>
          <p:nvPr/>
        </p:nvSpPr>
        <p:spPr>
          <a:xfrm>
            <a:off x="2162609" y="3925306"/>
            <a:ext cx="14581906" cy="22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99"/>
              <a:buFont typeface="Arial"/>
              <a:buNone/>
            </a:pPr>
            <a:r>
              <a:rPr b="0" i="0" lang="en-US" sz="6999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CONFIGURACIÓN DE POWER AUTOAMTE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18"/>
          <p:cNvSpPr/>
          <p:nvPr/>
        </p:nvSpPr>
        <p:spPr>
          <a:xfrm flipH="1" rot="5679621">
            <a:off x="7672969" y="926401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1"/>
                </a:moveTo>
                <a:lnTo>
                  <a:pt x="3138698" y="18364721"/>
                </a:lnTo>
                <a:lnTo>
                  <a:pt x="3138698" y="0"/>
                </a:lnTo>
                <a:lnTo>
                  <a:pt x="0" y="0"/>
                </a:lnTo>
                <a:lnTo>
                  <a:pt x="0" y="18364721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98" name="Google Shape;398;p18"/>
          <p:cNvSpPr/>
          <p:nvPr/>
        </p:nvSpPr>
        <p:spPr>
          <a:xfrm flipH="1" rot="5679621">
            <a:off x="7856925" y="1104639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2"/>
                </a:moveTo>
                <a:lnTo>
                  <a:pt x="3138697" y="18364722"/>
                </a:lnTo>
                <a:lnTo>
                  <a:pt x="3138697" y="0"/>
                </a:lnTo>
                <a:lnTo>
                  <a:pt x="0" y="0"/>
                </a:lnTo>
                <a:lnTo>
                  <a:pt x="0" y="18364722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19"/>
          <p:cNvSpPr txBox="1"/>
          <p:nvPr/>
        </p:nvSpPr>
        <p:spPr>
          <a:xfrm>
            <a:off x="5542868" y="644847"/>
            <a:ext cx="7454705" cy="1120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99"/>
              <a:buFont typeface="Arial"/>
              <a:buNone/>
            </a:pPr>
            <a:r>
              <a:rPr b="0" i="0" lang="en-US" sz="6999" u="none" cap="none" strike="noStrike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VALOR O ACTITUD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19"/>
          <p:cNvSpPr txBox="1"/>
          <p:nvPr/>
        </p:nvSpPr>
        <p:spPr>
          <a:xfrm>
            <a:off x="636925" y="1765625"/>
            <a:ext cx="16770300" cy="69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998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38"/>
              <a:buFont typeface="Arial"/>
              <a:buNone/>
            </a:pPr>
            <a:r>
              <a:rPr b="1" i="0" lang="en-US" sz="3938" u="none" cap="none" strike="noStrike">
                <a:solidFill>
                  <a:srgbClr val="0A8987"/>
                </a:solidFill>
                <a:latin typeface="Arial"/>
                <a:ea typeface="Arial"/>
                <a:cs typeface="Arial"/>
                <a:sym typeface="Arial"/>
              </a:rPr>
              <a:t>Empatía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25154" lvl="1" marL="850308" marR="0" rtl="0" algn="l">
              <a:lnSpc>
                <a:spcPct val="129989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3938"/>
              <a:buFont typeface="Arial"/>
              <a:buChar char="•"/>
            </a:pPr>
            <a:r>
              <a:rPr b="0" i="0" lang="en-US" sz="3938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En un proyecto universitario o de desarrollo cloud, un estudiante o desarrollador demuestra empatía al escuchar con atención las ideas, inquietudes y dificultades de sus compañeros, sin interrumpir ni juzgar.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25154" lvl="1" marL="850308" marR="0" rtl="0" algn="l">
              <a:lnSpc>
                <a:spcPct val="129989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3938"/>
              <a:buFont typeface="Arial"/>
              <a:buChar char="•"/>
            </a:pPr>
            <a:r>
              <a:rPr b="0" i="0" lang="en-US" sz="3938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En épocas de alta demanda académica o de presión por entregas en la nube, alguien empático detecta señales de estrés en sus colegas y actúa con comprensión, ajustando plazos si es posible, ofreciendo apoyo o simplemente mostrando interés genuino por el bienestar del otro.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19"/>
          <p:cNvSpPr/>
          <p:nvPr/>
        </p:nvSpPr>
        <p:spPr>
          <a:xfrm flipH="1" rot="-5252869">
            <a:off x="7166333" y="2041017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3138698" y="0"/>
                </a:moveTo>
                <a:lnTo>
                  <a:pt x="0" y="0"/>
                </a:lnTo>
                <a:lnTo>
                  <a:pt x="0" y="18364721"/>
                </a:lnTo>
                <a:lnTo>
                  <a:pt x="3138698" y="18364721"/>
                </a:lnTo>
                <a:lnTo>
                  <a:pt x="3138698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06" name="Google Shape;406;p19"/>
          <p:cNvSpPr/>
          <p:nvPr/>
        </p:nvSpPr>
        <p:spPr>
          <a:xfrm flipH="1" rot="-5252869">
            <a:off x="7357019" y="2212036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3138698" y="0"/>
                </a:moveTo>
                <a:lnTo>
                  <a:pt x="0" y="0"/>
                </a:lnTo>
                <a:lnTo>
                  <a:pt x="0" y="18364721"/>
                </a:lnTo>
                <a:lnTo>
                  <a:pt x="3138698" y="18364721"/>
                </a:lnTo>
                <a:lnTo>
                  <a:pt x="3138698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20"/>
          <p:cNvSpPr/>
          <p:nvPr/>
        </p:nvSpPr>
        <p:spPr>
          <a:xfrm rot="5400000">
            <a:off x="1035086" y="1228236"/>
            <a:ext cx="689712" cy="702485"/>
          </a:xfrm>
          <a:custGeom>
            <a:rect b="b" l="l" r="r" t="t"/>
            <a:pathLst>
              <a:path extrusionOk="0" h="702485" w="689712">
                <a:moveTo>
                  <a:pt x="0" y="0"/>
                </a:moveTo>
                <a:lnTo>
                  <a:pt x="689713" y="0"/>
                </a:lnTo>
                <a:lnTo>
                  <a:pt x="689713" y="702485"/>
                </a:lnTo>
                <a:lnTo>
                  <a:pt x="0" y="7024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12" name="Google Shape;412;p20"/>
          <p:cNvSpPr/>
          <p:nvPr/>
        </p:nvSpPr>
        <p:spPr>
          <a:xfrm flipH="1" rot="5679621">
            <a:off x="7672969" y="926401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1"/>
                </a:moveTo>
                <a:lnTo>
                  <a:pt x="3138698" y="18364721"/>
                </a:lnTo>
                <a:lnTo>
                  <a:pt x="3138698" y="0"/>
                </a:lnTo>
                <a:lnTo>
                  <a:pt x="0" y="0"/>
                </a:lnTo>
                <a:lnTo>
                  <a:pt x="0" y="18364721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13" name="Google Shape;413;p20"/>
          <p:cNvSpPr/>
          <p:nvPr/>
        </p:nvSpPr>
        <p:spPr>
          <a:xfrm flipH="1" rot="5679621">
            <a:off x="7856925" y="1104639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2"/>
                </a:moveTo>
                <a:lnTo>
                  <a:pt x="3138697" y="18364722"/>
                </a:lnTo>
                <a:lnTo>
                  <a:pt x="3138697" y="0"/>
                </a:lnTo>
                <a:lnTo>
                  <a:pt x="0" y="0"/>
                </a:lnTo>
                <a:lnTo>
                  <a:pt x="0" y="18364722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14" name="Google Shape;414;p20"/>
          <p:cNvSpPr txBox="1"/>
          <p:nvPr/>
        </p:nvSpPr>
        <p:spPr>
          <a:xfrm>
            <a:off x="3865129" y="1230119"/>
            <a:ext cx="10557741" cy="7558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9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61"/>
              <a:buFont typeface="Arial"/>
              <a:buNone/>
            </a:pPr>
            <a:r>
              <a:rPr b="0" i="0" lang="en-US" sz="5361" u="none" cap="none" strike="noStrike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CONCEPTOS CLAVES APRENDIDOS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20"/>
          <p:cNvSpPr txBox="1"/>
          <p:nvPr/>
        </p:nvSpPr>
        <p:spPr>
          <a:xfrm>
            <a:off x="3865124" y="2672525"/>
            <a:ext cx="56211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Inteligencia Artificial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16" name="Google Shape;416;p20"/>
          <p:cNvGrpSpPr/>
          <p:nvPr/>
        </p:nvGrpSpPr>
        <p:grpSpPr>
          <a:xfrm>
            <a:off x="2905062" y="2593975"/>
            <a:ext cx="731003" cy="760368"/>
            <a:chOff x="0" y="0"/>
            <a:chExt cx="974670" cy="1013824"/>
          </a:xfrm>
        </p:grpSpPr>
        <p:sp>
          <p:nvSpPr>
            <p:cNvPr id="417" name="Google Shape;417;p20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0A89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8" name="Google Shape;418;p20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24"/>
                <a:buFont typeface="Arial"/>
                <a:buNone/>
              </a:pPr>
              <a:r>
                <a:rPr b="1" i="0" lang="en-US" sz="3924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19" name="Google Shape;419;p20"/>
          <p:cNvGrpSpPr/>
          <p:nvPr/>
        </p:nvGrpSpPr>
        <p:grpSpPr>
          <a:xfrm>
            <a:off x="2905062" y="3661478"/>
            <a:ext cx="731003" cy="760368"/>
            <a:chOff x="0" y="0"/>
            <a:chExt cx="974670" cy="1013824"/>
          </a:xfrm>
        </p:grpSpPr>
        <p:sp>
          <p:nvSpPr>
            <p:cNvPr id="420" name="Google Shape;420;p20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0A89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1" name="Google Shape;421;p20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24"/>
                <a:buFont typeface="Arial"/>
                <a:buNone/>
              </a:pPr>
              <a:r>
                <a:rPr b="1" i="0" lang="en-US" sz="3924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22" name="Google Shape;422;p20"/>
          <p:cNvGrpSpPr/>
          <p:nvPr/>
        </p:nvGrpSpPr>
        <p:grpSpPr>
          <a:xfrm>
            <a:off x="2905062" y="4825036"/>
            <a:ext cx="731003" cy="760368"/>
            <a:chOff x="0" y="0"/>
            <a:chExt cx="974670" cy="1013824"/>
          </a:xfrm>
        </p:grpSpPr>
        <p:sp>
          <p:nvSpPr>
            <p:cNvPr id="423" name="Google Shape;423;p20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0A89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4" name="Google Shape;424;p20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24"/>
                <a:buFont typeface="Arial"/>
                <a:buNone/>
              </a:pPr>
              <a:r>
                <a:rPr b="1" i="0" lang="en-US" sz="3924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25" name="Google Shape;425;p20"/>
          <p:cNvGrpSpPr/>
          <p:nvPr/>
        </p:nvGrpSpPr>
        <p:grpSpPr>
          <a:xfrm>
            <a:off x="2905062" y="5988595"/>
            <a:ext cx="731003" cy="760368"/>
            <a:chOff x="0" y="0"/>
            <a:chExt cx="974670" cy="1013824"/>
          </a:xfrm>
        </p:grpSpPr>
        <p:sp>
          <p:nvSpPr>
            <p:cNvPr id="426" name="Google Shape;426;p20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0A89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7" name="Google Shape;427;p20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24"/>
                <a:buFont typeface="Arial"/>
                <a:buNone/>
              </a:pPr>
              <a:r>
                <a:rPr b="1" i="0" lang="en-US" sz="3924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28" name="Google Shape;428;p20"/>
          <p:cNvSpPr txBox="1"/>
          <p:nvPr/>
        </p:nvSpPr>
        <p:spPr>
          <a:xfrm>
            <a:off x="3865123" y="4841875"/>
            <a:ext cx="53130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Lenguaje natural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20"/>
          <p:cNvSpPr txBox="1"/>
          <p:nvPr/>
        </p:nvSpPr>
        <p:spPr>
          <a:xfrm>
            <a:off x="3865124" y="6067150"/>
            <a:ext cx="56211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Gestión de usuarios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p20"/>
          <p:cNvSpPr txBox="1"/>
          <p:nvPr/>
        </p:nvSpPr>
        <p:spPr>
          <a:xfrm>
            <a:off x="3865124" y="3740025"/>
            <a:ext cx="52515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Análisis de imagenes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21"/>
          <p:cNvSpPr/>
          <p:nvPr/>
        </p:nvSpPr>
        <p:spPr>
          <a:xfrm>
            <a:off x="-242146" y="-201788"/>
            <a:ext cx="7408840" cy="10690576"/>
          </a:xfrm>
          <a:prstGeom prst="rect">
            <a:avLst/>
          </a:prstGeom>
          <a:solidFill>
            <a:srgbClr val="0A898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p21"/>
          <p:cNvSpPr/>
          <p:nvPr/>
        </p:nvSpPr>
        <p:spPr>
          <a:xfrm rot="5400000">
            <a:off x="1035086" y="8288411"/>
            <a:ext cx="689712" cy="702485"/>
          </a:xfrm>
          <a:custGeom>
            <a:rect b="b" l="l" r="r" t="t"/>
            <a:pathLst>
              <a:path extrusionOk="0" h="702485" w="689712">
                <a:moveTo>
                  <a:pt x="0" y="0"/>
                </a:moveTo>
                <a:lnTo>
                  <a:pt x="689713" y="0"/>
                </a:lnTo>
                <a:lnTo>
                  <a:pt x="689713" y="702485"/>
                </a:lnTo>
                <a:lnTo>
                  <a:pt x="0" y="7024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37" name="Google Shape;437;p21"/>
          <p:cNvSpPr txBox="1"/>
          <p:nvPr/>
        </p:nvSpPr>
        <p:spPr>
          <a:xfrm>
            <a:off x="935917" y="1369165"/>
            <a:ext cx="5294859" cy="9413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24"/>
              <a:buFont typeface="Arial"/>
              <a:buNone/>
            </a:pPr>
            <a:r>
              <a:rPr b="0" i="0" lang="en-US" sz="6624" u="none" cap="none" strike="noStrike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REFERENCIAS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p21"/>
          <p:cNvSpPr/>
          <p:nvPr/>
        </p:nvSpPr>
        <p:spPr>
          <a:xfrm>
            <a:off x="935917" y="2310552"/>
            <a:ext cx="3863467" cy="285524"/>
          </a:xfrm>
          <a:custGeom>
            <a:rect b="b" l="l" r="r" t="t"/>
            <a:pathLst>
              <a:path extrusionOk="0" h="285524" w="3863467">
                <a:moveTo>
                  <a:pt x="0" y="0"/>
                </a:moveTo>
                <a:lnTo>
                  <a:pt x="3863468" y="0"/>
                </a:lnTo>
                <a:lnTo>
                  <a:pt x="3863468" y="285524"/>
                </a:lnTo>
                <a:lnTo>
                  <a:pt x="0" y="2855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042441" l="-169" r="-7085" t="-308517"/>
            </a:stretch>
          </a:blipFill>
          <a:ln>
            <a:noFill/>
          </a:ln>
        </p:spPr>
      </p:sp>
      <p:sp>
        <p:nvSpPr>
          <p:cNvPr id="439" name="Google Shape;439;p21"/>
          <p:cNvSpPr txBox="1"/>
          <p:nvPr/>
        </p:nvSpPr>
        <p:spPr>
          <a:xfrm>
            <a:off x="7744891" y="417359"/>
            <a:ext cx="9514409" cy="82222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04982" lvl="1" marL="609967" marR="0" rtl="0" algn="l">
              <a:lnSpc>
                <a:spcPct val="129981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2825"/>
              <a:buFont typeface="Arial"/>
              <a:buChar char="•"/>
            </a:pPr>
            <a:r>
              <a:rPr b="0" i="0" lang="en-US" sz="2825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2825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Microsoft. (s.f.). Microsoft Power Platform documentation. Microsoft Learn.</a:t>
            </a:r>
            <a:r>
              <a:rPr b="0" i="0" lang="en-US" sz="2825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 https://learn.microsoft.com/en-us/power-platform/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982" lvl="1" marL="609967" marR="0" rtl="0" algn="l">
              <a:lnSpc>
                <a:spcPct val="129981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2825"/>
              <a:buFont typeface="Arial"/>
              <a:buChar char="•"/>
            </a:pPr>
            <a:r>
              <a:rPr b="0" i="0" lang="en-US" sz="2825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2825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Microsoft. (s.f.). Power BI documentation. Microsoft Learn. </a:t>
            </a:r>
            <a:r>
              <a:rPr b="0" i="0" lang="en-US" sz="2825" u="sng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https://learn.microsoft.com/en-us/power-bi/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982" lvl="1" marL="609967" marR="0" rtl="0" algn="l">
              <a:lnSpc>
                <a:spcPct val="129981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2825"/>
              <a:buFont typeface="Arial"/>
              <a:buChar char="•"/>
            </a:pPr>
            <a:r>
              <a:rPr b="0" i="0" lang="en-US" sz="2825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2825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Microsoft. (s.f.). Power Apps documentation. Microsoft Learn.</a:t>
            </a:r>
            <a:r>
              <a:rPr b="0" i="0" lang="en-US" sz="2825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 https://learn.microsoft.com/en-us/power-apps/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982" lvl="1" marL="609967" marR="0" rtl="0" algn="l">
              <a:lnSpc>
                <a:spcPct val="129981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2825"/>
              <a:buFont typeface="Arial"/>
              <a:buChar char="•"/>
            </a:pPr>
            <a:r>
              <a:rPr b="1" i="0" lang="en-US" sz="2825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 Microsoft. (s.f.). Power Automate documentation. Microsoft Learn. </a:t>
            </a:r>
            <a:r>
              <a:rPr b="0" i="0" lang="en-US" sz="2825" u="sng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https://learn.microsoft.com/en-us/power-automate/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982" lvl="1" marL="609967" marR="0" rtl="0" algn="l">
              <a:lnSpc>
                <a:spcPct val="129981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2825"/>
              <a:buFont typeface="Arial"/>
              <a:buChar char="•"/>
            </a:pPr>
            <a:r>
              <a:rPr b="1" i="0" lang="en-US" sz="2825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 Microsoft. (s.f.). Power Virtual Agents documentation. Microsoft Learn. </a:t>
            </a:r>
            <a:r>
              <a:rPr b="0" i="0" lang="en-US" sz="2825" u="sng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https://learn.microsoft.com/en-us/power-virtual-agents/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982" lvl="1" marL="609967" marR="0" rtl="0" algn="l">
              <a:lnSpc>
                <a:spcPct val="129981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2825"/>
              <a:buFont typeface="Arial"/>
              <a:buChar char="•"/>
            </a:pPr>
            <a:r>
              <a:rPr b="0" i="0" lang="en-US" sz="2825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2825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Microsoft. (s.f.). Power Pages documentation. Microsoft Learn.</a:t>
            </a:r>
            <a:r>
              <a:rPr b="0" i="0" lang="en-US" sz="2825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825" u="sng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https://learn.microsoft.com/en-us/power-pages/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22"/>
          <p:cNvSpPr txBox="1"/>
          <p:nvPr/>
        </p:nvSpPr>
        <p:spPr>
          <a:xfrm>
            <a:off x="3207779" y="4022725"/>
            <a:ext cx="11872442" cy="1120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99"/>
              <a:buFont typeface="Arial"/>
              <a:buNone/>
            </a:pPr>
            <a:r>
              <a:rPr b="0" i="0" lang="en-US" sz="6999" u="none" cap="none" strike="noStrike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¡GRACIAS POR SU ATENCIÓN!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p22"/>
          <p:cNvSpPr/>
          <p:nvPr/>
        </p:nvSpPr>
        <p:spPr>
          <a:xfrm flipH="1" rot="5679621">
            <a:off x="7672969" y="926401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1"/>
                </a:moveTo>
                <a:lnTo>
                  <a:pt x="3138698" y="18364721"/>
                </a:lnTo>
                <a:lnTo>
                  <a:pt x="3138698" y="0"/>
                </a:lnTo>
                <a:lnTo>
                  <a:pt x="0" y="0"/>
                </a:lnTo>
                <a:lnTo>
                  <a:pt x="0" y="18364721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46" name="Google Shape;446;p22"/>
          <p:cNvSpPr/>
          <p:nvPr/>
        </p:nvSpPr>
        <p:spPr>
          <a:xfrm flipH="1" rot="5679621">
            <a:off x="7856925" y="1104639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2"/>
                </a:moveTo>
                <a:lnTo>
                  <a:pt x="3138697" y="18364722"/>
                </a:lnTo>
                <a:lnTo>
                  <a:pt x="3138697" y="0"/>
                </a:lnTo>
                <a:lnTo>
                  <a:pt x="0" y="0"/>
                </a:lnTo>
                <a:lnTo>
                  <a:pt x="0" y="18364722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47" name="Google Shape;447;p22"/>
          <p:cNvSpPr txBox="1"/>
          <p:nvPr/>
        </p:nvSpPr>
        <p:spPr>
          <a:xfrm>
            <a:off x="6949660" y="5086350"/>
            <a:ext cx="4341055" cy="1120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99"/>
              <a:buFont typeface="Arial"/>
              <a:buNone/>
            </a:pPr>
            <a:r>
              <a:rPr b="0" i="0" lang="en-US" sz="6999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¿DUDAS?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