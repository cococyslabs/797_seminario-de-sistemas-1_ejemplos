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Hammersmith One"/>
      <p:regular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jei+ewGehxX1+kQjH1a8pbNYYd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F9FE49-B47F-4950-8800-7CC71C63EF5E}">
  <a:tblStyle styleId="{65F9FE49-B47F-4950-8800-7CC71C63EF5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HammersmithOne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259fc7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1259fc7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259fc780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g3a1259fc780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3a1259fc780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1259fc780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a1259fc780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{65F9FE49-B47F-4950-8800-7CC71C63EF5E}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xxx</a:t>
                      </a:r>
                      <a:r>
                        <a:rPr lang="en-US" sz="2800" u="none" cap="none" strike="noStrike"/>
                        <a:t>, </a:t>
                      </a:r>
                      <a:r>
                        <a:rPr lang="en-US" sz="2800"/>
                        <a:t>xx</a:t>
                      </a:r>
                      <a:r>
                        <a:rPr lang="en-US" sz="2800" u="none" cap="none" strike="noStrike"/>
                        <a:t>/</a:t>
                      </a:r>
                      <a:r>
                        <a:rPr lang="en-US" sz="2800"/>
                        <a:t>xx</a:t>
                      </a:r>
                      <a:r>
                        <a:rPr lang="en-US" sz="2800" u="none" cap="none" strike="noStrike"/>
                        <a:t>/202</a:t>
                      </a:r>
                      <a:r>
                        <a:rPr lang="en-US" sz="2800"/>
                        <a:t>6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xx</a:t>
                      </a:r>
                      <a:r>
                        <a:rPr lang="en-US" sz="2800" u="none" cap="none" strike="noStrike"/>
                        <a:t>:00</a:t>
                      </a:r>
                      <a:endParaRPr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0" name="Google Shape;90;g3a1259fc780_0_0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1259fc780_0_0"/>
          <p:cNvSpPr txBox="1"/>
          <p:nvPr/>
        </p:nvSpPr>
        <p:spPr>
          <a:xfrm>
            <a:off x="2880350" y="5816015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7" name="Google Shape;97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1669741" y="2766935"/>
            <a:ext cx="15132474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UNIDADES 3 y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y Gestión de Identidades y Accesos en Cloud” y “Configuración e Implementación de Máquinas Virtuales en la nube”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507327" y="7380150"/>
            <a:ext cx="673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3" name="Google Shape;103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441" l="-169" r="-7084" t="-308517"/>
            </a:stretch>
          </a:blipFill>
          <a:ln>
            <a:noFill/>
          </a:ln>
        </p:spPr>
      </p:sp>
      <p:grpSp>
        <p:nvGrpSpPr>
          <p:cNvPr id="112" name="Google Shape;112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8" name="Google Shape;118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" name="Google Shape;120;p2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606476" y="274500"/>
            <a:ext cx="420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2335952" y="5933228"/>
            <a:ext cx="8986058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Usuarios, Grupos y Permisos en AWS -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2266810" y="6792793"/>
            <a:ext cx="6808048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Creación y Configuración de Instancias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2366938" y="8243723"/>
            <a:ext cx="278475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3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135" name="Google Shape;135;p3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36" name="Google Shape;136;p3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3"/>
          <p:cNvSpPr txBox="1"/>
          <p:nvPr/>
        </p:nvSpPr>
        <p:spPr>
          <a:xfrm>
            <a:off x="648460" y="1748765"/>
            <a:ext cx="16610840" cy="4490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IAM es un servicio global de AWS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permite a los usuarios gestionar el acceso y los permisos a los recursos dentro de su entorno AWS.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t/>
            </a:r>
            <a:endParaRPr b="0" i="0" sz="34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Este servicio proporciona un marco de seguridad para controlar y gestionar de manera centralizada quien tiene acceso a los recursos y qué acciones puede realizar.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t/>
            </a:r>
            <a:endParaRPr b="0" i="0" sz="34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fin principal del servicio es poder gestionar: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3"/>
          <p:cNvGrpSpPr/>
          <p:nvPr/>
        </p:nvGrpSpPr>
        <p:grpSpPr>
          <a:xfrm>
            <a:off x="693550" y="6467767"/>
            <a:ext cx="3370097" cy="3370097"/>
            <a:chOff x="0" y="0"/>
            <a:chExt cx="4493463" cy="4493463"/>
          </a:xfrm>
        </p:grpSpPr>
        <p:grpSp>
          <p:nvGrpSpPr>
            <p:cNvPr id="139" name="Google Shape;139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" name="Google Shape;142;p3"/>
            <p:cNvGrpSpPr/>
            <p:nvPr/>
          </p:nvGrpSpPr>
          <p:grpSpPr>
            <a:xfrm>
              <a:off x="183011" y="189332"/>
              <a:ext cx="4114800" cy="4114800"/>
              <a:chOff x="0" y="0"/>
              <a:chExt cx="812800" cy="812800"/>
            </a:xfrm>
          </p:grpSpPr>
          <p:sp>
            <p:nvSpPr>
              <p:cNvPr id="143" name="Google Shape;143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" name="Google Shape;145;p3"/>
            <p:cNvSpPr txBox="1"/>
            <p:nvPr/>
          </p:nvSpPr>
          <p:spPr>
            <a:xfrm>
              <a:off x="828148" y="1872082"/>
              <a:ext cx="282452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USUARIOS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5451024" y="6467767"/>
            <a:ext cx="3370097" cy="3370097"/>
            <a:chOff x="0" y="0"/>
            <a:chExt cx="4493463" cy="4493463"/>
          </a:xfrm>
        </p:grpSpPr>
        <p:grpSp>
          <p:nvGrpSpPr>
            <p:cNvPr id="147" name="Google Shape;147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3"/>
            <p:cNvGrpSpPr/>
            <p:nvPr/>
          </p:nvGrpSpPr>
          <p:grpSpPr>
            <a:xfrm>
              <a:off x="189332" y="189332"/>
              <a:ext cx="4114800" cy="4114800"/>
              <a:chOff x="0" y="0"/>
              <a:chExt cx="812800" cy="812800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" name="Google Shape;153;p3"/>
            <p:cNvSpPr txBox="1"/>
            <p:nvPr/>
          </p:nvSpPr>
          <p:spPr>
            <a:xfrm>
              <a:off x="834469" y="1173582"/>
              <a:ext cx="2824525" cy="2089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GRUPOS DE USUARIOS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3"/>
          <p:cNvGrpSpPr/>
          <p:nvPr/>
        </p:nvGrpSpPr>
        <p:grpSpPr>
          <a:xfrm>
            <a:off x="9836173" y="6467767"/>
            <a:ext cx="3370097" cy="3370097"/>
            <a:chOff x="0" y="0"/>
            <a:chExt cx="4493463" cy="4493463"/>
          </a:xfrm>
        </p:grpSpPr>
        <p:grpSp>
          <p:nvGrpSpPr>
            <p:cNvPr id="155" name="Google Shape;155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56" name="Google Shape;156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" name="Google Shape;158;p3"/>
            <p:cNvGrpSpPr/>
            <p:nvPr/>
          </p:nvGrpSpPr>
          <p:grpSpPr>
            <a:xfrm>
              <a:off x="189332" y="189332"/>
              <a:ext cx="4114800" cy="4114800"/>
              <a:chOff x="0" y="0"/>
              <a:chExt cx="812800" cy="812800"/>
            </a:xfrm>
          </p:grpSpPr>
          <p:sp>
            <p:nvSpPr>
              <p:cNvPr id="159" name="Google Shape;159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" name="Google Shape;161;p3"/>
            <p:cNvSpPr txBox="1"/>
            <p:nvPr/>
          </p:nvSpPr>
          <p:spPr>
            <a:xfrm>
              <a:off x="834469" y="1872082"/>
              <a:ext cx="282452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POLÍTICAS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3"/>
          <p:cNvGrpSpPr/>
          <p:nvPr/>
        </p:nvGrpSpPr>
        <p:grpSpPr>
          <a:xfrm>
            <a:off x="14225445" y="6467767"/>
            <a:ext cx="3370097" cy="3370097"/>
            <a:chOff x="0" y="0"/>
            <a:chExt cx="4493463" cy="4493463"/>
          </a:xfrm>
        </p:grpSpPr>
        <p:grpSp>
          <p:nvGrpSpPr>
            <p:cNvPr id="163" name="Google Shape;163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64" name="Google Shape;164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3"/>
            <p:cNvGrpSpPr/>
            <p:nvPr/>
          </p:nvGrpSpPr>
          <p:grpSpPr>
            <a:xfrm>
              <a:off x="189332" y="189332"/>
              <a:ext cx="4114800" cy="4114800"/>
              <a:chOff x="0" y="0"/>
              <a:chExt cx="812800" cy="812800"/>
            </a:xfrm>
          </p:grpSpPr>
          <p:sp>
            <p:nvSpPr>
              <p:cNvPr id="167" name="Google Shape;167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" name="Google Shape;169;p3"/>
            <p:cNvSpPr txBox="1"/>
            <p:nvPr/>
          </p:nvSpPr>
          <p:spPr>
            <a:xfrm>
              <a:off x="834469" y="1872082"/>
              <a:ext cx="282452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ROLES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3"/>
          <p:cNvSpPr txBox="1"/>
          <p:nvPr/>
        </p:nvSpPr>
        <p:spPr>
          <a:xfrm>
            <a:off x="41337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4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4"/>
          <p:cNvSpPr/>
          <p:nvPr/>
        </p:nvSpPr>
        <p:spPr>
          <a:xfrm>
            <a:off x="5249051" y="5248248"/>
            <a:ext cx="7789899" cy="4379654"/>
          </a:xfrm>
          <a:custGeom>
            <a:rect b="b" l="l" r="r" t="t"/>
            <a:pathLst>
              <a:path extrusionOk="0" h="4379654" w="7789899">
                <a:moveTo>
                  <a:pt x="0" y="0"/>
                </a:moveTo>
                <a:lnTo>
                  <a:pt x="7789898" y="0"/>
                </a:lnTo>
                <a:lnTo>
                  <a:pt x="7789898" y="4379654"/>
                </a:lnTo>
                <a:lnTo>
                  <a:pt x="0" y="4379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4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640571" y="1712396"/>
            <a:ext cx="17006858" cy="336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usuarios o personas 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entidades individuales dentro de una organización o empresa y pueden ser agrupadas.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grupos son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un conjunto de usuarios para simplificar la administración de permisos y no pueden contener otros grupos.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usuarios pueden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o no pertenecer a un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usuarios pueden 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pertenecer a distintos grupos.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37501" y="393525"/>
            <a:ext cx="1605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USUARIOS Y GRUPOS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10288709" y="2706331"/>
            <a:ext cx="7287154" cy="4071698"/>
          </a:xfrm>
          <a:custGeom>
            <a:rect b="b" l="l" r="r" t="t"/>
            <a:pathLst>
              <a:path extrusionOk="0" h="4071698" w="7287154">
                <a:moveTo>
                  <a:pt x="0" y="0"/>
                </a:moveTo>
                <a:lnTo>
                  <a:pt x="7287155" y="0"/>
                </a:lnTo>
                <a:lnTo>
                  <a:pt x="7287155" y="4071697"/>
                </a:lnTo>
                <a:lnTo>
                  <a:pt x="0" y="4071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5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70923" y="1907264"/>
            <a:ext cx="8807821" cy="69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4827" lvl="1" marL="769654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 los usuarios o grupos </a:t>
            </a: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les puede asignar un documento</a:t>
            </a: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formato JSON conocidos como políticas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</a:t>
            </a: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políticas </a:t>
            </a: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definen los permisos y las acciones permitidas o denegadas para usuarios, grupos o roles en AWS.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AWS se aplica el principio de mínimo privilegio: no dar más permisos de los que un usuario necesita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1191570" y="604475"/>
            <a:ext cx="15286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PERMISOS Y POLITICAS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 flipH="1" rot="-5305486">
            <a:off x="7397318" y="1791204"/>
            <a:ext cx="3270950" cy="19138539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6"/>
                </a:lnTo>
                <a:lnTo>
                  <a:pt x="3269714" y="19131306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5"/>
          <p:cNvSpPr/>
          <p:nvPr/>
        </p:nvSpPr>
        <p:spPr>
          <a:xfrm flipH="1" rot="-5305486">
            <a:off x="7397306" y="2022704"/>
            <a:ext cx="3270950" cy="19138539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5"/>
                </a:lnTo>
                <a:lnTo>
                  <a:pt x="3269714" y="19131305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5"/>
          <p:cNvGrpSpPr/>
          <p:nvPr/>
        </p:nvGrpSpPr>
        <p:grpSpPr>
          <a:xfrm>
            <a:off x="10112388" y="2561670"/>
            <a:ext cx="7582725" cy="4449947"/>
            <a:chOff x="0" y="-38100"/>
            <a:chExt cx="1997096" cy="1172003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1997096" cy="1133903"/>
            </a:xfrm>
            <a:custGeom>
              <a:rect b="b" l="l" r="r" t="t"/>
              <a:pathLst>
                <a:path extrusionOk="0" h="1133903" w="1997096">
                  <a:moveTo>
                    <a:pt x="0" y="0"/>
                  </a:moveTo>
                  <a:lnTo>
                    <a:pt x="1997096" y="0"/>
                  </a:lnTo>
                  <a:lnTo>
                    <a:pt x="1997096" y="1133903"/>
                  </a:lnTo>
                  <a:lnTo>
                    <a:pt x="0" y="11339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29303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3" name="Google Shape;193;p5"/>
            <p:cNvSpPr txBox="1"/>
            <p:nvPr/>
          </p:nvSpPr>
          <p:spPr>
            <a:xfrm>
              <a:off x="0" y="-38100"/>
              <a:ext cx="1997096" cy="117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6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6"/>
          <p:cNvSpPr/>
          <p:nvPr/>
        </p:nvSpPr>
        <p:spPr>
          <a:xfrm>
            <a:off x="1290017" y="3176004"/>
            <a:ext cx="7335602" cy="3934992"/>
          </a:xfrm>
          <a:custGeom>
            <a:rect b="b" l="l" r="r" t="t"/>
            <a:pathLst>
              <a:path extrusionOk="0" h="3934992" w="7335602">
                <a:moveTo>
                  <a:pt x="0" y="0"/>
                </a:moveTo>
                <a:lnTo>
                  <a:pt x="7335602" y="0"/>
                </a:lnTo>
                <a:lnTo>
                  <a:pt x="7335602" y="3934992"/>
                </a:lnTo>
                <a:lnTo>
                  <a:pt x="0" y="3934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1" name="Google Shape;201;p6"/>
          <p:cNvGrpSpPr/>
          <p:nvPr/>
        </p:nvGrpSpPr>
        <p:grpSpPr>
          <a:xfrm>
            <a:off x="779904" y="2469687"/>
            <a:ext cx="8040276" cy="5202965"/>
            <a:chOff x="0" y="-38100"/>
            <a:chExt cx="2117604" cy="1370328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2117604" cy="1332228"/>
            </a:xfrm>
            <a:custGeom>
              <a:rect b="b" l="l" r="r" t="t"/>
              <a:pathLst>
                <a:path extrusionOk="0" h="1332228" w="2117604">
                  <a:moveTo>
                    <a:pt x="0" y="0"/>
                  </a:moveTo>
                  <a:lnTo>
                    <a:pt x="2117604" y="0"/>
                  </a:lnTo>
                  <a:lnTo>
                    <a:pt x="2117604" y="1332228"/>
                  </a:lnTo>
                  <a:lnTo>
                    <a:pt x="0" y="133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29303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3" name="Google Shape;203;p6"/>
            <p:cNvSpPr txBox="1"/>
            <p:nvPr/>
          </p:nvSpPr>
          <p:spPr>
            <a:xfrm>
              <a:off x="0" y="-38100"/>
              <a:ext cx="2117604" cy="1370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6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9463465" y="2222912"/>
            <a:ext cx="7656054" cy="5803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entidad que define un conjunto de permisos y políticas, pero a diferencia de un usuario, no está asociado a una persona específica.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lugar de eso, los roles se asocian a usuarios, grupos o servicios de AWS que necesitan temporariamente permisos adicionales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463482" y="1102125"/>
            <a:ext cx="4704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7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212" name="Google Shape;212;p7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13" name="Google Shape;213;p7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7"/>
          <p:cNvSpPr/>
          <p:nvPr/>
        </p:nvSpPr>
        <p:spPr>
          <a:xfrm>
            <a:off x="10845000" y="1863343"/>
            <a:ext cx="5938844" cy="7737396"/>
          </a:xfrm>
          <a:custGeom>
            <a:rect b="b" l="l" r="r" t="t"/>
            <a:pathLst>
              <a:path extrusionOk="0" h="7737396" w="5938844">
                <a:moveTo>
                  <a:pt x="0" y="0"/>
                </a:moveTo>
                <a:lnTo>
                  <a:pt x="5938844" y="0"/>
                </a:lnTo>
                <a:lnTo>
                  <a:pt x="5938844" y="7737396"/>
                </a:lnTo>
                <a:lnTo>
                  <a:pt x="0" y="7737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7"/>
          <p:cNvSpPr txBox="1"/>
          <p:nvPr/>
        </p:nvSpPr>
        <p:spPr>
          <a:xfrm>
            <a:off x="1123366" y="2624827"/>
            <a:ext cx="8590206" cy="6176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web que proporciona capacidad de computación escalable bajo demanda en la nube y permite: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t/>
            </a:r>
            <a:endParaRPr b="0" i="0" sz="34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Alquilar máquinas virtuales [EC2]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Almacenar datos en unidades virtuales [EBS]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Distribuir la carga entre las máquinas [ELB]*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Escalar los servicios mediante un Auto Scaling Group [ASG]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53794" y="266331"/>
            <a:ext cx="10291206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EC2 | Elastic Compute Cloud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8"/>
          <p:cNvGrpSpPr/>
          <p:nvPr/>
        </p:nvGrpSpPr>
        <p:grpSpPr>
          <a:xfrm>
            <a:off x="-48045" y="-668786"/>
            <a:ext cx="18288122" cy="1699682"/>
            <a:chOff x="0" y="-38100"/>
            <a:chExt cx="4816593" cy="447650"/>
          </a:xfrm>
        </p:grpSpPr>
        <p:sp>
          <p:nvSpPr>
            <p:cNvPr id="222" name="Google Shape;222;p8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23" name="Google Shape;223;p8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8"/>
          <p:cNvSpPr txBox="1"/>
          <p:nvPr/>
        </p:nvSpPr>
        <p:spPr>
          <a:xfrm>
            <a:off x="4572000" y="4300"/>
            <a:ext cx="10564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INSTANCIAS DE 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8"/>
          <p:cNvGrpSpPr/>
          <p:nvPr/>
        </p:nvGrpSpPr>
        <p:grpSpPr>
          <a:xfrm>
            <a:off x="759135" y="1216252"/>
            <a:ext cx="731003" cy="760368"/>
            <a:chOff x="0" y="0"/>
            <a:chExt cx="974670" cy="1013824"/>
          </a:xfrm>
        </p:grpSpPr>
        <p:sp>
          <p:nvSpPr>
            <p:cNvPr id="226" name="Google Shape;22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8"/>
          <p:cNvSpPr txBox="1"/>
          <p:nvPr/>
        </p:nvSpPr>
        <p:spPr>
          <a:xfrm>
            <a:off x="1639322" y="1082900"/>
            <a:ext cx="755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PROPÓSITO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8"/>
          <p:cNvGrpSpPr/>
          <p:nvPr/>
        </p:nvGrpSpPr>
        <p:grpSpPr>
          <a:xfrm>
            <a:off x="6315522" y="3050542"/>
            <a:ext cx="731002" cy="760368"/>
            <a:chOff x="0" y="0"/>
            <a:chExt cx="974670" cy="1013824"/>
          </a:xfrm>
        </p:grpSpPr>
        <p:sp>
          <p:nvSpPr>
            <p:cNvPr id="230" name="Google Shape;230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8"/>
          <p:cNvSpPr txBox="1"/>
          <p:nvPr/>
        </p:nvSpPr>
        <p:spPr>
          <a:xfrm>
            <a:off x="7232026" y="2889104"/>
            <a:ext cx="770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COMPUTACIÓN OPTIMIZADA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8"/>
          <p:cNvGrpSpPr/>
          <p:nvPr/>
        </p:nvGrpSpPr>
        <p:grpSpPr>
          <a:xfrm>
            <a:off x="600573" y="5426002"/>
            <a:ext cx="731003" cy="760368"/>
            <a:chOff x="0" y="0"/>
            <a:chExt cx="974670" cy="1013824"/>
          </a:xfrm>
        </p:grpSpPr>
        <p:sp>
          <p:nvSpPr>
            <p:cNvPr id="234" name="Google Shape;234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8"/>
          <p:cNvSpPr txBox="1"/>
          <p:nvPr/>
        </p:nvSpPr>
        <p:spPr>
          <a:xfrm>
            <a:off x="1490119" y="5270425"/>
            <a:ext cx="839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MEMORIA OPTIMIZADA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8"/>
          <p:cNvGrpSpPr/>
          <p:nvPr/>
        </p:nvGrpSpPr>
        <p:grpSpPr>
          <a:xfrm>
            <a:off x="6315518" y="7631586"/>
            <a:ext cx="731003" cy="760368"/>
            <a:chOff x="0" y="0"/>
            <a:chExt cx="974670" cy="1013824"/>
          </a:xfrm>
        </p:grpSpPr>
        <p:sp>
          <p:nvSpPr>
            <p:cNvPr id="238" name="Google Shape;238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8"/>
          <p:cNvSpPr txBox="1"/>
          <p:nvPr/>
        </p:nvSpPr>
        <p:spPr>
          <a:xfrm>
            <a:off x="7262225" y="7479175"/>
            <a:ext cx="933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ALMACENAMIENTO OPTIMIZAO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8"/>
          <p:cNvCxnSpPr/>
          <p:nvPr/>
        </p:nvCxnSpPr>
        <p:spPr>
          <a:xfrm>
            <a:off x="1639332" y="1656753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8"/>
          <p:cNvSpPr txBox="1"/>
          <p:nvPr/>
        </p:nvSpPr>
        <p:spPr>
          <a:xfrm>
            <a:off x="1639332" y="1736321"/>
            <a:ext cx="9768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Excelente para una diversidad de cargas de trabajo, como servidores web o repositorios de código, </a:t>
            </a:r>
            <a:r>
              <a:rPr b="1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equilibra computación, memoria y 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8"/>
          <p:cNvCxnSpPr/>
          <p:nvPr/>
        </p:nvCxnSpPr>
        <p:spPr>
          <a:xfrm>
            <a:off x="7232026" y="3577255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8"/>
          <p:cNvSpPr txBox="1"/>
          <p:nvPr/>
        </p:nvSpPr>
        <p:spPr>
          <a:xfrm>
            <a:off x="7232026" y="3677560"/>
            <a:ext cx="97680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Ideal para tareas de cálculo intensivo que requieren procesadores de alto rendimiento como cargas de trabajo de procesamiento por lotes, servidores web de alto rendimiento o servidores dedicados a juegos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8"/>
          <p:cNvCxnSpPr/>
          <p:nvPr/>
        </p:nvCxnSpPr>
        <p:spPr>
          <a:xfrm>
            <a:off x="1490137" y="5939536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8"/>
          <p:cNvSpPr txBox="1"/>
          <p:nvPr/>
        </p:nvSpPr>
        <p:spPr>
          <a:xfrm>
            <a:off x="1490137" y="6039841"/>
            <a:ext cx="97680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Rápido rendimiento para cargas de trabajo que procesan grandes conjuntos de datos en memoria como aplicaciones que realizan el procesamiento en tiempo real de grandes datos no estructurado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8"/>
          <p:cNvCxnSpPr/>
          <p:nvPr/>
        </p:nvCxnSpPr>
        <p:spPr>
          <a:xfrm>
            <a:off x="7262226" y="8072087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8"/>
          <p:cNvSpPr txBox="1"/>
          <p:nvPr/>
        </p:nvSpPr>
        <p:spPr>
          <a:xfrm>
            <a:off x="7262226" y="8172392"/>
            <a:ext cx="97680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Ideal para tareas de almacenamiento intensivo que requieran un acceso alto y secuencial de lectura y escritura a grandes conjuntos de datos en el almacenamiento local como bases de datos relacionales y NoSQL o sistemas de archivos distribuido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9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9"/>
          <p:cNvSpPr/>
          <p:nvPr/>
        </p:nvSpPr>
        <p:spPr>
          <a:xfrm>
            <a:off x="2308196" y="6113206"/>
            <a:ext cx="13422808" cy="2986575"/>
          </a:xfrm>
          <a:custGeom>
            <a:rect b="b" l="l" r="r" t="t"/>
            <a:pathLst>
              <a:path extrusionOk="0" h="2986575" w="13422808">
                <a:moveTo>
                  <a:pt x="0" y="0"/>
                </a:moveTo>
                <a:lnTo>
                  <a:pt x="13422808" y="0"/>
                </a:lnTo>
                <a:lnTo>
                  <a:pt x="13422808" y="2986575"/>
                </a:lnTo>
                <a:lnTo>
                  <a:pt x="0" y="2986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9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779904" y="1511337"/>
            <a:ext cx="16479396" cy="342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grupo de seguridad funciona como un firewall virtual</a:t>
            </a: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para las instancias EC2 para controlar el tráfico entrante y saliente de las mismas.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forma predeterminada los grupos de seguridad </a:t>
            </a: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permiten el tráfico de salida, mas no el de entrada</a:t>
            </a: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por lo que debe ser configurado.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reglas del grupo de seguridad son siempre permisivas; </a:t>
            </a: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es posible crear reglas que denieguen el acceso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779900" y="350800"/>
            <a:ext cx="17095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en-US" sz="5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GRUPOS DE SEGURIDAD O SECURITY GROUPS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10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264" name="Google Shape;264;p10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5" name="Google Shape;265;p10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10"/>
          <p:cNvSpPr/>
          <p:nvPr/>
        </p:nvSpPr>
        <p:spPr>
          <a:xfrm>
            <a:off x="5295209" y="5670817"/>
            <a:ext cx="7697582" cy="3944117"/>
          </a:xfrm>
          <a:custGeom>
            <a:rect b="b" l="l" r="r" t="t"/>
            <a:pathLst>
              <a:path extrusionOk="0" h="3944117" w="7697582">
                <a:moveTo>
                  <a:pt x="0" y="0"/>
                </a:moveTo>
                <a:lnTo>
                  <a:pt x="7697582" y="0"/>
                </a:lnTo>
                <a:lnTo>
                  <a:pt x="7697582" y="3944117"/>
                </a:lnTo>
                <a:lnTo>
                  <a:pt x="0" y="3944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0"/>
          <p:cNvSpPr txBox="1"/>
          <p:nvPr/>
        </p:nvSpPr>
        <p:spPr>
          <a:xfrm>
            <a:off x="648460" y="1810103"/>
            <a:ext cx="16989503" cy="165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n-US" sz="33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conjunto de claves, AWS EC2 utiliza una clave pública y una clave privada que en su conjunto funcionan como unas credenciales de seguridad que se utilizan para demostrar nuestra identidad cuando nos conectamos a una instancia.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648460" y="266331"/>
            <a:ext cx="10622537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PAIRS O PARES DE CLAVES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756248" y="3808425"/>
            <a:ext cx="988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PAR DE CLAVES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756226" y="4408041"/>
            <a:ext cx="16775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EC2 admite los tipos de claves ED25519 y RSA, pero las claves ED25519 no son compatibles con las instancias de Windows.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11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276" name="Google Shape;276;p11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77" name="Google Shape;277;p11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11081665" y="1965021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1"/>
          <p:cNvSpPr txBox="1"/>
          <p:nvPr/>
        </p:nvSpPr>
        <p:spPr>
          <a:xfrm>
            <a:off x="648460" y="266331"/>
            <a:ext cx="10433205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PAIRS O PARES DE CLAVES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648446" y="1759175"/>
            <a:ext cx="126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FORMATO DE ARCHIVOS DE CLAVE PRIVADA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648460" y="2431259"/>
            <a:ext cx="9678256" cy="6384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formato de archivo define el formato de la clave privada que se pedirá que descarguemos al crear el par de claves: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 utilizaremos OpenSHH para conectarnos a la instancia, debemos guardar la clave en formato .pem.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Arial"/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 utilizaremos PuTTY para conectarnos a la instancia, deberemos guardar la clave en formato .ppk.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2"/>
          <p:cNvSpPr/>
          <p:nvPr/>
        </p:nvSpPr>
        <p:spPr>
          <a:xfrm>
            <a:off x="4723104" y="2426646"/>
            <a:ext cx="8281621" cy="5059201"/>
          </a:xfrm>
          <a:custGeom>
            <a:rect b="b" l="l" r="r" t="t"/>
            <a:pathLst>
              <a:path extrusionOk="0" h="5059201" w="8281621">
                <a:moveTo>
                  <a:pt x="0" y="0"/>
                </a:moveTo>
                <a:lnTo>
                  <a:pt x="8281622" y="0"/>
                </a:lnTo>
                <a:lnTo>
                  <a:pt x="8281622" y="5059201"/>
                </a:lnTo>
                <a:lnTo>
                  <a:pt x="0" y="5059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2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640571" y="1311702"/>
            <a:ext cx="17006858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Una imagen de máquina de Amazon (AMI)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imagen compatible y mantenida que ofrece AWS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 nos brinda la información necesaria para lanzar una instancia.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1320700" y="212350"/>
            <a:ext cx="1518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AMI - AMAZON MACHINE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526215" y="7583493"/>
            <a:ext cx="1712121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Debemos especificar una AMI al lanzar una instancia,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cuando necesitemos varias instancias con la misma configuración, podemos lanzarlas desde una misma AMI, así mismo si necesitamos instancias con diferentes configuraciones, podemos utilizar distintas AMI para lanzarlas.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10578201" y="1696186"/>
            <a:ext cx="7395317" cy="6581832"/>
          </a:xfrm>
          <a:custGeom>
            <a:rect b="b" l="l" r="r" t="t"/>
            <a:pathLst>
              <a:path extrusionOk="0" h="6581832" w="7395317">
                <a:moveTo>
                  <a:pt x="0" y="0"/>
                </a:moveTo>
                <a:lnTo>
                  <a:pt x="7395317" y="0"/>
                </a:lnTo>
                <a:lnTo>
                  <a:pt x="7395317" y="6581832"/>
                </a:lnTo>
                <a:lnTo>
                  <a:pt x="0" y="6581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3"/>
          <p:cNvSpPr txBox="1"/>
          <p:nvPr/>
        </p:nvSpPr>
        <p:spPr>
          <a:xfrm>
            <a:off x="7366485" y="161353"/>
            <a:ext cx="3555030" cy="74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ELASTIC 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267198" y="1667611"/>
            <a:ext cx="9402040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direcciones IP elásticas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direcciones IPv4 reservadas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diseñadas para la informática en la nube dinámica.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 una dirección IP elástica, p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odemos enmascarar los errores de una instancia o software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volviendo a mapear rápidamente la dirección a otra instancia de nuestra cuenta.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 así lo preferimos,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podemos especificar la dirección IP elástica en un registro DNS para el dominio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de modo que el dominio apunte a la instancia.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 flipH="1" rot="-5303289">
            <a:off x="7408524" y="1430134"/>
            <a:ext cx="3269714" cy="19131306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6"/>
                </a:lnTo>
                <a:lnTo>
                  <a:pt x="3269714" y="19131306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13"/>
          <p:cNvSpPr/>
          <p:nvPr/>
        </p:nvSpPr>
        <p:spPr>
          <a:xfrm flipH="1" rot="-5303289">
            <a:off x="7609762" y="1605359"/>
            <a:ext cx="3269714" cy="19131306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5"/>
                </a:lnTo>
                <a:lnTo>
                  <a:pt x="3269714" y="19131305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2" name="Google Shape;302;p13"/>
          <p:cNvGrpSpPr/>
          <p:nvPr/>
        </p:nvGrpSpPr>
        <p:grpSpPr>
          <a:xfrm>
            <a:off x="10151817" y="1235163"/>
            <a:ext cx="7409171" cy="7380278"/>
            <a:chOff x="0" y="-38100"/>
            <a:chExt cx="1951387" cy="1943777"/>
          </a:xfrm>
        </p:grpSpPr>
        <p:sp>
          <p:nvSpPr>
            <p:cNvPr id="303" name="Google Shape;303;p13"/>
            <p:cNvSpPr/>
            <p:nvPr/>
          </p:nvSpPr>
          <p:spPr>
            <a:xfrm>
              <a:off x="0" y="0"/>
              <a:ext cx="1951387" cy="1905677"/>
            </a:xfrm>
            <a:custGeom>
              <a:rect b="b" l="l" r="r" t="t"/>
              <a:pathLst>
                <a:path extrusionOk="0" h="1905677" w="1951387">
                  <a:moveTo>
                    <a:pt x="0" y="0"/>
                  </a:moveTo>
                  <a:lnTo>
                    <a:pt x="1951387" y="0"/>
                  </a:lnTo>
                  <a:lnTo>
                    <a:pt x="1951387" y="1905677"/>
                  </a:lnTo>
                  <a:lnTo>
                    <a:pt x="0" y="1905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29303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4" name="Google Shape;304;p13"/>
            <p:cNvSpPr txBox="1"/>
            <p:nvPr/>
          </p:nvSpPr>
          <p:spPr>
            <a:xfrm>
              <a:off x="0" y="-38100"/>
              <a:ext cx="1951387" cy="1943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/>
          <p:nvPr/>
        </p:nvSpPr>
        <p:spPr>
          <a:xfrm>
            <a:off x="5317126" y="4349551"/>
            <a:ext cx="8080720" cy="5272670"/>
          </a:xfrm>
          <a:custGeom>
            <a:rect b="b" l="l" r="r" t="t"/>
            <a:pathLst>
              <a:path extrusionOk="0" h="5272670" w="8080720">
                <a:moveTo>
                  <a:pt x="0" y="0"/>
                </a:moveTo>
                <a:lnTo>
                  <a:pt x="8080720" y="0"/>
                </a:lnTo>
                <a:lnTo>
                  <a:pt x="8080720" y="5272669"/>
                </a:lnTo>
                <a:lnTo>
                  <a:pt x="0" y="5272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14"/>
          <p:cNvSpPr txBox="1"/>
          <p:nvPr/>
        </p:nvSpPr>
        <p:spPr>
          <a:xfrm>
            <a:off x="4440827" y="286475"/>
            <a:ext cx="10540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ELASTIC LOAD BALANCING - ELB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1180476" y="1236800"/>
            <a:ext cx="16700400" cy="2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Elastic Load Balancing (ELB) </a:t>
            </a:r>
            <a:r>
              <a:rPr b="1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distribuye automáticamente el tráfico entrante de aplicaciones a través de varios destinos</a:t>
            </a:r>
            <a:r>
              <a:rPr b="0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tales como instancias de Amazon EC2, contenedores, direcciones IP y funciones lambda.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controlar la carga variable del tráfico de su aplicación en una única zona o en varias zonas de disponibilidad.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/>
          <p:nvPr/>
        </p:nvSpPr>
        <p:spPr>
          <a:xfrm>
            <a:off x="728476" y="3004689"/>
            <a:ext cx="6733364" cy="6253611"/>
          </a:xfrm>
          <a:custGeom>
            <a:rect b="b" l="l" r="r" t="t"/>
            <a:pathLst>
              <a:path extrusionOk="0" h="6253611" w="6733364">
                <a:moveTo>
                  <a:pt x="0" y="0"/>
                </a:moveTo>
                <a:lnTo>
                  <a:pt x="6733364" y="0"/>
                </a:lnTo>
                <a:lnTo>
                  <a:pt x="6733364" y="6253611"/>
                </a:lnTo>
                <a:lnTo>
                  <a:pt x="0" y="6253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7" name="Google Shape;317;p15"/>
          <p:cNvGrpSpPr/>
          <p:nvPr/>
        </p:nvGrpSpPr>
        <p:grpSpPr>
          <a:xfrm>
            <a:off x="13144500" y="-144661"/>
            <a:ext cx="5143500" cy="5288161"/>
            <a:chOff x="0" y="-38100"/>
            <a:chExt cx="1354667" cy="1392767"/>
          </a:xfrm>
        </p:grpSpPr>
        <p:sp>
          <p:nvSpPr>
            <p:cNvPr id="318" name="Google Shape;318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19" name="Google Shape;319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15"/>
          <p:cNvSpPr txBox="1"/>
          <p:nvPr/>
        </p:nvSpPr>
        <p:spPr>
          <a:xfrm>
            <a:off x="728476" y="849312"/>
            <a:ext cx="6323168" cy="19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¿QUE BENEFICIO TIENE EC2 SOBRE OTROS PROVEEDORES?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15"/>
          <p:cNvGrpSpPr/>
          <p:nvPr/>
        </p:nvGrpSpPr>
        <p:grpSpPr>
          <a:xfrm>
            <a:off x="13144500" y="4998839"/>
            <a:ext cx="5143500" cy="5288161"/>
            <a:chOff x="0" y="-38100"/>
            <a:chExt cx="1354667" cy="1392767"/>
          </a:xfrm>
        </p:grpSpPr>
        <p:sp>
          <p:nvSpPr>
            <p:cNvPr id="322" name="Google Shape;322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3" name="Google Shape;323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5"/>
          <p:cNvGrpSpPr/>
          <p:nvPr/>
        </p:nvGrpSpPr>
        <p:grpSpPr>
          <a:xfrm>
            <a:off x="8001000" y="-144661"/>
            <a:ext cx="5143500" cy="5288161"/>
            <a:chOff x="0" y="-38100"/>
            <a:chExt cx="1354667" cy="1392767"/>
          </a:xfrm>
        </p:grpSpPr>
        <p:sp>
          <p:nvSpPr>
            <p:cNvPr id="325" name="Google Shape;325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6" name="Google Shape;326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5"/>
          <p:cNvGrpSpPr/>
          <p:nvPr/>
        </p:nvGrpSpPr>
        <p:grpSpPr>
          <a:xfrm>
            <a:off x="8001000" y="4998839"/>
            <a:ext cx="5143500" cy="5288161"/>
            <a:chOff x="0" y="-38100"/>
            <a:chExt cx="1354667" cy="1392767"/>
          </a:xfrm>
        </p:grpSpPr>
        <p:sp>
          <p:nvSpPr>
            <p:cNvPr id="328" name="Google Shape;328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29" name="Google Shape;329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5"/>
          <p:cNvSpPr txBox="1"/>
          <p:nvPr/>
        </p:nvSpPr>
        <p:spPr>
          <a:xfrm>
            <a:off x="13529097" y="1819275"/>
            <a:ext cx="437430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33 regiones y 105 zonas de disponibilidad a nivel mundial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8385597" y="1502731"/>
            <a:ext cx="4374307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veces menos horas de inactividad que el siguiente proveedor de nube más grande.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8385597" y="6467475"/>
            <a:ext cx="4374307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Millones de clientes, desde pequeñas compañías hasta empresas emergentes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13529097" y="6715125"/>
            <a:ext cx="437430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275 instancias para prácticamente cualquier necesidad empresarial.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"/>
          <p:cNvSpPr txBox="1"/>
          <p:nvPr/>
        </p:nvSpPr>
        <p:spPr>
          <a:xfrm>
            <a:off x="6166085" y="2524125"/>
            <a:ext cx="595583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2162609" y="3587750"/>
            <a:ext cx="13962781" cy="342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GESTIÓN DE POLÍTICAS, USUARIOS Y CONFIGURACIÓN DE MAQUINAS VIRTUALES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6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1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1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17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61"/>
              <a:buFont typeface="Arial"/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3865129" y="2555875"/>
            <a:ext cx="1328541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IAM (Identity and Access Management)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17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352" name="Google Shape;352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7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355" name="Google Shape;355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17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358" name="Google Shape;358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17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361" name="Google Shape;361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17"/>
          <p:cNvGrpSpPr/>
          <p:nvPr/>
        </p:nvGrpSpPr>
        <p:grpSpPr>
          <a:xfrm>
            <a:off x="2905062" y="7038180"/>
            <a:ext cx="731003" cy="760368"/>
            <a:chOff x="0" y="0"/>
            <a:chExt cx="974670" cy="1013824"/>
          </a:xfrm>
        </p:grpSpPr>
        <p:sp>
          <p:nvSpPr>
            <p:cNvPr id="364" name="Google Shape;364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7"/>
          <p:cNvSpPr txBox="1"/>
          <p:nvPr/>
        </p:nvSpPr>
        <p:spPr>
          <a:xfrm>
            <a:off x="3865124" y="3740025"/>
            <a:ext cx="9363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EC2 (Elastic Compute Cloud)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3865123" y="4876675"/>
            <a:ext cx="711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Instancias 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7"/>
          <p:cNvSpPr txBox="1"/>
          <p:nvPr/>
        </p:nvSpPr>
        <p:spPr>
          <a:xfrm>
            <a:off x="3865123" y="6013325"/>
            <a:ext cx="1088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Grupos de Seguridad (Security Groups)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7"/>
          <p:cNvSpPr txBox="1"/>
          <p:nvPr/>
        </p:nvSpPr>
        <p:spPr>
          <a:xfrm>
            <a:off x="3865121" y="7149975"/>
            <a:ext cx="1088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Pares de Claves (Key Pairs)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"/>
          <p:cNvSpPr txBox="1"/>
          <p:nvPr/>
        </p:nvSpPr>
        <p:spPr>
          <a:xfrm>
            <a:off x="5416647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689097" y="1708472"/>
            <a:ext cx="16474542" cy="6255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51"/>
              <a:buFont typeface="Arial"/>
              <a:buNone/>
            </a:pPr>
            <a:r>
              <a:rPr b="1" i="0" lang="en-US" sz="5451" u="none" cap="none" strike="noStrike">
                <a:solidFill>
                  <a:srgbClr val="FFB923"/>
                </a:solidFill>
                <a:latin typeface="Arial"/>
                <a:ea typeface="Arial"/>
                <a:cs typeface="Arial"/>
                <a:sym typeface="Arial"/>
              </a:rPr>
              <a:t>Integridad Moral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8461" lvl="1" marL="117692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5451"/>
              <a:buFont typeface="Arial"/>
              <a:buChar char="•"/>
            </a:pPr>
            <a:r>
              <a:rPr b="0" i="0" lang="en-US" sz="5451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profesional de cloud computing debe manejar los datos de los usuarios con honestidad, sin ocultar brechas de seguridad, mal uso de la información o prácticas poco éticas.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88461" lvl="1" marL="117692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5451"/>
              <a:buFont typeface="Arial"/>
              <a:buChar char="•"/>
            </a:pPr>
            <a:r>
              <a:rPr b="0" i="0" lang="en-US" sz="5451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aprovechar vulnerabilidades del sistema para beneficio personal.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7" name="Google Shape;377;p18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19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24"/>
              <a:buFont typeface="Arial"/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441" l="-169" r="-7084" t="-308517"/>
            </a:stretch>
          </a:blipFill>
          <a:ln>
            <a:noFill/>
          </a:ln>
        </p:spPr>
      </p:sp>
      <p:sp>
        <p:nvSpPr>
          <p:cNvPr id="386" name="Google Shape;386;p19"/>
          <p:cNvSpPr txBox="1"/>
          <p:nvPr/>
        </p:nvSpPr>
        <p:spPr>
          <a:xfrm>
            <a:off x="7602892" y="613880"/>
            <a:ext cx="9861517" cy="365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IAM User Guide. AWS Documentation.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https://docs.aws.amazon.com/IAM/latest/UserGuide/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5"/>
              <a:buFont typeface="Arial"/>
              <a:buNone/>
            </a:pPr>
            <a:r>
              <a:t/>
            </a:r>
            <a:endParaRPr b="0" i="0" sz="28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Amazon EC2 User Guide for Linux Instances. AWS Documentation.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https://docs.aws.amazon.com/ec2/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5"/>
              <a:buFont typeface="Arial"/>
              <a:buNone/>
            </a:pPr>
            <a:r>
              <a:t/>
            </a:r>
            <a:endParaRPr b="0" i="0" sz="28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2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p20"/>
          <p:cNvSpPr txBox="1"/>
          <p:nvPr/>
        </p:nvSpPr>
        <p:spPr>
          <a:xfrm>
            <a:off x="6820525" y="5086350"/>
            <a:ext cx="447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