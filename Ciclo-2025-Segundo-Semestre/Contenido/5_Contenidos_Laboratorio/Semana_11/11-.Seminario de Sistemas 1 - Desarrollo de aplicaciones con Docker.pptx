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10287000" cx="18288000"/>
  <p:notesSz cx="6858000" cy="9144000"/>
  <p:embeddedFontLst>
    <p:embeddedFont>
      <p:font typeface="Hammersmith One"/>
      <p:regular r:id="rId29"/>
    </p:embeddedFont>
    <p:embeddedFont>
      <p:font typeface="Open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4" roundtripDataSignature="AMtx7mjpKgKHIlduVYjj1hp9wuBDQid9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B45CE2B-96FA-4399-B69D-BAC82DD5A687}">
  <a:tblStyle styleId="{CB45CE2B-96FA-4399-B69D-BAC82DD5A68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HammersmithOne-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penSans-bold.fntdata"/><Relationship Id="rId30" Type="http://schemas.openxmlformats.org/officeDocument/2006/relationships/font" Target="fonts/OpenSans-regular.fntdata"/><Relationship Id="rId11" Type="http://schemas.openxmlformats.org/officeDocument/2006/relationships/slide" Target="slides/slide5.xml"/><Relationship Id="rId33" Type="http://schemas.openxmlformats.org/officeDocument/2006/relationships/font" Target="fonts/OpenSans-boldItalic.fntdata"/><Relationship Id="rId10" Type="http://schemas.openxmlformats.org/officeDocument/2006/relationships/slide" Target="slides/slide4.xml"/><Relationship Id="rId32" Type="http://schemas.openxmlformats.org/officeDocument/2006/relationships/font" Target="fonts/OpenSans-italic.fntdata"/><Relationship Id="rId13" Type="http://schemas.openxmlformats.org/officeDocument/2006/relationships/slide" Target="slides/slide7.xml"/><Relationship Id="rId12" Type="http://schemas.openxmlformats.org/officeDocument/2006/relationships/slide" Target="slides/slide6.xml"/><Relationship Id="rId34"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1a7ad4ac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a1a7ad4ac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6" name="Google Shape;19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 name="Google Shape;22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2" name="Google Shape;26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5" name="Google Shape;29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3" name="Google Shape;31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5" name="Google Shape;34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4" name="Google Shape;35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6" name="Google Shape;36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9" name="Google Shape;37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9" name="Google Shape;39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7" name="Google Shape;40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5" name="Google Shape;41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7" name="Google Shape;44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6" name="Google Shape;45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3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2"/>
          <p:cNvSpPr/>
          <p:nvPr>
            <p:ph idx="2" type="pic"/>
          </p:nvPr>
        </p:nvSpPr>
        <p:spPr>
          <a:xfrm>
            <a:off x="1792288" y="612775"/>
            <a:ext cx="5486400" cy="4114800"/>
          </a:xfrm>
          <a:prstGeom prst="rect">
            <a:avLst/>
          </a:prstGeom>
          <a:noFill/>
          <a:ln>
            <a:noFill/>
          </a:ln>
        </p:spPr>
      </p:sp>
      <p:sp>
        <p:nvSpPr>
          <p:cNvPr id="64" name="Google Shape;64;p3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sp>
        <p:nvSpPr>
          <p:cNvPr id="81" name="Google Shape;81;g3a1a7ad4ac9_0_80"/>
          <p:cNvSpPr txBox="1"/>
          <p:nvPr>
            <p:ph type="title"/>
          </p:nvPr>
        </p:nvSpPr>
        <p:spPr>
          <a:xfrm>
            <a:off x="623400" y="890050"/>
            <a:ext cx="17041200" cy="11454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2" name="Google Shape;82;g3a1a7ad4ac9_0_80"/>
          <p:cNvSpPr txBox="1"/>
          <p:nvPr>
            <p:ph idx="1" type="body"/>
          </p:nvPr>
        </p:nvSpPr>
        <p:spPr>
          <a:xfrm>
            <a:off x="623400" y="2304950"/>
            <a:ext cx="17041200" cy="6832800"/>
          </a:xfrm>
          <a:prstGeom prst="rect">
            <a:avLst/>
          </a:prstGeom>
          <a:noFill/>
          <a:ln>
            <a:noFill/>
          </a:ln>
        </p:spPr>
        <p:txBody>
          <a:bodyPr anchorCtr="0" anchor="t" bIns="91425" lIns="91425" spcFirstLastPara="1" rIns="91425" wrap="square" tIns="91425">
            <a:normAutofit/>
          </a:bodyPr>
          <a:lstStyle>
            <a:lvl1pPr indent="-342900" lvl="0" marL="457200" algn="l">
              <a:lnSpc>
                <a:spcPct val="100000"/>
              </a:lnSpc>
              <a:spcBef>
                <a:spcPts val="0"/>
              </a:spcBef>
              <a:spcAft>
                <a:spcPts val="0"/>
              </a:spcAft>
              <a:buSzPts val="1800"/>
              <a:buChar char="●"/>
              <a:defRPr/>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sp>
        <p:nvSpPr>
          <p:cNvPr id="83" name="Google Shape;83;g3a1a7ad4ac9_0_80"/>
          <p:cNvSpPr txBox="1"/>
          <p:nvPr>
            <p:ph idx="12" type="sldNum"/>
          </p:nvPr>
        </p:nvSpPr>
        <p:spPr>
          <a:xfrm>
            <a:off x="16944916" y="9326434"/>
            <a:ext cx="1097400" cy="787200"/>
          </a:xfrm>
          <a:prstGeom prst="rect">
            <a:avLst/>
          </a:prstGeom>
          <a:noFill/>
          <a:ln>
            <a:noFill/>
          </a:ln>
        </p:spPr>
        <p:txBody>
          <a:bodyPr anchorCtr="0" anchor="ctr" bIns="91425" lIns="91425" spcFirstLastPara="1" rIns="91425" wrap="square" tIns="91425">
            <a:normAutofit/>
          </a:bodyPr>
          <a:lstStyle>
            <a:lvl1pPr indent="0" lvl="0" marL="0" algn="r">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algn="r">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algn="r">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algn="r">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algn="r">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algn="r">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algn="r">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algn="r">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algn="r">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9.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1.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a1a7ad4ac9_0_0"/>
          <p:cNvPicPr preferRelativeResize="0"/>
          <p:nvPr/>
        </p:nvPicPr>
        <p:blipFill rotWithShape="1">
          <a:blip r:embed="rId3">
            <a:alphaModFix amt="62000"/>
          </a:blip>
          <a:srcRect b="0" l="0" r="0" t="0"/>
          <a:stretch/>
        </p:blipFill>
        <p:spPr>
          <a:xfrm>
            <a:off x="16903" y="1"/>
            <a:ext cx="18254198" cy="10287001"/>
          </a:xfrm>
          <a:prstGeom prst="rect">
            <a:avLst/>
          </a:prstGeom>
          <a:noFill/>
          <a:ln>
            <a:noFill/>
          </a:ln>
        </p:spPr>
      </p:pic>
      <p:graphicFrame>
        <p:nvGraphicFramePr>
          <p:cNvPr id="89" name="Google Shape;89;g3a1a7ad4ac9_0_0"/>
          <p:cNvGraphicFramePr/>
          <p:nvPr/>
        </p:nvGraphicFramePr>
        <p:xfrm>
          <a:off x="10656401" y="1940050"/>
          <a:ext cx="3000000" cy="3000000"/>
        </p:xfrm>
        <a:graphic>
          <a:graphicData uri="http://schemas.openxmlformats.org/drawingml/2006/table">
            <a:tbl>
              <a:tblPr>
                <a:noFill/>
                <a:tableStyleId>{CB45CE2B-96FA-4399-B69D-BAC82DD5A687}</a:tableStyleId>
              </a:tblPr>
              <a:tblGrid>
                <a:gridCol w="3036400"/>
                <a:gridCol w="4344750"/>
              </a:tblGrid>
              <a:tr h="798525">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Martes, 2</a:t>
                      </a:r>
                      <a:r>
                        <a:rPr lang="en-US" sz="2800" u="none" cap="none" strike="noStrike"/>
                        <a:t>2</a:t>
                      </a:r>
                      <a:r>
                        <a:rPr lang="en-US" sz="2800" u="none" cap="none" strike="noStrike"/>
                        <a:t>/</a:t>
                      </a:r>
                      <a:r>
                        <a:rPr lang="en-US" sz="2800" u="none" cap="none" strike="noStrike"/>
                        <a:t>07</a:t>
                      </a:r>
                      <a:r>
                        <a:rPr lang="en-US" sz="2800" u="none" cap="none" strike="noStrike"/>
                        <a:t>/202</a:t>
                      </a:r>
                      <a:r>
                        <a:rPr lang="en-US" sz="2800" u="none" cap="none" strike="noStrike"/>
                        <a:t>5</a:t>
                      </a:r>
                      <a:endParaRPr/>
                    </a:p>
                  </a:txBody>
                  <a:tcPr marT="182850" marB="182850" marR="182850" marL="182850"/>
                </a:tc>
              </a:tr>
              <a:tr h="798525">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19:00</a:t>
                      </a:r>
                      <a:endParaRPr/>
                    </a:p>
                  </a:txBody>
                  <a:tcPr marT="182850" marB="182850" marR="182850" marL="182850"/>
                </a:tc>
              </a:tr>
            </a:tbl>
          </a:graphicData>
        </a:graphic>
      </p:graphicFrame>
      <p:sp>
        <p:nvSpPr>
          <p:cNvPr id="90" name="Google Shape;90;g3a1a7ad4ac9_0_0"/>
          <p:cNvSpPr txBox="1"/>
          <p:nvPr/>
        </p:nvSpPr>
        <p:spPr>
          <a:xfrm>
            <a:off x="2880350" y="4516600"/>
            <a:ext cx="13584000" cy="11391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0" i="0" lang="en-US" sz="5000" u="none" cap="none" strike="noStrike">
                <a:solidFill>
                  <a:srgbClr val="000000"/>
                </a:solidFill>
                <a:latin typeface="Arial"/>
                <a:ea typeface="Arial"/>
                <a:cs typeface="Arial"/>
                <a:sym typeface="Arial"/>
              </a:rPr>
              <a:t>Seminario de Sistemas 1 </a:t>
            </a:r>
            <a:r>
              <a:rPr b="0" i="0" lang="en-US" sz="5000" u="none" cap="none" strike="noStrike">
                <a:solidFill>
                  <a:srgbClr val="000000"/>
                </a:solidFill>
                <a:latin typeface="Arial"/>
                <a:ea typeface="Arial"/>
                <a:cs typeface="Arial"/>
                <a:sym typeface="Arial"/>
              </a:rPr>
              <a:t>[]</a:t>
            </a:r>
            <a:endParaRPr/>
          </a:p>
        </p:txBody>
      </p:sp>
      <p:sp>
        <p:nvSpPr>
          <p:cNvPr id="91" name="Google Shape;91;g3a1a7ad4ac9_0_0"/>
          <p:cNvSpPr txBox="1"/>
          <p:nvPr/>
        </p:nvSpPr>
        <p:spPr>
          <a:xfrm>
            <a:off x="2880350" y="5816015"/>
            <a:ext cx="11173200" cy="9852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rgbClr val="000000"/>
                </a:solidFill>
                <a:latin typeface="Arial"/>
                <a:ea typeface="Arial"/>
                <a:cs typeface="Arial"/>
                <a:sym typeface="Arial"/>
              </a:rPr>
              <a:t>Nombre Del Tutor.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grpSp>
        <p:nvGrpSpPr>
          <p:cNvPr id="96" name="Google Shape;96;p2"/>
          <p:cNvGrpSpPr/>
          <p:nvPr/>
        </p:nvGrpSpPr>
        <p:grpSpPr>
          <a:xfrm>
            <a:off x="1421964" y="2747250"/>
            <a:ext cx="731003" cy="760368"/>
            <a:chOff x="0" y="0"/>
            <a:chExt cx="974670" cy="1013824"/>
          </a:xfrm>
        </p:grpSpPr>
        <p:sp>
          <p:nvSpPr>
            <p:cNvPr id="97" name="Google Shape;97;p2"/>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2"/>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grpSp>
      <p:sp>
        <p:nvSpPr>
          <p:cNvPr id="99" name="Google Shape;99;p2"/>
          <p:cNvSpPr/>
          <p:nvPr/>
        </p:nvSpPr>
        <p:spPr>
          <a:xfrm rot="5400000">
            <a:off x="12857023" y="4742132"/>
            <a:ext cx="10861953" cy="802736"/>
          </a:xfrm>
          <a:custGeom>
            <a:rect b="b" l="l" r="r" t="t"/>
            <a:pathLst>
              <a:path extrusionOk="0" h="802736" w="10861953">
                <a:moveTo>
                  <a:pt x="0" y="0"/>
                </a:moveTo>
                <a:lnTo>
                  <a:pt x="10861954" y="0"/>
                </a:lnTo>
                <a:lnTo>
                  <a:pt x="10861954" y="802736"/>
                </a:lnTo>
                <a:lnTo>
                  <a:pt x="0" y="802736"/>
                </a:lnTo>
                <a:lnTo>
                  <a:pt x="0" y="0"/>
                </a:lnTo>
                <a:close/>
              </a:path>
            </a:pathLst>
          </a:custGeom>
          <a:blipFill rotWithShape="1">
            <a:blip r:embed="rId3">
              <a:alphaModFix/>
            </a:blip>
            <a:stretch>
              <a:fillRect b="-1042441" l="-169" r="-7085" t="-308517"/>
            </a:stretch>
          </a:blipFill>
          <a:ln>
            <a:noFill/>
          </a:ln>
        </p:spPr>
      </p:sp>
      <p:grpSp>
        <p:nvGrpSpPr>
          <p:cNvPr id="100" name="Google Shape;100;p2"/>
          <p:cNvGrpSpPr/>
          <p:nvPr/>
        </p:nvGrpSpPr>
        <p:grpSpPr>
          <a:xfrm>
            <a:off x="1421964" y="5820388"/>
            <a:ext cx="731003" cy="760368"/>
            <a:chOff x="0" y="0"/>
            <a:chExt cx="974670" cy="1013824"/>
          </a:xfrm>
        </p:grpSpPr>
        <p:sp>
          <p:nvSpPr>
            <p:cNvPr id="101" name="Google Shape;101;p2"/>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2"/>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grpSp>
      <p:grpSp>
        <p:nvGrpSpPr>
          <p:cNvPr id="103" name="Google Shape;103;p2"/>
          <p:cNvGrpSpPr/>
          <p:nvPr/>
        </p:nvGrpSpPr>
        <p:grpSpPr>
          <a:xfrm>
            <a:off x="1421964" y="7243740"/>
            <a:ext cx="731003" cy="760368"/>
            <a:chOff x="0" y="0"/>
            <a:chExt cx="974670" cy="1013824"/>
          </a:xfrm>
        </p:grpSpPr>
        <p:sp>
          <p:nvSpPr>
            <p:cNvPr id="104" name="Google Shape;104;p2"/>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2"/>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FFFFFF"/>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grpSp>
      <p:cxnSp>
        <p:nvCxnSpPr>
          <p:cNvPr id="106" name="Google Shape;106;p2"/>
          <p:cNvCxnSpPr/>
          <p:nvPr/>
        </p:nvCxnSpPr>
        <p:spPr>
          <a:xfrm>
            <a:off x="1211924" y="2318625"/>
            <a:ext cx="4643555" cy="0"/>
          </a:xfrm>
          <a:prstGeom prst="straightConnector1">
            <a:avLst/>
          </a:prstGeom>
          <a:noFill/>
          <a:ln cap="flat" cmpd="sng" w="38100">
            <a:solidFill>
              <a:srgbClr val="000000"/>
            </a:solidFill>
            <a:prstDash val="solid"/>
            <a:round/>
            <a:headEnd len="sm" w="sm" type="none"/>
            <a:tailEnd len="sm" w="sm" type="none"/>
          </a:ln>
        </p:spPr>
      </p:cxnSp>
      <p:cxnSp>
        <p:nvCxnSpPr>
          <p:cNvPr id="107" name="Google Shape;107;p2"/>
          <p:cNvCxnSpPr/>
          <p:nvPr/>
        </p:nvCxnSpPr>
        <p:spPr>
          <a:xfrm>
            <a:off x="1211924" y="5296513"/>
            <a:ext cx="2129220" cy="0"/>
          </a:xfrm>
          <a:prstGeom prst="straightConnector1">
            <a:avLst/>
          </a:prstGeom>
          <a:noFill/>
          <a:ln cap="flat" cmpd="sng" w="38100">
            <a:solidFill>
              <a:srgbClr val="29303C"/>
            </a:solidFill>
            <a:prstDash val="solid"/>
            <a:round/>
            <a:headEnd len="sm" w="sm" type="none"/>
            <a:tailEnd len="sm" w="sm" type="none"/>
          </a:ln>
        </p:spPr>
      </p:cxnSp>
      <p:sp>
        <p:nvSpPr>
          <p:cNvPr id="108" name="Google Shape;108;p2"/>
          <p:cNvSpPr txBox="1"/>
          <p:nvPr/>
        </p:nvSpPr>
        <p:spPr>
          <a:xfrm>
            <a:off x="7051596" y="274507"/>
            <a:ext cx="4110025" cy="1120775"/>
          </a:xfrm>
          <a:prstGeom prst="rect">
            <a:avLst/>
          </a:prstGeom>
          <a:noFill/>
          <a:ln>
            <a:noFill/>
          </a:ln>
        </p:spPr>
        <p:txBody>
          <a:bodyPr anchorCtr="0" anchor="t" bIns="0" lIns="0" spcFirstLastPara="1" rIns="0" wrap="square" tIns="0">
            <a:spAutoFit/>
          </a:bodyPr>
          <a:lstStyle/>
          <a:p>
            <a:pPr indent="0" lvl="0" marL="0" marR="0" rtl="0" algn="ctr">
              <a:lnSpc>
                <a:spcPct val="130004"/>
              </a:lnSpc>
              <a:spcBef>
                <a:spcPts val="0"/>
              </a:spcBef>
              <a:spcAft>
                <a:spcPts val="0"/>
              </a:spcAft>
              <a:buClr>
                <a:srgbClr val="000000"/>
              </a:buClr>
              <a:buSzPts val="6999"/>
              <a:buFont typeface="Arial"/>
              <a:buNone/>
            </a:pPr>
            <a:r>
              <a:rPr b="1" i="0" lang="en-US" sz="6999" u="none" cap="none" strike="noStrike">
                <a:solidFill>
                  <a:srgbClr val="29303C"/>
                </a:solidFill>
                <a:latin typeface="Arial"/>
                <a:ea typeface="Arial"/>
                <a:cs typeface="Arial"/>
                <a:sym typeface="Arial"/>
              </a:rPr>
              <a:t>AGENDA</a:t>
            </a:r>
            <a:endParaRPr b="0" i="0" sz="1400" u="none" cap="none" strike="noStrike">
              <a:solidFill>
                <a:srgbClr val="000000"/>
              </a:solidFill>
              <a:latin typeface="Arial"/>
              <a:ea typeface="Arial"/>
              <a:cs typeface="Arial"/>
              <a:sym typeface="Arial"/>
            </a:endParaRPr>
          </a:p>
        </p:txBody>
      </p:sp>
      <p:sp>
        <p:nvSpPr>
          <p:cNvPr id="109" name="Google Shape;109;p2"/>
          <p:cNvSpPr txBox="1"/>
          <p:nvPr/>
        </p:nvSpPr>
        <p:spPr>
          <a:xfrm>
            <a:off x="2640377" y="2830096"/>
            <a:ext cx="2722063" cy="556577"/>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Clr>
                <a:srgbClr val="000000"/>
              </a:buClr>
              <a:buSzPts val="3425"/>
              <a:buFont typeface="Arial"/>
              <a:buNone/>
            </a:pPr>
            <a:r>
              <a:rPr b="0" i="0" lang="en-US" sz="3425" u="none" cap="none" strike="noStrike">
                <a:solidFill>
                  <a:srgbClr val="29303C"/>
                </a:solidFill>
                <a:latin typeface="Hammersmith One"/>
                <a:ea typeface="Hammersmith One"/>
                <a:cs typeface="Hammersmith One"/>
                <a:sym typeface="Hammersmith One"/>
              </a:rPr>
              <a:t>Foro 11</a:t>
            </a:r>
            <a:endParaRPr b="0" i="0" sz="1400" u="none" cap="none" strike="noStrike">
              <a:solidFill>
                <a:srgbClr val="000000"/>
              </a:solidFill>
              <a:latin typeface="Arial"/>
              <a:ea typeface="Arial"/>
              <a:cs typeface="Arial"/>
              <a:sym typeface="Arial"/>
            </a:endParaRPr>
          </a:p>
        </p:txBody>
      </p:sp>
      <p:sp>
        <p:nvSpPr>
          <p:cNvPr id="110" name="Google Shape;110;p2"/>
          <p:cNvSpPr txBox="1"/>
          <p:nvPr/>
        </p:nvSpPr>
        <p:spPr>
          <a:xfrm>
            <a:off x="2335952" y="5622246"/>
            <a:ext cx="6513352" cy="1118552"/>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Clr>
                <a:srgbClr val="000000"/>
              </a:buClr>
              <a:buSzPts val="3425"/>
              <a:buFont typeface="Arial"/>
              <a:buNone/>
            </a:pPr>
            <a:r>
              <a:rPr b="0" i="0" lang="en-US" sz="3425" u="none" cap="none" strike="noStrike">
                <a:solidFill>
                  <a:srgbClr val="29303C"/>
                </a:solidFill>
                <a:latin typeface="Hammersmith One"/>
                <a:ea typeface="Hammersmith One"/>
                <a:cs typeface="Hammersmith One"/>
                <a:sym typeface="Hammersmith One"/>
              </a:rPr>
              <a:t>Contenedores: Conceptos básicos.</a:t>
            </a:r>
            <a:endParaRPr b="0" i="0" sz="1400" u="none" cap="none" strike="noStrike">
              <a:solidFill>
                <a:srgbClr val="000000"/>
              </a:solidFill>
              <a:latin typeface="Arial"/>
              <a:ea typeface="Arial"/>
              <a:cs typeface="Arial"/>
              <a:sym typeface="Arial"/>
            </a:endParaRPr>
          </a:p>
        </p:txBody>
      </p:sp>
      <p:sp>
        <p:nvSpPr>
          <p:cNvPr id="111" name="Google Shape;111;p2"/>
          <p:cNvSpPr txBox="1"/>
          <p:nvPr/>
        </p:nvSpPr>
        <p:spPr>
          <a:xfrm>
            <a:off x="2335952" y="7045598"/>
            <a:ext cx="6407869" cy="1118552"/>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Clr>
                <a:srgbClr val="000000"/>
              </a:buClr>
              <a:buSzPts val="3425"/>
              <a:buFont typeface="Arial"/>
              <a:buNone/>
            </a:pPr>
            <a:r>
              <a:rPr b="0" i="0" lang="en-US" sz="3425" u="none" cap="none" strike="noStrike">
                <a:solidFill>
                  <a:srgbClr val="29303C"/>
                </a:solidFill>
                <a:latin typeface="Hammersmith One"/>
                <a:ea typeface="Hammersmith One"/>
                <a:cs typeface="Hammersmith One"/>
                <a:sym typeface="Hammersmith One"/>
              </a:rPr>
              <a:t>Imágenes y volúmenes: Almacenamiento en Docker.</a:t>
            </a:r>
            <a:endParaRPr b="0" i="0" sz="1400" u="none" cap="none" strike="noStrike">
              <a:solidFill>
                <a:srgbClr val="000000"/>
              </a:solidFill>
              <a:latin typeface="Arial"/>
              <a:ea typeface="Arial"/>
              <a:cs typeface="Arial"/>
              <a:sym typeface="Arial"/>
            </a:endParaRPr>
          </a:p>
        </p:txBody>
      </p:sp>
      <p:sp>
        <p:nvSpPr>
          <p:cNvPr id="112" name="Google Shape;112;p2"/>
          <p:cNvSpPr txBox="1"/>
          <p:nvPr/>
        </p:nvSpPr>
        <p:spPr>
          <a:xfrm>
            <a:off x="1211924" y="1300032"/>
            <a:ext cx="464355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1" i="0" lang="en-US" sz="5199" u="none" cap="none" strike="noStrike">
                <a:solidFill>
                  <a:srgbClr val="29303C"/>
                </a:solidFill>
                <a:latin typeface="Open Sans"/>
                <a:ea typeface="Open Sans"/>
                <a:cs typeface="Open Sans"/>
                <a:sym typeface="Open Sans"/>
              </a:rPr>
              <a:t>Recordatorios</a:t>
            </a:r>
            <a:endParaRPr b="0" i="0" sz="1400" u="none" cap="none" strike="noStrike">
              <a:solidFill>
                <a:srgbClr val="000000"/>
              </a:solidFill>
              <a:latin typeface="Arial"/>
              <a:ea typeface="Arial"/>
              <a:cs typeface="Arial"/>
              <a:sym typeface="Arial"/>
            </a:endParaRPr>
          </a:p>
        </p:txBody>
      </p:sp>
      <p:sp>
        <p:nvSpPr>
          <p:cNvPr id="113" name="Google Shape;113;p2"/>
          <p:cNvSpPr txBox="1"/>
          <p:nvPr/>
        </p:nvSpPr>
        <p:spPr>
          <a:xfrm>
            <a:off x="1211924" y="4208720"/>
            <a:ext cx="2248057"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1" i="0" lang="en-US" sz="5199" u="none" cap="none" strike="noStrike">
                <a:solidFill>
                  <a:srgbClr val="29303C"/>
                </a:solidFill>
                <a:latin typeface="Open Sans"/>
                <a:ea typeface="Open Sans"/>
                <a:cs typeface="Open Sans"/>
                <a:sym typeface="Open Sans"/>
              </a:rPr>
              <a:t>Temas</a:t>
            </a:r>
            <a:endParaRPr b="0" i="0" sz="1400" u="none" cap="none" strike="noStrike">
              <a:solidFill>
                <a:srgbClr val="000000"/>
              </a:solidFill>
              <a:latin typeface="Arial"/>
              <a:ea typeface="Arial"/>
              <a:cs typeface="Arial"/>
              <a:sym typeface="Arial"/>
            </a:endParaRPr>
          </a:p>
        </p:txBody>
      </p:sp>
      <p:grpSp>
        <p:nvGrpSpPr>
          <p:cNvPr id="114" name="Google Shape;114;p2"/>
          <p:cNvGrpSpPr/>
          <p:nvPr/>
        </p:nvGrpSpPr>
        <p:grpSpPr>
          <a:xfrm>
            <a:off x="1421964" y="8733768"/>
            <a:ext cx="731003" cy="760368"/>
            <a:chOff x="0" y="0"/>
            <a:chExt cx="974670" cy="1013824"/>
          </a:xfrm>
        </p:grpSpPr>
        <p:sp>
          <p:nvSpPr>
            <p:cNvPr id="115" name="Google Shape;115;p2"/>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2"/>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FF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grpSp>
      <p:grpSp>
        <p:nvGrpSpPr>
          <p:cNvPr id="117" name="Google Shape;117;p2"/>
          <p:cNvGrpSpPr/>
          <p:nvPr/>
        </p:nvGrpSpPr>
        <p:grpSpPr>
          <a:xfrm>
            <a:off x="9410394" y="5820388"/>
            <a:ext cx="731003" cy="760368"/>
            <a:chOff x="0" y="0"/>
            <a:chExt cx="974670" cy="1013824"/>
          </a:xfrm>
        </p:grpSpPr>
        <p:sp>
          <p:nvSpPr>
            <p:cNvPr id="118" name="Google Shape;118;p2"/>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2"/>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FFFFFF"/>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grpSp>
      <p:sp>
        <p:nvSpPr>
          <p:cNvPr id="120" name="Google Shape;120;p2"/>
          <p:cNvSpPr txBox="1"/>
          <p:nvPr/>
        </p:nvSpPr>
        <p:spPr>
          <a:xfrm>
            <a:off x="2335952" y="8811850"/>
            <a:ext cx="6052977" cy="556577"/>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Clr>
                <a:srgbClr val="000000"/>
              </a:buClr>
              <a:buSzPts val="3425"/>
              <a:buFont typeface="Arial"/>
              <a:buNone/>
            </a:pPr>
            <a:r>
              <a:rPr b="0" i="0" lang="en-US" sz="3425" u="none" cap="none" strike="noStrike">
                <a:solidFill>
                  <a:srgbClr val="29303C"/>
                </a:solidFill>
                <a:latin typeface="Hammersmith One"/>
                <a:ea typeface="Hammersmith One"/>
                <a:cs typeface="Hammersmith One"/>
                <a:sym typeface="Hammersmith One"/>
              </a:rPr>
              <a:t>Dockerizar aplicaciones.</a:t>
            </a:r>
            <a:endParaRPr b="0" i="0" sz="1400" u="none" cap="none" strike="noStrike">
              <a:solidFill>
                <a:srgbClr val="000000"/>
              </a:solidFill>
              <a:latin typeface="Arial"/>
              <a:ea typeface="Arial"/>
              <a:cs typeface="Arial"/>
              <a:sym typeface="Arial"/>
            </a:endParaRPr>
          </a:p>
        </p:txBody>
      </p:sp>
      <p:sp>
        <p:nvSpPr>
          <p:cNvPr id="121" name="Google Shape;121;p2"/>
          <p:cNvSpPr txBox="1"/>
          <p:nvPr/>
        </p:nvSpPr>
        <p:spPr>
          <a:xfrm>
            <a:off x="10322371" y="5622246"/>
            <a:ext cx="7026994" cy="1118552"/>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Clr>
                <a:srgbClr val="000000"/>
              </a:buClr>
              <a:buSzPts val="3425"/>
              <a:buFont typeface="Arial"/>
              <a:buNone/>
            </a:pPr>
            <a:r>
              <a:rPr b="0" i="0" lang="en-US" sz="3425" u="none" cap="none" strike="noStrike">
                <a:solidFill>
                  <a:srgbClr val="29303C"/>
                </a:solidFill>
                <a:latin typeface="Hammersmith One"/>
                <a:ea typeface="Hammersmith One"/>
                <a:cs typeface="Hammersmith One"/>
                <a:sym typeface="Hammersmith One"/>
              </a:rPr>
              <a:t>Docker Compose: Orquestación de contenedores.</a:t>
            </a:r>
            <a:endParaRPr b="0" i="0" sz="1400" u="none" cap="none" strike="noStrike">
              <a:solidFill>
                <a:srgbClr val="000000"/>
              </a:solidFill>
              <a:latin typeface="Arial"/>
              <a:ea typeface="Arial"/>
              <a:cs typeface="Arial"/>
              <a:sym typeface="Arial"/>
            </a:endParaRPr>
          </a:p>
        </p:txBody>
      </p:sp>
      <p:grpSp>
        <p:nvGrpSpPr>
          <p:cNvPr id="122" name="Google Shape;122;p2"/>
          <p:cNvGrpSpPr/>
          <p:nvPr/>
        </p:nvGrpSpPr>
        <p:grpSpPr>
          <a:xfrm>
            <a:off x="9410394" y="7243740"/>
            <a:ext cx="731003" cy="760368"/>
            <a:chOff x="0" y="0"/>
            <a:chExt cx="974670" cy="1013824"/>
          </a:xfrm>
        </p:grpSpPr>
        <p:sp>
          <p:nvSpPr>
            <p:cNvPr id="123" name="Google Shape;123;p2"/>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2"/>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FFFFFF"/>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grpSp>
      <p:sp>
        <p:nvSpPr>
          <p:cNvPr id="125" name="Google Shape;125;p2"/>
          <p:cNvSpPr txBox="1"/>
          <p:nvPr/>
        </p:nvSpPr>
        <p:spPr>
          <a:xfrm>
            <a:off x="10322371" y="7045598"/>
            <a:ext cx="7026994" cy="1118552"/>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Clr>
                <a:srgbClr val="000000"/>
              </a:buClr>
              <a:buSzPts val="3425"/>
              <a:buFont typeface="Arial"/>
              <a:buNone/>
            </a:pPr>
            <a:r>
              <a:rPr b="0" i="0" lang="en-US" sz="3425" u="none" cap="none" strike="noStrike">
                <a:solidFill>
                  <a:srgbClr val="29303C"/>
                </a:solidFill>
                <a:latin typeface="Hammersmith One"/>
                <a:ea typeface="Hammersmith One"/>
                <a:cs typeface="Hammersmith One"/>
                <a:sym typeface="Hammersmith One"/>
              </a:rPr>
              <a:t>Despliegue y escalabilidad de aplicaciones con Docker.</a:t>
            </a:r>
            <a:endParaRPr b="0" i="0" sz="1400" u="none" cap="none" strike="noStrike">
              <a:solidFill>
                <a:srgbClr val="000000"/>
              </a:solidFill>
              <a:latin typeface="Arial"/>
              <a:ea typeface="Arial"/>
              <a:cs typeface="Arial"/>
              <a:sym typeface="Arial"/>
            </a:endParaRPr>
          </a:p>
        </p:txBody>
      </p:sp>
      <p:grpSp>
        <p:nvGrpSpPr>
          <p:cNvPr id="126" name="Google Shape;126;p2"/>
          <p:cNvGrpSpPr/>
          <p:nvPr/>
        </p:nvGrpSpPr>
        <p:grpSpPr>
          <a:xfrm>
            <a:off x="9410394" y="8729005"/>
            <a:ext cx="731003" cy="760368"/>
            <a:chOff x="0" y="0"/>
            <a:chExt cx="974670" cy="1013824"/>
          </a:xfrm>
        </p:grpSpPr>
        <p:sp>
          <p:nvSpPr>
            <p:cNvPr id="127" name="Google Shape;127;p2"/>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FFFFFF"/>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grpSp>
      <p:sp>
        <p:nvSpPr>
          <p:cNvPr id="129" name="Google Shape;129;p2"/>
          <p:cNvSpPr txBox="1"/>
          <p:nvPr/>
        </p:nvSpPr>
        <p:spPr>
          <a:xfrm>
            <a:off x="10322371" y="8816613"/>
            <a:ext cx="3248744" cy="556577"/>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Clr>
                <a:srgbClr val="000000"/>
              </a:buClr>
              <a:buSzPts val="3425"/>
              <a:buFont typeface="Arial"/>
              <a:buNone/>
            </a:pPr>
            <a:r>
              <a:rPr b="0" i="0" lang="en-US" sz="3425" u="none" cap="none" strike="noStrike">
                <a:solidFill>
                  <a:srgbClr val="29303C"/>
                </a:solidFill>
                <a:latin typeface="Hammersmith One"/>
                <a:ea typeface="Hammersmith One"/>
                <a:cs typeface="Hammersmith One"/>
                <a:sym typeface="Hammersmith One"/>
              </a:rPr>
              <a:t>Docker y Cloud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grpSp>
        <p:nvGrpSpPr>
          <p:cNvPr id="134" name="Google Shape;134;p3"/>
          <p:cNvGrpSpPr/>
          <p:nvPr/>
        </p:nvGrpSpPr>
        <p:grpSpPr>
          <a:xfrm>
            <a:off x="-1242857" y="8804406"/>
            <a:ext cx="3086100" cy="3120318"/>
            <a:chOff x="0" y="-38100"/>
            <a:chExt cx="812800" cy="821812"/>
          </a:xfrm>
        </p:grpSpPr>
        <p:sp>
          <p:nvSpPr>
            <p:cNvPr id="135" name="Google Shape;135;p3"/>
            <p:cNvSpPr/>
            <p:nvPr/>
          </p:nvSpPr>
          <p:spPr>
            <a:xfrm>
              <a:off x="0" y="0"/>
              <a:ext cx="812800" cy="783712"/>
            </a:xfrm>
            <a:custGeom>
              <a:rect b="b" l="l" r="r" t="t"/>
              <a:pathLst>
                <a:path extrusionOk="0" h="783712" w="812800">
                  <a:moveTo>
                    <a:pt x="0" y="0"/>
                  </a:moveTo>
                  <a:lnTo>
                    <a:pt x="812800" y="0"/>
                  </a:lnTo>
                  <a:lnTo>
                    <a:pt x="812800" y="783712"/>
                  </a:lnTo>
                  <a:lnTo>
                    <a:pt x="0" y="783712"/>
                  </a:lnTo>
                  <a:close/>
                </a:path>
              </a:pathLst>
            </a:custGeom>
            <a:solidFill>
              <a:srgbClr val="1E63ED"/>
            </a:solidFill>
            <a:ln>
              <a:noFill/>
            </a:ln>
          </p:spPr>
        </p:sp>
        <p:sp>
          <p:nvSpPr>
            <p:cNvPr id="136" name="Google Shape;136;p3"/>
            <p:cNvSpPr txBox="1"/>
            <p:nvPr/>
          </p:nvSpPr>
          <p:spPr>
            <a:xfrm>
              <a:off x="0" y="-38100"/>
              <a:ext cx="812800" cy="8218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7" name="Google Shape;137;p3"/>
          <p:cNvGrpSpPr/>
          <p:nvPr/>
        </p:nvGrpSpPr>
        <p:grpSpPr>
          <a:xfrm>
            <a:off x="-1753117" y="7316578"/>
            <a:ext cx="3086100" cy="3120318"/>
            <a:chOff x="0" y="-38100"/>
            <a:chExt cx="812800" cy="821812"/>
          </a:xfrm>
        </p:grpSpPr>
        <p:sp>
          <p:nvSpPr>
            <p:cNvPr id="138" name="Google Shape;138;p3"/>
            <p:cNvSpPr/>
            <p:nvPr/>
          </p:nvSpPr>
          <p:spPr>
            <a:xfrm>
              <a:off x="0" y="0"/>
              <a:ext cx="812800" cy="783712"/>
            </a:xfrm>
            <a:custGeom>
              <a:rect b="b" l="l" r="r" t="t"/>
              <a:pathLst>
                <a:path extrusionOk="0" h="783712" w="812800">
                  <a:moveTo>
                    <a:pt x="0" y="0"/>
                  </a:moveTo>
                  <a:lnTo>
                    <a:pt x="812800" y="0"/>
                  </a:lnTo>
                  <a:lnTo>
                    <a:pt x="812800" y="783712"/>
                  </a:lnTo>
                  <a:lnTo>
                    <a:pt x="0" y="783712"/>
                  </a:lnTo>
                  <a:close/>
                </a:path>
              </a:pathLst>
            </a:custGeom>
            <a:solidFill>
              <a:srgbClr val="29303C"/>
            </a:solidFill>
            <a:ln>
              <a:noFill/>
            </a:ln>
          </p:spPr>
        </p:sp>
        <p:sp>
          <p:nvSpPr>
            <p:cNvPr id="139" name="Google Shape;139;p3"/>
            <p:cNvSpPr txBox="1"/>
            <p:nvPr/>
          </p:nvSpPr>
          <p:spPr>
            <a:xfrm>
              <a:off x="0" y="-38100"/>
              <a:ext cx="812800" cy="8218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40" name="Google Shape;140;p3"/>
          <p:cNvGrpSpPr/>
          <p:nvPr/>
        </p:nvGrpSpPr>
        <p:grpSpPr>
          <a:xfrm>
            <a:off x="11812774" y="9645946"/>
            <a:ext cx="1419225" cy="641054"/>
            <a:chOff x="0" y="-38100"/>
            <a:chExt cx="373788" cy="168838"/>
          </a:xfrm>
        </p:grpSpPr>
        <p:sp>
          <p:nvSpPr>
            <p:cNvPr id="141" name="Google Shape;141;p3"/>
            <p:cNvSpPr/>
            <p:nvPr/>
          </p:nvSpPr>
          <p:spPr>
            <a:xfrm>
              <a:off x="0" y="0"/>
              <a:ext cx="373788" cy="130738"/>
            </a:xfrm>
            <a:custGeom>
              <a:rect b="b" l="l" r="r" t="t"/>
              <a:pathLst>
                <a:path extrusionOk="0" h="130738" w="373788">
                  <a:moveTo>
                    <a:pt x="0" y="0"/>
                  </a:moveTo>
                  <a:lnTo>
                    <a:pt x="373788" y="0"/>
                  </a:lnTo>
                  <a:lnTo>
                    <a:pt x="373788" y="130738"/>
                  </a:lnTo>
                  <a:lnTo>
                    <a:pt x="0" y="130738"/>
                  </a:lnTo>
                  <a:close/>
                </a:path>
              </a:pathLst>
            </a:custGeom>
            <a:solidFill>
              <a:srgbClr val="1E63ED"/>
            </a:solidFill>
            <a:ln>
              <a:noFill/>
            </a:ln>
          </p:spPr>
        </p:sp>
        <p:sp>
          <p:nvSpPr>
            <p:cNvPr id="142" name="Google Shape;142;p3"/>
            <p:cNvSpPr txBox="1"/>
            <p:nvPr/>
          </p:nvSpPr>
          <p:spPr>
            <a:xfrm>
              <a:off x="0" y="-38100"/>
              <a:ext cx="373788" cy="16883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43" name="Google Shape;143;p3"/>
          <p:cNvGrpSpPr/>
          <p:nvPr/>
        </p:nvGrpSpPr>
        <p:grpSpPr>
          <a:xfrm>
            <a:off x="12038199" y="9467051"/>
            <a:ext cx="6249801" cy="819949"/>
            <a:chOff x="0" y="-38100"/>
            <a:chExt cx="1646038" cy="215954"/>
          </a:xfrm>
        </p:grpSpPr>
        <p:sp>
          <p:nvSpPr>
            <p:cNvPr id="144" name="Google Shape;144;p3"/>
            <p:cNvSpPr/>
            <p:nvPr/>
          </p:nvSpPr>
          <p:spPr>
            <a:xfrm>
              <a:off x="0" y="0"/>
              <a:ext cx="1646038" cy="177854"/>
            </a:xfrm>
            <a:custGeom>
              <a:rect b="b" l="l" r="r" t="t"/>
              <a:pathLst>
                <a:path extrusionOk="0" h="177854" w="1646038">
                  <a:moveTo>
                    <a:pt x="0" y="0"/>
                  </a:moveTo>
                  <a:lnTo>
                    <a:pt x="1646038" y="0"/>
                  </a:lnTo>
                  <a:lnTo>
                    <a:pt x="1646038" y="177854"/>
                  </a:lnTo>
                  <a:lnTo>
                    <a:pt x="0" y="177854"/>
                  </a:lnTo>
                  <a:close/>
                </a:path>
              </a:pathLst>
            </a:custGeom>
            <a:solidFill>
              <a:srgbClr val="29303C"/>
            </a:solidFill>
            <a:ln>
              <a:noFill/>
            </a:ln>
          </p:spPr>
        </p:sp>
        <p:sp>
          <p:nvSpPr>
            <p:cNvPr id="145" name="Google Shape;145;p3"/>
            <p:cNvSpPr txBox="1"/>
            <p:nvPr/>
          </p:nvSpPr>
          <p:spPr>
            <a:xfrm>
              <a:off x="0" y="-38100"/>
              <a:ext cx="1646038" cy="21595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46" name="Google Shape;146;p3"/>
          <p:cNvSpPr/>
          <p:nvPr/>
        </p:nvSpPr>
        <p:spPr>
          <a:xfrm>
            <a:off x="3626254" y="5689242"/>
            <a:ext cx="10548970" cy="2529962"/>
          </a:xfrm>
          <a:custGeom>
            <a:rect b="b" l="l" r="r" t="t"/>
            <a:pathLst>
              <a:path extrusionOk="0" h="2529962" w="10548970">
                <a:moveTo>
                  <a:pt x="0" y="0"/>
                </a:moveTo>
                <a:lnTo>
                  <a:pt x="10548970" y="0"/>
                </a:lnTo>
                <a:lnTo>
                  <a:pt x="10548970" y="2529962"/>
                </a:lnTo>
                <a:lnTo>
                  <a:pt x="0" y="2529962"/>
                </a:lnTo>
                <a:lnTo>
                  <a:pt x="0" y="0"/>
                </a:lnTo>
                <a:close/>
              </a:path>
            </a:pathLst>
          </a:custGeom>
          <a:blipFill rotWithShape="1">
            <a:blip r:embed="rId3">
              <a:alphaModFix/>
            </a:blip>
            <a:stretch>
              <a:fillRect b="-105354" l="-2856" r="-5867" t="-97291"/>
            </a:stretch>
          </a:blipFill>
          <a:ln>
            <a:noFill/>
          </a:ln>
        </p:spPr>
      </p:sp>
      <p:sp>
        <p:nvSpPr>
          <p:cNvPr id="147" name="Google Shape;147;p3"/>
          <p:cNvSpPr txBox="1"/>
          <p:nvPr/>
        </p:nvSpPr>
        <p:spPr>
          <a:xfrm>
            <a:off x="300193" y="971550"/>
            <a:ext cx="17518592" cy="1120775"/>
          </a:xfrm>
          <a:prstGeom prst="rect">
            <a:avLst/>
          </a:prstGeom>
          <a:noFill/>
          <a:ln>
            <a:noFill/>
          </a:ln>
        </p:spPr>
        <p:txBody>
          <a:bodyPr anchorCtr="0" anchor="t" bIns="0" lIns="0" spcFirstLastPara="1" rIns="0" wrap="square" tIns="0">
            <a:spAutoFit/>
          </a:bodyPr>
          <a:lstStyle/>
          <a:p>
            <a:pPr indent="0" lvl="0" marL="0" marR="0" rtl="0" algn="ctr">
              <a:lnSpc>
                <a:spcPct val="130004"/>
              </a:lnSpc>
              <a:spcBef>
                <a:spcPts val="0"/>
              </a:spcBef>
              <a:spcAft>
                <a:spcPts val="0"/>
              </a:spcAft>
              <a:buClr>
                <a:srgbClr val="000000"/>
              </a:buClr>
              <a:buSzPts val="6999"/>
              <a:buFont typeface="Arial"/>
              <a:buNone/>
            </a:pPr>
            <a:r>
              <a:rPr b="1" i="0" lang="en-US" sz="6999" u="none" cap="none" strike="noStrike">
                <a:solidFill>
                  <a:srgbClr val="29303C"/>
                </a:solidFill>
                <a:latin typeface="Arial"/>
                <a:ea typeface="Arial"/>
                <a:cs typeface="Arial"/>
                <a:sym typeface="Arial"/>
              </a:rPr>
              <a:t>¿QUÉ ES DOCKER?</a:t>
            </a:r>
            <a:endParaRPr b="0" i="0" sz="1400" u="none" cap="none" strike="noStrike">
              <a:solidFill>
                <a:srgbClr val="000000"/>
              </a:solidFill>
              <a:latin typeface="Arial"/>
              <a:ea typeface="Arial"/>
              <a:cs typeface="Arial"/>
              <a:sym typeface="Arial"/>
            </a:endParaRPr>
          </a:p>
        </p:txBody>
      </p:sp>
      <p:sp>
        <p:nvSpPr>
          <p:cNvPr id="148" name="Google Shape;148;p3"/>
          <p:cNvSpPr txBox="1"/>
          <p:nvPr/>
        </p:nvSpPr>
        <p:spPr>
          <a:xfrm>
            <a:off x="944189" y="2425071"/>
            <a:ext cx="16230600" cy="24669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29303C"/>
                </a:solidFill>
                <a:latin typeface="Arial"/>
                <a:ea typeface="Arial"/>
                <a:cs typeface="Arial"/>
                <a:sym typeface="Arial"/>
              </a:rPr>
              <a:t>Docker es una plataforma de código abierto que nos permite automatizar el despliegue de aplicaciones dentro de contenedores.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t/>
            </a:r>
            <a:endParaRPr b="0" i="0" sz="3000" u="none" cap="none" strike="noStrike">
              <a:solidFill>
                <a:srgbClr val="29303C"/>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29303C"/>
                </a:solidFill>
                <a:latin typeface="Arial"/>
                <a:ea typeface="Arial"/>
                <a:cs typeface="Arial"/>
                <a:sym typeface="Arial"/>
              </a:rPr>
              <a:t>Un </a:t>
            </a:r>
            <a:r>
              <a:rPr b="1" i="0" lang="en-US" sz="3000" u="none" cap="none" strike="noStrike">
                <a:solidFill>
                  <a:srgbClr val="29303C"/>
                </a:solidFill>
                <a:latin typeface="Arial"/>
                <a:ea typeface="Arial"/>
                <a:cs typeface="Arial"/>
                <a:sym typeface="Arial"/>
              </a:rPr>
              <a:t>Contenedor </a:t>
            </a:r>
            <a:r>
              <a:rPr b="0" i="0" lang="en-US" sz="3000" u="none" cap="none" strike="noStrike">
                <a:solidFill>
                  <a:srgbClr val="29303C"/>
                </a:solidFill>
                <a:latin typeface="Arial"/>
                <a:ea typeface="Arial"/>
                <a:cs typeface="Arial"/>
                <a:sym typeface="Arial"/>
              </a:rPr>
              <a:t>es una unidad de software independiente y ligera, que incluye todo lo necesario para que la aplicación funcione de manera uniforme en cualquier entorno.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grpSp>
        <p:nvGrpSpPr>
          <p:cNvPr id="153" name="Google Shape;153;p4"/>
          <p:cNvGrpSpPr/>
          <p:nvPr/>
        </p:nvGrpSpPr>
        <p:grpSpPr>
          <a:xfrm>
            <a:off x="0" y="-144661"/>
            <a:ext cx="357187" cy="10449016"/>
            <a:chOff x="0" y="-38100"/>
            <a:chExt cx="94074" cy="2752004"/>
          </a:xfrm>
        </p:grpSpPr>
        <p:sp>
          <p:nvSpPr>
            <p:cNvPr id="154" name="Google Shape;154;p4"/>
            <p:cNvSpPr/>
            <p:nvPr/>
          </p:nvSpPr>
          <p:spPr>
            <a:xfrm>
              <a:off x="0" y="0"/>
              <a:ext cx="94074" cy="2713904"/>
            </a:xfrm>
            <a:custGeom>
              <a:rect b="b" l="l" r="r" t="t"/>
              <a:pathLst>
                <a:path extrusionOk="0" h="2713904" w="94074">
                  <a:moveTo>
                    <a:pt x="0" y="0"/>
                  </a:moveTo>
                  <a:lnTo>
                    <a:pt x="94074" y="0"/>
                  </a:lnTo>
                  <a:lnTo>
                    <a:pt x="94074" y="2713904"/>
                  </a:lnTo>
                  <a:lnTo>
                    <a:pt x="0" y="2713904"/>
                  </a:lnTo>
                  <a:close/>
                </a:path>
              </a:pathLst>
            </a:custGeom>
            <a:solidFill>
              <a:srgbClr val="1E63ED"/>
            </a:solidFill>
            <a:ln>
              <a:noFill/>
            </a:ln>
          </p:spPr>
        </p:sp>
        <p:sp>
          <p:nvSpPr>
            <p:cNvPr id="155" name="Google Shape;155;p4"/>
            <p:cNvSpPr txBox="1"/>
            <p:nvPr/>
          </p:nvSpPr>
          <p:spPr>
            <a:xfrm>
              <a:off x="0" y="-38100"/>
              <a:ext cx="94074" cy="275200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56" name="Google Shape;156;p4"/>
          <p:cNvGrpSpPr/>
          <p:nvPr/>
        </p:nvGrpSpPr>
        <p:grpSpPr>
          <a:xfrm>
            <a:off x="0" y="5256014"/>
            <a:ext cx="714375" cy="5030986"/>
            <a:chOff x="0" y="-38100"/>
            <a:chExt cx="188148" cy="1325033"/>
          </a:xfrm>
        </p:grpSpPr>
        <p:sp>
          <p:nvSpPr>
            <p:cNvPr id="157" name="Google Shape;157;p4"/>
            <p:cNvSpPr/>
            <p:nvPr/>
          </p:nvSpPr>
          <p:spPr>
            <a:xfrm>
              <a:off x="0" y="0"/>
              <a:ext cx="188148" cy="1286933"/>
            </a:xfrm>
            <a:custGeom>
              <a:rect b="b" l="l" r="r" t="t"/>
              <a:pathLst>
                <a:path extrusionOk="0" h="1286933" w="188148">
                  <a:moveTo>
                    <a:pt x="0" y="0"/>
                  </a:moveTo>
                  <a:lnTo>
                    <a:pt x="188148" y="0"/>
                  </a:lnTo>
                  <a:lnTo>
                    <a:pt x="188148" y="1286933"/>
                  </a:lnTo>
                  <a:lnTo>
                    <a:pt x="0" y="1286933"/>
                  </a:lnTo>
                  <a:close/>
                </a:path>
              </a:pathLst>
            </a:custGeom>
            <a:solidFill>
              <a:srgbClr val="29303C"/>
            </a:solidFill>
            <a:ln>
              <a:noFill/>
            </a:ln>
          </p:spPr>
        </p:sp>
        <p:sp>
          <p:nvSpPr>
            <p:cNvPr id="158" name="Google Shape;158;p4"/>
            <p:cNvSpPr txBox="1"/>
            <p:nvPr/>
          </p:nvSpPr>
          <p:spPr>
            <a:xfrm>
              <a:off x="0" y="-38100"/>
              <a:ext cx="188148" cy="13250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59" name="Google Shape;159;p4"/>
          <p:cNvSpPr/>
          <p:nvPr/>
        </p:nvSpPr>
        <p:spPr>
          <a:xfrm>
            <a:off x="12523901" y="2854077"/>
            <a:ext cx="4866832" cy="5093196"/>
          </a:xfrm>
          <a:custGeom>
            <a:rect b="b" l="l" r="r" t="t"/>
            <a:pathLst>
              <a:path extrusionOk="0" h="5093196" w="4866832">
                <a:moveTo>
                  <a:pt x="0" y="0"/>
                </a:moveTo>
                <a:lnTo>
                  <a:pt x="4866831" y="0"/>
                </a:lnTo>
                <a:lnTo>
                  <a:pt x="4866831" y="5093196"/>
                </a:lnTo>
                <a:lnTo>
                  <a:pt x="0" y="5093196"/>
                </a:lnTo>
                <a:lnTo>
                  <a:pt x="0" y="0"/>
                </a:lnTo>
                <a:close/>
              </a:path>
            </a:pathLst>
          </a:custGeom>
          <a:blipFill rotWithShape="1">
            <a:blip r:embed="rId3">
              <a:alphaModFix/>
            </a:blip>
            <a:stretch>
              <a:fillRect b="0" l="0" r="0" t="0"/>
            </a:stretch>
          </a:blipFill>
          <a:ln>
            <a:noFill/>
          </a:ln>
        </p:spPr>
      </p:sp>
      <p:sp>
        <p:nvSpPr>
          <p:cNvPr id="160" name="Google Shape;160;p4"/>
          <p:cNvSpPr txBox="1"/>
          <p:nvPr/>
        </p:nvSpPr>
        <p:spPr>
          <a:xfrm>
            <a:off x="2710350" y="425950"/>
            <a:ext cx="14506500" cy="1077300"/>
          </a:xfrm>
          <a:prstGeom prst="rect">
            <a:avLst/>
          </a:prstGeom>
          <a:noFill/>
          <a:ln>
            <a:noFill/>
          </a:ln>
        </p:spPr>
        <p:txBody>
          <a:bodyPr anchorCtr="0" anchor="t" bIns="0" lIns="0" spcFirstLastPara="1" rIns="0" wrap="square" tIns="0">
            <a:spAutoFit/>
          </a:bodyPr>
          <a:lstStyle/>
          <a:p>
            <a:pPr indent="0" lvl="0" marL="0" marR="0" rtl="0" algn="ctr">
              <a:lnSpc>
                <a:spcPct val="130004"/>
              </a:lnSpc>
              <a:spcBef>
                <a:spcPts val="0"/>
              </a:spcBef>
              <a:spcAft>
                <a:spcPts val="0"/>
              </a:spcAft>
              <a:buClr>
                <a:srgbClr val="000000"/>
              </a:buClr>
              <a:buSzPts val="6999"/>
              <a:buFont typeface="Arial"/>
              <a:buNone/>
            </a:pPr>
            <a:r>
              <a:rPr b="1" i="0" lang="en-US" sz="6999" u="none" cap="none" strike="noStrike">
                <a:solidFill>
                  <a:srgbClr val="29303C"/>
                </a:solidFill>
                <a:latin typeface="Arial"/>
                <a:ea typeface="Arial"/>
                <a:cs typeface="Arial"/>
                <a:sym typeface="Arial"/>
              </a:rPr>
              <a:t>¿CÓMO FUNCIONA DOCKER?</a:t>
            </a:r>
            <a:endParaRPr b="0" i="0" sz="1400" u="none" cap="none" strike="noStrike">
              <a:solidFill>
                <a:srgbClr val="000000"/>
              </a:solidFill>
              <a:latin typeface="Arial"/>
              <a:ea typeface="Arial"/>
              <a:cs typeface="Arial"/>
              <a:sym typeface="Arial"/>
            </a:endParaRPr>
          </a:p>
        </p:txBody>
      </p:sp>
      <p:sp>
        <p:nvSpPr>
          <p:cNvPr id="161" name="Google Shape;161;p4"/>
          <p:cNvSpPr txBox="1"/>
          <p:nvPr/>
        </p:nvSpPr>
        <p:spPr>
          <a:xfrm>
            <a:off x="1766150" y="2171700"/>
            <a:ext cx="9705975" cy="64293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29303C"/>
                </a:solidFill>
                <a:latin typeface="Arial"/>
                <a:ea typeface="Arial"/>
                <a:cs typeface="Arial"/>
                <a:sym typeface="Arial"/>
              </a:rPr>
              <a:t>Docker utiliza un sistema de imágenes y contenedores, </a:t>
            </a:r>
            <a:r>
              <a:rPr b="1" i="0" lang="en-US" sz="3000" u="none" cap="none" strike="noStrike">
                <a:solidFill>
                  <a:srgbClr val="29303C"/>
                </a:solidFill>
                <a:latin typeface="Arial"/>
                <a:ea typeface="Arial"/>
                <a:cs typeface="Arial"/>
                <a:sym typeface="Arial"/>
              </a:rPr>
              <a:t>una imagen de Docker es una plantilla inmutable que define el entorno de ejecución</a:t>
            </a:r>
            <a:r>
              <a:rPr b="0" i="0" lang="en-US" sz="3000" u="none" cap="none" strike="noStrike">
                <a:solidFill>
                  <a:srgbClr val="29303C"/>
                </a:solidFill>
                <a:latin typeface="Arial"/>
                <a:ea typeface="Arial"/>
                <a:cs typeface="Arial"/>
                <a:sym typeface="Arial"/>
              </a:rPr>
              <a:t> [incluyendo el sistema operativo, librerías, dependencias y código de la aplicación]. </a:t>
            </a:r>
            <a:r>
              <a:rPr b="1" i="0" lang="en-US" sz="3000" u="none" cap="none" strike="noStrike">
                <a:solidFill>
                  <a:srgbClr val="29303C"/>
                </a:solidFill>
                <a:latin typeface="Arial"/>
                <a:ea typeface="Arial"/>
                <a:cs typeface="Arial"/>
                <a:sym typeface="Arial"/>
              </a:rPr>
              <a:t>Al ejecutar una imágen, Docker crea un contenedor, que es una instancia activa de la imagen en ejecución.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t/>
            </a:r>
            <a:endParaRPr b="1" i="0" sz="3000" u="none" cap="none" strike="noStrike">
              <a:solidFill>
                <a:srgbClr val="29303C"/>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rPr b="1" i="0" lang="en-US" sz="3000" u="none" cap="none" strike="noStrike">
                <a:solidFill>
                  <a:srgbClr val="29303C"/>
                </a:solidFill>
                <a:latin typeface="Arial"/>
                <a:ea typeface="Arial"/>
                <a:cs typeface="Arial"/>
                <a:sym typeface="Arial"/>
              </a:rPr>
              <a:t>Esto permite encapsular la aplicación y todas sus dependencias</a:t>
            </a:r>
            <a:r>
              <a:rPr b="0" i="0" lang="en-US" sz="3000" u="none" cap="none" strike="noStrike">
                <a:solidFill>
                  <a:srgbClr val="29303C"/>
                </a:solidFill>
                <a:latin typeface="Arial"/>
                <a:ea typeface="Arial"/>
                <a:cs typeface="Arial"/>
                <a:sym typeface="Arial"/>
              </a:rPr>
              <a:t>, para que pueda ejecutarse de forma consistente en diferentes entornos.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t/>
            </a:r>
            <a:endParaRPr b="0" i="0" sz="3000" u="none" cap="none" strike="noStrike">
              <a:solidFill>
                <a:srgbClr val="29303C"/>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grpSp>
        <p:nvGrpSpPr>
          <p:cNvPr id="166" name="Google Shape;166;p5"/>
          <p:cNvGrpSpPr/>
          <p:nvPr/>
        </p:nvGrpSpPr>
        <p:grpSpPr>
          <a:xfrm>
            <a:off x="0" y="8824911"/>
            <a:ext cx="7251395" cy="1479444"/>
            <a:chOff x="0" y="-38100"/>
            <a:chExt cx="1909832" cy="389648"/>
          </a:xfrm>
        </p:grpSpPr>
        <p:sp>
          <p:nvSpPr>
            <p:cNvPr id="167" name="Google Shape;167;p5"/>
            <p:cNvSpPr/>
            <p:nvPr/>
          </p:nvSpPr>
          <p:spPr>
            <a:xfrm>
              <a:off x="0" y="0"/>
              <a:ext cx="1909832" cy="351548"/>
            </a:xfrm>
            <a:custGeom>
              <a:rect b="b" l="l" r="r" t="t"/>
              <a:pathLst>
                <a:path extrusionOk="0" h="351548" w="1909832">
                  <a:moveTo>
                    <a:pt x="0" y="0"/>
                  </a:moveTo>
                  <a:lnTo>
                    <a:pt x="1909832" y="0"/>
                  </a:lnTo>
                  <a:lnTo>
                    <a:pt x="1909832" y="351548"/>
                  </a:lnTo>
                  <a:lnTo>
                    <a:pt x="0" y="351548"/>
                  </a:lnTo>
                  <a:close/>
                </a:path>
              </a:pathLst>
            </a:custGeom>
            <a:solidFill>
              <a:srgbClr val="1E63ED"/>
            </a:solidFill>
            <a:ln>
              <a:noFill/>
            </a:ln>
          </p:spPr>
        </p:sp>
        <p:sp>
          <p:nvSpPr>
            <p:cNvPr id="168" name="Google Shape;168;p5"/>
            <p:cNvSpPr txBox="1"/>
            <p:nvPr/>
          </p:nvSpPr>
          <p:spPr>
            <a:xfrm>
              <a:off x="0" y="-38100"/>
              <a:ext cx="1909832" cy="38964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9" name="Google Shape;169;p5"/>
          <p:cNvGrpSpPr/>
          <p:nvPr/>
        </p:nvGrpSpPr>
        <p:grpSpPr>
          <a:xfrm>
            <a:off x="0" y="9233552"/>
            <a:ext cx="18288000" cy="1053448"/>
            <a:chOff x="0" y="-38100"/>
            <a:chExt cx="4816593" cy="277451"/>
          </a:xfrm>
        </p:grpSpPr>
        <p:sp>
          <p:nvSpPr>
            <p:cNvPr id="170" name="Google Shape;170;p5"/>
            <p:cNvSpPr/>
            <p:nvPr/>
          </p:nvSpPr>
          <p:spPr>
            <a:xfrm>
              <a:off x="0" y="0"/>
              <a:ext cx="4816592" cy="239351"/>
            </a:xfrm>
            <a:custGeom>
              <a:rect b="b" l="l" r="r" t="t"/>
              <a:pathLst>
                <a:path extrusionOk="0" h="239351" w="4816592">
                  <a:moveTo>
                    <a:pt x="0" y="0"/>
                  </a:moveTo>
                  <a:lnTo>
                    <a:pt x="4816592" y="0"/>
                  </a:lnTo>
                  <a:lnTo>
                    <a:pt x="4816592" y="239351"/>
                  </a:lnTo>
                  <a:lnTo>
                    <a:pt x="0" y="239351"/>
                  </a:lnTo>
                  <a:close/>
                </a:path>
              </a:pathLst>
            </a:custGeom>
            <a:solidFill>
              <a:srgbClr val="29303C"/>
            </a:solidFill>
            <a:ln>
              <a:noFill/>
            </a:ln>
          </p:spPr>
        </p:sp>
        <p:sp>
          <p:nvSpPr>
            <p:cNvPr id="171" name="Google Shape;171;p5"/>
            <p:cNvSpPr txBox="1"/>
            <p:nvPr/>
          </p:nvSpPr>
          <p:spPr>
            <a:xfrm>
              <a:off x="0" y="-38100"/>
              <a:ext cx="4816593" cy="2774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2" name="Google Shape;172;p5"/>
          <p:cNvSpPr/>
          <p:nvPr/>
        </p:nvSpPr>
        <p:spPr>
          <a:xfrm>
            <a:off x="3331757" y="3723863"/>
            <a:ext cx="11301259" cy="5071083"/>
          </a:xfrm>
          <a:custGeom>
            <a:rect b="b" l="l" r="r" t="t"/>
            <a:pathLst>
              <a:path extrusionOk="0" h="5071083" w="11301259">
                <a:moveTo>
                  <a:pt x="0" y="0"/>
                </a:moveTo>
                <a:lnTo>
                  <a:pt x="11301259" y="0"/>
                </a:lnTo>
                <a:lnTo>
                  <a:pt x="11301259" y="5071084"/>
                </a:lnTo>
                <a:lnTo>
                  <a:pt x="0" y="5071084"/>
                </a:lnTo>
                <a:lnTo>
                  <a:pt x="0" y="0"/>
                </a:lnTo>
                <a:close/>
              </a:path>
            </a:pathLst>
          </a:custGeom>
          <a:blipFill rotWithShape="1">
            <a:blip r:embed="rId3">
              <a:alphaModFix/>
            </a:blip>
            <a:stretch>
              <a:fillRect b="0" l="0" r="0" t="-25353"/>
            </a:stretch>
          </a:blipFill>
          <a:ln>
            <a:noFill/>
          </a:ln>
        </p:spPr>
      </p:sp>
      <p:sp>
        <p:nvSpPr>
          <p:cNvPr id="173" name="Google Shape;173;p5"/>
          <p:cNvSpPr txBox="1"/>
          <p:nvPr/>
        </p:nvSpPr>
        <p:spPr>
          <a:xfrm>
            <a:off x="2479350" y="593725"/>
            <a:ext cx="13443900" cy="769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5000"/>
              <a:buFont typeface="Arial"/>
              <a:buNone/>
            </a:pPr>
            <a:r>
              <a:rPr b="1" i="0" lang="en-US" sz="5000" u="none" cap="none" strike="noStrike">
                <a:solidFill>
                  <a:srgbClr val="29303C"/>
                </a:solidFill>
                <a:latin typeface="Arial"/>
                <a:ea typeface="Arial"/>
                <a:cs typeface="Arial"/>
                <a:sym typeface="Arial"/>
              </a:rPr>
              <a:t>¿QUÉ SON LOS OBJETOS DE DOCKER?</a:t>
            </a:r>
            <a:endParaRPr b="0" i="0" sz="1400" u="none" cap="none" strike="noStrike">
              <a:solidFill>
                <a:srgbClr val="000000"/>
              </a:solidFill>
              <a:latin typeface="Arial"/>
              <a:ea typeface="Arial"/>
              <a:cs typeface="Arial"/>
              <a:sym typeface="Arial"/>
            </a:endParaRPr>
          </a:p>
        </p:txBody>
      </p:sp>
      <p:sp>
        <p:nvSpPr>
          <p:cNvPr id="174" name="Google Shape;174;p5"/>
          <p:cNvSpPr txBox="1"/>
          <p:nvPr/>
        </p:nvSpPr>
        <p:spPr>
          <a:xfrm>
            <a:off x="1028700" y="1666463"/>
            <a:ext cx="16230600" cy="14763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29303C"/>
                </a:solidFill>
                <a:latin typeface="Arial"/>
                <a:ea typeface="Arial"/>
                <a:cs typeface="Arial"/>
                <a:sym typeface="Arial"/>
              </a:rPr>
              <a:t>Los objetos de Docker </a:t>
            </a:r>
            <a:r>
              <a:rPr b="1" i="0" lang="en-US" sz="3000" u="none" cap="none" strike="noStrike">
                <a:solidFill>
                  <a:srgbClr val="29303C"/>
                </a:solidFill>
                <a:latin typeface="Arial"/>
                <a:ea typeface="Arial"/>
                <a:cs typeface="Arial"/>
                <a:sym typeface="Arial"/>
              </a:rPr>
              <a:t>son los componentes clave que se utilizan para construir, gestionar y ejecutar aplicaciones dentro de Docker.</a:t>
            </a:r>
            <a:r>
              <a:rPr b="0" i="0" lang="en-US" sz="3000" u="none" cap="none" strike="noStrike">
                <a:solidFill>
                  <a:srgbClr val="29303C"/>
                </a:solidFill>
                <a:latin typeface="Arial"/>
                <a:ea typeface="Arial"/>
                <a:cs typeface="Arial"/>
                <a:sym typeface="Arial"/>
              </a:rPr>
              <a:t> Cada uno de estos objetos cumple un rol específico en el ciclo de vida de una aplicación contenerizada.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grpSp>
        <p:nvGrpSpPr>
          <p:cNvPr id="179" name="Google Shape;179;p6"/>
          <p:cNvGrpSpPr/>
          <p:nvPr/>
        </p:nvGrpSpPr>
        <p:grpSpPr>
          <a:xfrm>
            <a:off x="-1242857" y="8804406"/>
            <a:ext cx="3086100" cy="3120318"/>
            <a:chOff x="0" y="-38100"/>
            <a:chExt cx="812800" cy="821812"/>
          </a:xfrm>
        </p:grpSpPr>
        <p:sp>
          <p:nvSpPr>
            <p:cNvPr id="180" name="Google Shape;180;p6"/>
            <p:cNvSpPr/>
            <p:nvPr/>
          </p:nvSpPr>
          <p:spPr>
            <a:xfrm>
              <a:off x="0" y="0"/>
              <a:ext cx="812800" cy="783712"/>
            </a:xfrm>
            <a:custGeom>
              <a:rect b="b" l="l" r="r" t="t"/>
              <a:pathLst>
                <a:path extrusionOk="0" h="783712" w="812800">
                  <a:moveTo>
                    <a:pt x="0" y="0"/>
                  </a:moveTo>
                  <a:lnTo>
                    <a:pt x="812800" y="0"/>
                  </a:lnTo>
                  <a:lnTo>
                    <a:pt x="812800" y="783712"/>
                  </a:lnTo>
                  <a:lnTo>
                    <a:pt x="0" y="783712"/>
                  </a:lnTo>
                  <a:close/>
                </a:path>
              </a:pathLst>
            </a:custGeom>
            <a:solidFill>
              <a:srgbClr val="1E63ED"/>
            </a:solidFill>
            <a:ln>
              <a:noFill/>
            </a:ln>
          </p:spPr>
        </p:sp>
        <p:sp>
          <p:nvSpPr>
            <p:cNvPr id="181" name="Google Shape;181;p6"/>
            <p:cNvSpPr txBox="1"/>
            <p:nvPr/>
          </p:nvSpPr>
          <p:spPr>
            <a:xfrm>
              <a:off x="0" y="-38100"/>
              <a:ext cx="812800" cy="8218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2" name="Google Shape;182;p6"/>
          <p:cNvGrpSpPr/>
          <p:nvPr/>
        </p:nvGrpSpPr>
        <p:grpSpPr>
          <a:xfrm>
            <a:off x="-1753117" y="7316578"/>
            <a:ext cx="3086100" cy="3120318"/>
            <a:chOff x="0" y="-38100"/>
            <a:chExt cx="812800" cy="821812"/>
          </a:xfrm>
        </p:grpSpPr>
        <p:sp>
          <p:nvSpPr>
            <p:cNvPr id="183" name="Google Shape;183;p6"/>
            <p:cNvSpPr/>
            <p:nvPr/>
          </p:nvSpPr>
          <p:spPr>
            <a:xfrm>
              <a:off x="0" y="0"/>
              <a:ext cx="812800" cy="783712"/>
            </a:xfrm>
            <a:custGeom>
              <a:rect b="b" l="l" r="r" t="t"/>
              <a:pathLst>
                <a:path extrusionOk="0" h="783712" w="812800">
                  <a:moveTo>
                    <a:pt x="0" y="0"/>
                  </a:moveTo>
                  <a:lnTo>
                    <a:pt x="812800" y="0"/>
                  </a:lnTo>
                  <a:lnTo>
                    <a:pt x="812800" y="783712"/>
                  </a:lnTo>
                  <a:lnTo>
                    <a:pt x="0" y="783712"/>
                  </a:lnTo>
                  <a:close/>
                </a:path>
              </a:pathLst>
            </a:custGeom>
            <a:solidFill>
              <a:srgbClr val="29303C"/>
            </a:solidFill>
            <a:ln>
              <a:noFill/>
            </a:ln>
          </p:spPr>
        </p:sp>
        <p:sp>
          <p:nvSpPr>
            <p:cNvPr id="184" name="Google Shape;184;p6"/>
            <p:cNvSpPr txBox="1"/>
            <p:nvPr/>
          </p:nvSpPr>
          <p:spPr>
            <a:xfrm>
              <a:off x="0" y="-38100"/>
              <a:ext cx="812800" cy="8218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5" name="Google Shape;185;p6"/>
          <p:cNvGrpSpPr/>
          <p:nvPr/>
        </p:nvGrpSpPr>
        <p:grpSpPr>
          <a:xfrm>
            <a:off x="16776087" y="-539578"/>
            <a:ext cx="2344551" cy="2157882"/>
            <a:chOff x="0" y="-38100"/>
            <a:chExt cx="617495" cy="568331"/>
          </a:xfrm>
        </p:grpSpPr>
        <p:sp>
          <p:nvSpPr>
            <p:cNvPr id="186" name="Google Shape;186;p6"/>
            <p:cNvSpPr/>
            <p:nvPr/>
          </p:nvSpPr>
          <p:spPr>
            <a:xfrm>
              <a:off x="0" y="0"/>
              <a:ext cx="617495" cy="530231"/>
            </a:xfrm>
            <a:custGeom>
              <a:rect b="b" l="l" r="r" t="t"/>
              <a:pathLst>
                <a:path extrusionOk="0" h="530231" w="617495">
                  <a:moveTo>
                    <a:pt x="0" y="0"/>
                  </a:moveTo>
                  <a:lnTo>
                    <a:pt x="617495" y="0"/>
                  </a:lnTo>
                  <a:lnTo>
                    <a:pt x="617495" y="530231"/>
                  </a:lnTo>
                  <a:lnTo>
                    <a:pt x="0" y="530231"/>
                  </a:lnTo>
                  <a:close/>
                </a:path>
              </a:pathLst>
            </a:custGeom>
            <a:solidFill>
              <a:srgbClr val="29303C"/>
            </a:solidFill>
            <a:ln>
              <a:noFill/>
            </a:ln>
          </p:spPr>
        </p:sp>
        <p:sp>
          <p:nvSpPr>
            <p:cNvPr id="187" name="Google Shape;187;p6"/>
            <p:cNvSpPr txBox="1"/>
            <p:nvPr/>
          </p:nvSpPr>
          <p:spPr>
            <a:xfrm>
              <a:off x="0" y="-38100"/>
              <a:ext cx="617495" cy="56833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8" name="Google Shape;188;p6"/>
          <p:cNvGrpSpPr/>
          <p:nvPr/>
        </p:nvGrpSpPr>
        <p:grpSpPr>
          <a:xfrm>
            <a:off x="17259300" y="641994"/>
            <a:ext cx="3086100" cy="3120318"/>
            <a:chOff x="0" y="-38100"/>
            <a:chExt cx="812800" cy="821812"/>
          </a:xfrm>
        </p:grpSpPr>
        <p:sp>
          <p:nvSpPr>
            <p:cNvPr id="189" name="Google Shape;189;p6"/>
            <p:cNvSpPr/>
            <p:nvPr/>
          </p:nvSpPr>
          <p:spPr>
            <a:xfrm>
              <a:off x="0" y="0"/>
              <a:ext cx="812800" cy="783712"/>
            </a:xfrm>
            <a:custGeom>
              <a:rect b="b" l="l" r="r" t="t"/>
              <a:pathLst>
                <a:path extrusionOk="0" h="783712" w="812800">
                  <a:moveTo>
                    <a:pt x="0" y="0"/>
                  </a:moveTo>
                  <a:lnTo>
                    <a:pt x="812800" y="0"/>
                  </a:lnTo>
                  <a:lnTo>
                    <a:pt x="812800" y="783712"/>
                  </a:lnTo>
                  <a:lnTo>
                    <a:pt x="0" y="783712"/>
                  </a:lnTo>
                  <a:close/>
                </a:path>
              </a:pathLst>
            </a:custGeom>
            <a:solidFill>
              <a:srgbClr val="1E63ED"/>
            </a:solidFill>
            <a:ln>
              <a:noFill/>
            </a:ln>
          </p:spPr>
        </p:sp>
        <p:sp>
          <p:nvSpPr>
            <p:cNvPr id="190" name="Google Shape;190;p6"/>
            <p:cNvSpPr txBox="1"/>
            <p:nvPr/>
          </p:nvSpPr>
          <p:spPr>
            <a:xfrm>
              <a:off x="0" y="-38100"/>
              <a:ext cx="812800" cy="8218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1" name="Google Shape;191;p6"/>
          <p:cNvSpPr/>
          <p:nvPr/>
        </p:nvSpPr>
        <p:spPr>
          <a:xfrm>
            <a:off x="3493371" y="5992075"/>
            <a:ext cx="11301259" cy="2938327"/>
          </a:xfrm>
          <a:custGeom>
            <a:rect b="b" l="l" r="r" t="t"/>
            <a:pathLst>
              <a:path extrusionOk="0" h="2938327" w="11301259">
                <a:moveTo>
                  <a:pt x="0" y="0"/>
                </a:moveTo>
                <a:lnTo>
                  <a:pt x="11301258" y="0"/>
                </a:lnTo>
                <a:lnTo>
                  <a:pt x="11301258" y="2938327"/>
                </a:lnTo>
                <a:lnTo>
                  <a:pt x="0" y="2938327"/>
                </a:lnTo>
                <a:lnTo>
                  <a:pt x="0" y="0"/>
                </a:lnTo>
                <a:close/>
              </a:path>
            </a:pathLst>
          </a:custGeom>
          <a:blipFill rotWithShape="1">
            <a:blip r:embed="rId3">
              <a:alphaModFix/>
            </a:blip>
            <a:stretch>
              <a:fillRect b="0" l="0" r="0" t="0"/>
            </a:stretch>
          </a:blipFill>
          <a:ln>
            <a:noFill/>
          </a:ln>
        </p:spPr>
      </p:sp>
      <p:sp>
        <p:nvSpPr>
          <p:cNvPr id="192" name="Google Shape;192;p6"/>
          <p:cNvSpPr txBox="1"/>
          <p:nvPr/>
        </p:nvSpPr>
        <p:spPr>
          <a:xfrm>
            <a:off x="2602550" y="593725"/>
            <a:ext cx="13397700" cy="769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5000"/>
              <a:buFont typeface="Arial"/>
              <a:buNone/>
            </a:pPr>
            <a:r>
              <a:rPr b="1" i="0" lang="en-US" sz="5000" u="none" cap="none" strike="noStrike">
                <a:solidFill>
                  <a:srgbClr val="29303C"/>
                </a:solidFill>
                <a:latin typeface="Arial"/>
                <a:ea typeface="Arial"/>
                <a:cs typeface="Arial"/>
                <a:sym typeface="Arial"/>
              </a:rPr>
              <a:t>¿QUÉ SON LAS IMAGENES DE DOCKER?</a:t>
            </a:r>
            <a:endParaRPr b="0" i="0" sz="1400" u="none" cap="none" strike="noStrike">
              <a:solidFill>
                <a:srgbClr val="000000"/>
              </a:solidFill>
              <a:latin typeface="Arial"/>
              <a:ea typeface="Arial"/>
              <a:cs typeface="Arial"/>
              <a:sym typeface="Arial"/>
            </a:endParaRPr>
          </a:p>
        </p:txBody>
      </p:sp>
      <p:sp>
        <p:nvSpPr>
          <p:cNvPr id="193" name="Google Shape;193;p6"/>
          <p:cNvSpPr txBox="1"/>
          <p:nvPr/>
        </p:nvSpPr>
        <p:spPr>
          <a:xfrm>
            <a:off x="1592262" y="1589729"/>
            <a:ext cx="15103475" cy="34575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29303C"/>
                </a:solidFill>
                <a:latin typeface="Arial"/>
                <a:ea typeface="Arial"/>
                <a:cs typeface="Arial"/>
                <a:sym typeface="Arial"/>
              </a:rPr>
              <a:t>Es </a:t>
            </a:r>
            <a:r>
              <a:rPr b="1" i="0" lang="en-US" sz="3000" u="none" cap="none" strike="noStrike">
                <a:solidFill>
                  <a:srgbClr val="29303C"/>
                </a:solidFill>
                <a:latin typeface="Arial"/>
                <a:ea typeface="Arial"/>
                <a:cs typeface="Arial"/>
                <a:sym typeface="Arial"/>
              </a:rPr>
              <a:t>una plantilla de solo lectura que contiene todo lo necesario para ejecutar una aplicación</a:t>
            </a:r>
            <a:r>
              <a:rPr b="0" i="0" lang="en-US" sz="3000" u="none" cap="none" strike="noStrike">
                <a:solidFill>
                  <a:srgbClr val="29303C"/>
                </a:solidFill>
                <a:latin typeface="Arial"/>
                <a:ea typeface="Arial"/>
                <a:cs typeface="Arial"/>
                <a:sym typeface="Arial"/>
              </a:rPr>
              <a:t>, como el sistema operativo, dependencias, archivos y configuraciones.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t/>
            </a:r>
            <a:endParaRPr b="0" i="0" sz="3000" u="none" cap="none" strike="noStrike">
              <a:solidFill>
                <a:srgbClr val="29303C"/>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29303C"/>
                </a:solidFill>
                <a:latin typeface="Arial"/>
                <a:ea typeface="Arial"/>
                <a:cs typeface="Arial"/>
                <a:sym typeface="Arial"/>
              </a:rPr>
              <a:t>Las imágenes</a:t>
            </a:r>
            <a:r>
              <a:rPr b="1" i="0" lang="en-US" sz="3000" u="none" cap="none" strike="noStrike">
                <a:solidFill>
                  <a:srgbClr val="29303C"/>
                </a:solidFill>
                <a:latin typeface="Arial"/>
                <a:ea typeface="Arial"/>
                <a:cs typeface="Arial"/>
                <a:sym typeface="Arial"/>
              </a:rPr>
              <a:t> son la base para crear contenedores y pueden definirse con un Dockerfile</a:t>
            </a:r>
            <a:r>
              <a:rPr b="0" i="0" lang="en-US" sz="3000" u="none" cap="none" strike="noStrike">
                <a:solidFill>
                  <a:srgbClr val="29303C"/>
                </a:solidFill>
                <a:latin typeface="Arial"/>
                <a:ea typeface="Arial"/>
                <a:cs typeface="Arial"/>
                <a:sym typeface="Arial"/>
              </a:rPr>
              <a:t>, un archivo de configuración donde se indican las instrucciones para construir la imagen.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grpSp>
        <p:nvGrpSpPr>
          <p:cNvPr id="198" name="Google Shape;198;p7"/>
          <p:cNvGrpSpPr/>
          <p:nvPr/>
        </p:nvGrpSpPr>
        <p:grpSpPr>
          <a:xfrm>
            <a:off x="0" y="8824911"/>
            <a:ext cx="7251395" cy="1479444"/>
            <a:chOff x="0" y="-38100"/>
            <a:chExt cx="1909832" cy="389648"/>
          </a:xfrm>
        </p:grpSpPr>
        <p:sp>
          <p:nvSpPr>
            <p:cNvPr id="199" name="Google Shape;199;p7"/>
            <p:cNvSpPr/>
            <p:nvPr/>
          </p:nvSpPr>
          <p:spPr>
            <a:xfrm>
              <a:off x="0" y="0"/>
              <a:ext cx="1909832" cy="351548"/>
            </a:xfrm>
            <a:custGeom>
              <a:rect b="b" l="l" r="r" t="t"/>
              <a:pathLst>
                <a:path extrusionOk="0" h="351548" w="1909832">
                  <a:moveTo>
                    <a:pt x="0" y="0"/>
                  </a:moveTo>
                  <a:lnTo>
                    <a:pt x="1909832" y="0"/>
                  </a:lnTo>
                  <a:lnTo>
                    <a:pt x="1909832" y="351548"/>
                  </a:lnTo>
                  <a:lnTo>
                    <a:pt x="0" y="351548"/>
                  </a:lnTo>
                  <a:close/>
                </a:path>
              </a:pathLst>
            </a:custGeom>
            <a:solidFill>
              <a:srgbClr val="1E63ED"/>
            </a:solidFill>
            <a:ln>
              <a:noFill/>
            </a:ln>
          </p:spPr>
        </p:sp>
        <p:sp>
          <p:nvSpPr>
            <p:cNvPr id="200" name="Google Shape;200;p7"/>
            <p:cNvSpPr txBox="1"/>
            <p:nvPr/>
          </p:nvSpPr>
          <p:spPr>
            <a:xfrm>
              <a:off x="0" y="-38100"/>
              <a:ext cx="1909832" cy="38964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1" name="Google Shape;201;p7"/>
          <p:cNvGrpSpPr/>
          <p:nvPr/>
        </p:nvGrpSpPr>
        <p:grpSpPr>
          <a:xfrm>
            <a:off x="0" y="9113639"/>
            <a:ext cx="18288000" cy="1173361"/>
            <a:chOff x="0" y="-38100"/>
            <a:chExt cx="4816593" cy="309033"/>
          </a:xfrm>
        </p:grpSpPr>
        <p:sp>
          <p:nvSpPr>
            <p:cNvPr id="202" name="Google Shape;202;p7"/>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29303C"/>
            </a:solidFill>
            <a:ln>
              <a:noFill/>
            </a:ln>
          </p:spPr>
        </p:sp>
        <p:sp>
          <p:nvSpPr>
            <p:cNvPr id="203" name="Google Shape;203;p7"/>
            <p:cNvSpPr txBox="1"/>
            <p:nvPr/>
          </p:nvSpPr>
          <p:spPr>
            <a:xfrm>
              <a:off x="0" y="-38100"/>
              <a:ext cx="4816593" cy="3090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4" name="Google Shape;204;p7"/>
          <p:cNvSpPr/>
          <p:nvPr/>
        </p:nvSpPr>
        <p:spPr>
          <a:xfrm>
            <a:off x="5620916" y="4056704"/>
            <a:ext cx="7046168" cy="4912868"/>
          </a:xfrm>
          <a:custGeom>
            <a:rect b="b" l="l" r="r" t="t"/>
            <a:pathLst>
              <a:path extrusionOk="0" h="4912868" w="7046168">
                <a:moveTo>
                  <a:pt x="0" y="0"/>
                </a:moveTo>
                <a:lnTo>
                  <a:pt x="7046168" y="0"/>
                </a:lnTo>
                <a:lnTo>
                  <a:pt x="7046168" y="4912868"/>
                </a:lnTo>
                <a:lnTo>
                  <a:pt x="0" y="4912868"/>
                </a:lnTo>
                <a:lnTo>
                  <a:pt x="0" y="0"/>
                </a:lnTo>
                <a:close/>
              </a:path>
            </a:pathLst>
          </a:custGeom>
          <a:blipFill rotWithShape="1">
            <a:blip r:embed="rId3">
              <a:alphaModFix/>
            </a:blip>
            <a:stretch>
              <a:fillRect b="0" l="0" r="0" t="-11580"/>
            </a:stretch>
          </a:blipFill>
          <a:ln>
            <a:noFill/>
          </a:ln>
        </p:spPr>
      </p:sp>
      <p:sp>
        <p:nvSpPr>
          <p:cNvPr id="205" name="Google Shape;205;p7"/>
          <p:cNvSpPr txBox="1"/>
          <p:nvPr/>
        </p:nvSpPr>
        <p:spPr>
          <a:xfrm>
            <a:off x="1139575" y="593725"/>
            <a:ext cx="15784800" cy="7695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5000"/>
              <a:buFont typeface="Arial"/>
              <a:buNone/>
            </a:pPr>
            <a:r>
              <a:rPr b="1" i="0" lang="en-US" sz="5000" u="none" cap="none" strike="noStrike">
                <a:solidFill>
                  <a:srgbClr val="29303C"/>
                </a:solidFill>
                <a:latin typeface="Arial"/>
                <a:ea typeface="Arial"/>
                <a:cs typeface="Arial"/>
                <a:sym typeface="Arial"/>
              </a:rPr>
              <a:t>¿QUÉ SON LAS CONTENEDORES DE DOCKER?</a:t>
            </a:r>
            <a:endParaRPr b="0" i="0" sz="1400" u="none" cap="none" strike="noStrike">
              <a:solidFill>
                <a:srgbClr val="000000"/>
              </a:solidFill>
              <a:latin typeface="Arial"/>
              <a:ea typeface="Arial"/>
              <a:cs typeface="Arial"/>
              <a:sym typeface="Arial"/>
            </a:endParaRPr>
          </a:p>
        </p:txBody>
      </p:sp>
      <p:sp>
        <p:nvSpPr>
          <p:cNvPr id="206" name="Google Shape;206;p7"/>
          <p:cNvSpPr txBox="1"/>
          <p:nvPr/>
        </p:nvSpPr>
        <p:spPr>
          <a:xfrm>
            <a:off x="1592262" y="1589729"/>
            <a:ext cx="15103475" cy="246697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29303C"/>
                </a:solidFill>
                <a:latin typeface="Arial"/>
                <a:ea typeface="Arial"/>
                <a:cs typeface="Arial"/>
                <a:sym typeface="Arial"/>
              </a:rPr>
              <a:t>Un contenedor Docker es una instancia ejecutable de una imagen. Cuando se lanza una imagen, Docker crea un contenedor donde la aplicación puede ejecutarse en un entorno aislado. Los contenedores son ligeros y rápidos de iniciar, ya que comparten el núcleo del sistema operativo con otros contenedores.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grpSp>
        <p:nvGrpSpPr>
          <p:cNvPr id="211" name="Google Shape;211;p8"/>
          <p:cNvGrpSpPr/>
          <p:nvPr/>
        </p:nvGrpSpPr>
        <p:grpSpPr>
          <a:xfrm>
            <a:off x="311307" y="-144661"/>
            <a:ext cx="388125" cy="8565666"/>
            <a:chOff x="0" y="-38100"/>
            <a:chExt cx="102222" cy="2255978"/>
          </a:xfrm>
        </p:grpSpPr>
        <p:sp>
          <p:nvSpPr>
            <p:cNvPr id="212" name="Google Shape;212;p8"/>
            <p:cNvSpPr/>
            <p:nvPr/>
          </p:nvSpPr>
          <p:spPr>
            <a:xfrm>
              <a:off x="0" y="0"/>
              <a:ext cx="102222" cy="2217878"/>
            </a:xfrm>
            <a:custGeom>
              <a:rect b="b" l="l" r="r" t="t"/>
              <a:pathLst>
                <a:path extrusionOk="0" h="2217878" w="102222">
                  <a:moveTo>
                    <a:pt x="0" y="0"/>
                  </a:moveTo>
                  <a:lnTo>
                    <a:pt x="102222" y="0"/>
                  </a:lnTo>
                  <a:lnTo>
                    <a:pt x="102222" y="2217878"/>
                  </a:lnTo>
                  <a:lnTo>
                    <a:pt x="0" y="2217878"/>
                  </a:lnTo>
                  <a:close/>
                </a:path>
              </a:pathLst>
            </a:custGeom>
            <a:solidFill>
              <a:srgbClr val="1E63ED"/>
            </a:solidFill>
            <a:ln>
              <a:noFill/>
            </a:ln>
          </p:spPr>
        </p:sp>
        <p:sp>
          <p:nvSpPr>
            <p:cNvPr id="213" name="Google Shape;213;p8"/>
            <p:cNvSpPr txBox="1"/>
            <p:nvPr/>
          </p:nvSpPr>
          <p:spPr>
            <a:xfrm>
              <a:off x="0" y="-38100"/>
              <a:ext cx="102222" cy="225597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4" name="Google Shape;214;p8"/>
          <p:cNvGrpSpPr/>
          <p:nvPr/>
        </p:nvGrpSpPr>
        <p:grpSpPr>
          <a:xfrm>
            <a:off x="0" y="-144661"/>
            <a:ext cx="505369" cy="10431661"/>
            <a:chOff x="0" y="-38100"/>
            <a:chExt cx="133101" cy="2747433"/>
          </a:xfrm>
        </p:grpSpPr>
        <p:sp>
          <p:nvSpPr>
            <p:cNvPr id="215" name="Google Shape;215;p8"/>
            <p:cNvSpPr/>
            <p:nvPr/>
          </p:nvSpPr>
          <p:spPr>
            <a:xfrm>
              <a:off x="0" y="0"/>
              <a:ext cx="133101" cy="2709333"/>
            </a:xfrm>
            <a:custGeom>
              <a:rect b="b" l="l" r="r" t="t"/>
              <a:pathLst>
                <a:path extrusionOk="0" h="2709333" w="133101">
                  <a:moveTo>
                    <a:pt x="0" y="0"/>
                  </a:moveTo>
                  <a:lnTo>
                    <a:pt x="133101" y="0"/>
                  </a:lnTo>
                  <a:lnTo>
                    <a:pt x="133101" y="2709333"/>
                  </a:lnTo>
                  <a:lnTo>
                    <a:pt x="0" y="2709333"/>
                  </a:lnTo>
                  <a:close/>
                </a:path>
              </a:pathLst>
            </a:custGeom>
            <a:solidFill>
              <a:srgbClr val="29303C"/>
            </a:solidFill>
            <a:ln>
              <a:noFill/>
            </a:ln>
          </p:spPr>
        </p:sp>
        <p:sp>
          <p:nvSpPr>
            <p:cNvPr id="216" name="Google Shape;216;p8"/>
            <p:cNvSpPr txBox="1"/>
            <p:nvPr/>
          </p:nvSpPr>
          <p:spPr>
            <a:xfrm>
              <a:off x="0" y="-38100"/>
              <a:ext cx="133101"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7" name="Google Shape;217;p8"/>
          <p:cNvGrpSpPr/>
          <p:nvPr/>
        </p:nvGrpSpPr>
        <p:grpSpPr>
          <a:xfrm>
            <a:off x="17660541" y="8602991"/>
            <a:ext cx="1066563" cy="1165957"/>
            <a:chOff x="0" y="-38100"/>
            <a:chExt cx="280906" cy="307083"/>
          </a:xfrm>
        </p:grpSpPr>
        <p:sp>
          <p:nvSpPr>
            <p:cNvPr id="218" name="Google Shape;218;p8"/>
            <p:cNvSpPr/>
            <p:nvPr/>
          </p:nvSpPr>
          <p:spPr>
            <a:xfrm>
              <a:off x="0" y="0"/>
              <a:ext cx="280906" cy="268983"/>
            </a:xfrm>
            <a:custGeom>
              <a:rect b="b" l="l" r="r" t="t"/>
              <a:pathLst>
                <a:path extrusionOk="0" h="268983" w="280906">
                  <a:moveTo>
                    <a:pt x="0" y="0"/>
                  </a:moveTo>
                  <a:lnTo>
                    <a:pt x="280906" y="0"/>
                  </a:lnTo>
                  <a:lnTo>
                    <a:pt x="280906" y="268983"/>
                  </a:lnTo>
                  <a:lnTo>
                    <a:pt x="0" y="268983"/>
                  </a:lnTo>
                  <a:close/>
                </a:path>
              </a:pathLst>
            </a:custGeom>
            <a:solidFill>
              <a:srgbClr val="1E63ED"/>
            </a:solidFill>
            <a:ln>
              <a:noFill/>
            </a:ln>
          </p:spPr>
        </p:sp>
        <p:sp>
          <p:nvSpPr>
            <p:cNvPr id="219" name="Google Shape;219;p8"/>
            <p:cNvSpPr txBox="1"/>
            <p:nvPr/>
          </p:nvSpPr>
          <p:spPr>
            <a:xfrm>
              <a:off x="0" y="-38100"/>
              <a:ext cx="280906" cy="30708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0" name="Google Shape;220;p8"/>
          <p:cNvGrpSpPr/>
          <p:nvPr/>
        </p:nvGrpSpPr>
        <p:grpSpPr>
          <a:xfrm>
            <a:off x="17259300" y="9113639"/>
            <a:ext cx="1467805" cy="1435160"/>
            <a:chOff x="0" y="-38100"/>
            <a:chExt cx="386582" cy="377985"/>
          </a:xfrm>
        </p:grpSpPr>
        <p:sp>
          <p:nvSpPr>
            <p:cNvPr id="221" name="Google Shape;221;p8"/>
            <p:cNvSpPr/>
            <p:nvPr/>
          </p:nvSpPr>
          <p:spPr>
            <a:xfrm>
              <a:off x="0" y="0"/>
              <a:ext cx="386582" cy="339885"/>
            </a:xfrm>
            <a:custGeom>
              <a:rect b="b" l="l" r="r" t="t"/>
              <a:pathLst>
                <a:path extrusionOk="0" h="339885" w="386582">
                  <a:moveTo>
                    <a:pt x="0" y="0"/>
                  </a:moveTo>
                  <a:lnTo>
                    <a:pt x="386582" y="0"/>
                  </a:lnTo>
                  <a:lnTo>
                    <a:pt x="386582" y="339885"/>
                  </a:lnTo>
                  <a:lnTo>
                    <a:pt x="0" y="339885"/>
                  </a:lnTo>
                  <a:close/>
                </a:path>
              </a:pathLst>
            </a:custGeom>
            <a:solidFill>
              <a:srgbClr val="29303C"/>
            </a:solidFill>
            <a:ln>
              <a:noFill/>
            </a:ln>
          </p:spPr>
        </p:sp>
        <p:sp>
          <p:nvSpPr>
            <p:cNvPr id="222" name="Google Shape;222;p8"/>
            <p:cNvSpPr txBox="1"/>
            <p:nvPr/>
          </p:nvSpPr>
          <p:spPr>
            <a:xfrm>
              <a:off x="0" y="-38100"/>
              <a:ext cx="386582" cy="37798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3" name="Google Shape;223;p8"/>
          <p:cNvSpPr/>
          <p:nvPr/>
        </p:nvSpPr>
        <p:spPr>
          <a:xfrm>
            <a:off x="4581675" y="4978507"/>
            <a:ext cx="9124649" cy="4790441"/>
          </a:xfrm>
          <a:custGeom>
            <a:rect b="b" l="l" r="r" t="t"/>
            <a:pathLst>
              <a:path extrusionOk="0" h="4790441" w="9124649">
                <a:moveTo>
                  <a:pt x="0" y="0"/>
                </a:moveTo>
                <a:lnTo>
                  <a:pt x="9124650" y="0"/>
                </a:lnTo>
                <a:lnTo>
                  <a:pt x="9124650" y="4790441"/>
                </a:lnTo>
                <a:lnTo>
                  <a:pt x="0" y="4790441"/>
                </a:lnTo>
                <a:lnTo>
                  <a:pt x="0" y="0"/>
                </a:lnTo>
                <a:close/>
              </a:path>
            </a:pathLst>
          </a:custGeom>
          <a:blipFill rotWithShape="1">
            <a:blip r:embed="rId3">
              <a:alphaModFix/>
            </a:blip>
            <a:stretch>
              <a:fillRect b="0" l="0" r="0" t="0"/>
            </a:stretch>
          </a:blipFill>
          <a:ln>
            <a:noFill/>
          </a:ln>
        </p:spPr>
      </p:sp>
      <p:sp>
        <p:nvSpPr>
          <p:cNvPr id="224" name="Google Shape;224;p8"/>
          <p:cNvSpPr txBox="1"/>
          <p:nvPr/>
        </p:nvSpPr>
        <p:spPr>
          <a:xfrm>
            <a:off x="1201175" y="189750"/>
            <a:ext cx="16459500" cy="9234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6000"/>
              <a:buFont typeface="Arial"/>
              <a:buNone/>
            </a:pPr>
            <a:r>
              <a:rPr b="1" i="0" lang="en-US" sz="6000" u="none" cap="none" strike="noStrike">
                <a:solidFill>
                  <a:srgbClr val="29303C"/>
                </a:solidFill>
                <a:latin typeface="Arial"/>
                <a:ea typeface="Arial"/>
                <a:cs typeface="Arial"/>
                <a:sym typeface="Arial"/>
              </a:rPr>
              <a:t>¿QUÉ SON LAS VOLÚMENES DE DOCKER?</a:t>
            </a:r>
            <a:endParaRPr b="0" i="0" sz="900" u="none" cap="none" strike="noStrike">
              <a:solidFill>
                <a:srgbClr val="000000"/>
              </a:solidFill>
              <a:latin typeface="Arial"/>
              <a:ea typeface="Arial"/>
              <a:cs typeface="Arial"/>
              <a:sym typeface="Arial"/>
            </a:endParaRPr>
          </a:p>
        </p:txBody>
      </p:sp>
      <p:sp>
        <p:nvSpPr>
          <p:cNvPr id="225" name="Google Shape;225;p8"/>
          <p:cNvSpPr txBox="1"/>
          <p:nvPr/>
        </p:nvSpPr>
        <p:spPr>
          <a:xfrm>
            <a:off x="1278155" y="1508125"/>
            <a:ext cx="16382387" cy="29622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29303C"/>
                </a:solidFill>
                <a:latin typeface="Arial"/>
                <a:ea typeface="Arial"/>
                <a:cs typeface="Arial"/>
                <a:sym typeface="Arial"/>
              </a:rPr>
              <a:t>Los volúmenes de Docker </a:t>
            </a:r>
            <a:r>
              <a:rPr b="1" i="0" lang="en-US" sz="3000" u="none" cap="none" strike="noStrike">
                <a:solidFill>
                  <a:srgbClr val="29303C"/>
                </a:solidFill>
                <a:latin typeface="Arial"/>
                <a:ea typeface="Arial"/>
                <a:cs typeface="Arial"/>
                <a:sym typeface="Arial"/>
              </a:rPr>
              <a:t>son una solución de almacenamiento que permite que los contenedores almacenen datos de manera persistente.</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t/>
            </a:r>
            <a:endParaRPr b="1" i="0" sz="3000" u="none" cap="none" strike="noStrike">
              <a:solidFill>
                <a:srgbClr val="29303C"/>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rPr b="1" i="0" lang="en-US" sz="3000" u="none" cap="none" strike="noStrike">
                <a:solidFill>
                  <a:srgbClr val="29303C"/>
                </a:solidFill>
                <a:latin typeface="Arial"/>
                <a:ea typeface="Arial"/>
                <a:cs typeface="Arial"/>
                <a:sym typeface="Arial"/>
              </a:rPr>
              <a:t>Normalmente los datos generados dentro de un contenedor se eliminan al detener el contenedo</a:t>
            </a:r>
            <a:r>
              <a:rPr b="0" i="0" lang="en-US" sz="3000" u="none" cap="none" strike="noStrike">
                <a:solidFill>
                  <a:srgbClr val="29303C"/>
                </a:solidFill>
                <a:latin typeface="Arial"/>
                <a:ea typeface="Arial"/>
                <a:cs typeface="Arial"/>
                <a:sym typeface="Arial"/>
              </a:rPr>
              <a:t>r, pero los volúmenes permiten que los datos permanezcan, incluso si el contenedor es eliminado o recreado.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9"/>
          <p:cNvSpPr/>
          <p:nvPr/>
        </p:nvSpPr>
        <p:spPr>
          <a:xfrm flipH="1" rot="5679621">
            <a:off x="7710161" y="1015520"/>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3">
              <a:alphaModFix/>
            </a:blip>
            <a:stretch>
              <a:fillRect b="0" l="0" r="0" t="0"/>
            </a:stretch>
          </a:blipFill>
          <a:ln>
            <a:noFill/>
          </a:ln>
        </p:spPr>
      </p:sp>
      <p:sp>
        <p:nvSpPr>
          <p:cNvPr id="231" name="Google Shape;231;p9"/>
          <p:cNvSpPr/>
          <p:nvPr/>
        </p:nvSpPr>
        <p:spPr>
          <a:xfrm flipH="1" rot="5679621">
            <a:off x="7894116" y="1193759"/>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4">
              <a:alphaModFix/>
            </a:blip>
            <a:stretch>
              <a:fillRect b="0" l="0" r="0" t="0"/>
            </a:stretch>
          </a:blipFill>
          <a:ln>
            <a:noFill/>
          </a:ln>
        </p:spPr>
      </p:sp>
      <p:grpSp>
        <p:nvGrpSpPr>
          <p:cNvPr id="232" name="Google Shape;232;p9"/>
          <p:cNvGrpSpPr/>
          <p:nvPr/>
        </p:nvGrpSpPr>
        <p:grpSpPr>
          <a:xfrm>
            <a:off x="1517594" y="2085789"/>
            <a:ext cx="731003" cy="760368"/>
            <a:chOff x="0" y="0"/>
            <a:chExt cx="974670" cy="1013824"/>
          </a:xfrm>
        </p:grpSpPr>
        <p:sp>
          <p:nvSpPr>
            <p:cNvPr id="233" name="Google Shape;233;p9"/>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9"/>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grpSp>
      <p:grpSp>
        <p:nvGrpSpPr>
          <p:cNvPr id="235" name="Google Shape;235;p9"/>
          <p:cNvGrpSpPr/>
          <p:nvPr/>
        </p:nvGrpSpPr>
        <p:grpSpPr>
          <a:xfrm>
            <a:off x="1517594" y="4191000"/>
            <a:ext cx="731003" cy="760368"/>
            <a:chOff x="0" y="0"/>
            <a:chExt cx="974670" cy="1013824"/>
          </a:xfrm>
        </p:grpSpPr>
        <p:sp>
          <p:nvSpPr>
            <p:cNvPr id="236" name="Google Shape;236;p9"/>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9"/>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FFFFFF"/>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grpSp>
      <p:grpSp>
        <p:nvGrpSpPr>
          <p:cNvPr id="238" name="Google Shape;238;p9"/>
          <p:cNvGrpSpPr/>
          <p:nvPr/>
        </p:nvGrpSpPr>
        <p:grpSpPr>
          <a:xfrm>
            <a:off x="1517594" y="7113406"/>
            <a:ext cx="731003" cy="760368"/>
            <a:chOff x="0" y="0"/>
            <a:chExt cx="974670" cy="1013824"/>
          </a:xfrm>
        </p:grpSpPr>
        <p:sp>
          <p:nvSpPr>
            <p:cNvPr id="239" name="Google Shape;239;p9"/>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9"/>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FF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grpSp>
      <p:sp>
        <p:nvSpPr>
          <p:cNvPr id="241" name="Google Shape;241;p9"/>
          <p:cNvSpPr/>
          <p:nvPr/>
        </p:nvSpPr>
        <p:spPr>
          <a:xfrm>
            <a:off x="9545719" y="2846157"/>
            <a:ext cx="7713581" cy="4647432"/>
          </a:xfrm>
          <a:custGeom>
            <a:rect b="b" l="l" r="r" t="t"/>
            <a:pathLst>
              <a:path extrusionOk="0" h="4647432" w="7713581">
                <a:moveTo>
                  <a:pt x="0" y="0"/>
                </a:moveTo>
                <a:lnTo>
                  <a:pt x="7713581" y="0"/>
                </a:lnTo>
                <a:lnTo>
                  <a:pt x="7713581" y="4647433"/>
                </a:lnTo>
                <a:lnTo>
                  <a:pt x="0" y="4647433"/>
                </a:lnTo>
                <a:lnTo>
                  <a:pt x="0" y="0"/>
                </a:lnTo>
                <a:close/>
              </a:path>
            </a:pathLst>
          </a:custGeom>
          <a:blipFill rotWithShape="1">
            <a:blip r:embed="rId5">
              <a:alphaModFix/>
            </a:blip>
            <a:stretch>
              <a:fillRect b="0" l="0" r="0" t="0"/>
            </a:stretch>
          </a:blipFill>
          <a:ln>
            <a:noFill/>
          </a:ln>
        </p:spPr>
      </p:sp>
      <p:sp>
        <p:nvSpPr>
          <p:cNvPr id="242" name="Google Shape;242;p9"/>
          <p:cNvSpPr txBox="1"/>
          <p:nvPr/>
        </p:nvSpPr>
        <p:spPr>
          <a:xfrm>
            <a:off x="1663522" y="8536803"/>
            <a:ext cx="439148" cy="635953"/>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FFFFFF"/>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sp>
        <p:nvSpPr>
          <p:cNvPr id="243" name="Google Shape;243;p9"/>
          <p:cNvSpPr txBox="1"/>
          <p:nvPr/>
        </p:nvSpPr>
        <p:spPr>
          <a:xfrm>
            <a:off x="2309801" y="439737"/>
            <a:ext cx="14307328" cy="1120775"/>
          </a:xfrm>
          <a:prstGeom prst="rect">
            <a:avLst/>
          </a:prstGeom>
          <a:noFill/>
          <a:ln>
            <a:noFill/>
          </a:ln>
        </p:spPr>
        <p:txBody>
          <a:bodyPr anchorCtr="0" anchor="t" bIns="0" lIns="0" spcFirstLastPara="1" rIns="0" wrap="square" tIns="0">
            <a:spAutoFit/>
          </a:bodyPr>
          <a:lstStyle/>
          <a:p>
            <a:pPr indent="0" lvl="0" marL="0" marR="0" rtl="0" algn="ctr">
              <a:lnSpc>
                <a:spcPct val="130004"/>
              </a:lnSpc>
              <a:spcBef>
                <a:spcPts val="0"/>
              </a:spcBef>
              <a:spcAft>
                <a:spcPts val="0"/>
              </a:spcAft>
              <a:buClr>
                <a:srgbClr val="000000"/>
              </a:buClr>
              <a:buSzPts val="6999"/>
              <a:buFont typeface="Arial"/>
              <a:buNone/>
            </a:pPr>
            <a:r>
              <a:rPr b="1" i="0" lang="en-US" sz="6999" u="none" cap="none" strike="noStrike">
                <a:solidFill>
                  <a:srgbClr val="29303C"/>
                </a:solidFill>
                <a:latin typeface="Arial"/>
                <a:ea typeface="Arial"/>
                <a:cs typeface="Arial"/>
                <a:sym typeface="Arial"/>
              </a:rPr>
              <a:t>TIPOS DE VOLÚMENES</a:t>
            </a:r>
            <a:endParaRPr b="0" i="0" sz="1400" u="none" cap="none" strike="noStrike">
              <a:solidFill>
                <a:srgbClr val="000000"/>
              </a:solidFill>
              <a:latin typeface="Arial"/>
              <a:ea typeface="Arial"/>
              <a:cs typeface="Arial"/>
              <a:sym typeface="Arial"/>
            </a:endParaRPr>
          </a:p>
        </p:txBody>
      </p:sp>
      <p:sp>
        <p:nvSpPr>
          <p:cNvPr id="244" name="Google Shape;244;p9"/>
          <p:cNvSpPr txBox="1"/>
          <p:nvPr/>
        </p:nvSpPr>
        <p:spPr>
          <a:xfrm>
            <a:off x="2441330" y="2057214"/>
            <a:ext cx="6838180" cy="14763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rPr b="1" i="0" lang="en-US" sz="3000" u="none" cap="none" strike="noStrike">
                <a:solidFill>
                  <a:srgbClr val="29303C"/>
                </a:solidFill>
                <a:latin typeface="Arial"/>
                <a:ea typeface="Arial"/>
                <a:cs typeface="Arial"/>
                <a:sym typeface="Arial"/>
              </a:rPr>
              <a:t>Anónimos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29303C"/>
                </a:solidFill>
                <a:latin typeface="Arial"/>
                <a:ea typeface="Arial"/>
                <a:cs typeface="Arial"/>
                <a:sym typeface="Arial"/>
              </a:rPr>
              <a:t>No tienen nombre y se crean automáticamente.</a:t>
            </a:r>
            <a:endParaRPr b="0" i="0" sz="1400" u="none" cap="none" strike="noStrike">
              <a:solidFill>
                <a:srgbClr val="000000"/>
              </a:solidFill>
              <a:latin typeface="Arial"/>
              <a:ea typeface="Arial"/>
              <a:cs typeface="Arial"/>
              <a:sym typeface="Arial"/>
            </a:endParaRPr>
          </a:p>
        </p:txBody>
      </p:sp>
      <p:sp>
        <p:nvSpPr>
          <p:cNvPr id="245" name="Google Shape;245;p9"/>
          <p:cNvSpPr txBox="1"/>
          <p:nvPr/>
        </p:nvSpPr>
        <p:spPr>
          <a:xfrm>
            <a:off x="2441330" y="4162425"/>
            <a:ext cx="6838180" cy="24669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rPr b="1" i="0" lang="en-US" sz="3000" u="none" cap="none" strike="noStrike">
                <a:solidFill>
                  <a:srgbClr val="29303C"/>
                </a:solidFill>
                <a:latin typeface="Arial"/>
                <a:ea typeface="Arial"/>
                <a:cs typeface="Arial"/>
                <a:sym typeface="Arial"/>
              </a:rPr>
              <a:t>Con nombres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29303C"/>
                </a:solidFill>
                <a:latin typeface="Arial"/>
                <a:ea typeface="Arial"/>
                <a:cs typeface="Arial"/>
                <a:sym typeface="Arial"/>
              </a:rPr>
              <a:t> Son identificados por un nombre específico, lo cual permite asociarlos y reutilizarlos en diferentes contenedores.</a:t>
            </a:r>
            <a:endParaRPr b="0" i="0" sz="1400" u="none" cap="none" strike="noStrike">
              <a:solidFill>
                <a:srgbClr val="000000"/>
              </a:solidFill>
              <a:latin typeface="Arial"/>
              <a:ea typeface="Arial"/>
              <a:cs typeface="Arial"/>
              <a:sym typeface="Arial"/>
            </a:endParaRPr>
          </a:p>
        </p:txBody>
      </p:sp>
      <p:sp>
        <p:nvSpPr>
          <p:cNvPr id="246" name="Google Shape;246;p9"/>
          <p:cNvSpPr txBox="1"/>
          <p:nvPr/>
        </p:nvSpPr>
        <p:spPr>
          <a:xfrm>
            <a:off x="2441330" y="7084831"/>
            <a:ext cx="6702670" cy="14763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rPr b="1" i="0" lang="en-US" sz="3000" u="none" cap="none" strike="noStrike">
                <a:solidFill>
                  <a:srgbClr val="29303C"/>
                </a:solidFill>
                <a:latin typeface="Arial"/>
                <a:ea typeface="Arial"/>
                <a:cs typeface="Arial"/>
                <a:sym typeface="Arial"/>
              </a:rPr>
              <a:t>Bind Mounts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29303C"/>
                </a:solidFill>
                <a:latin typeface="Arial"/>
                <a:ea typeface="Arial"/>
                <a:cs typeface="Arial"/>
                <a:sym typeface="Arial"/>
              </a:rPr>
              <a:t> Monta una carpeta del sistema de archivos del host en el contenedor.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grpSp>
        <p:nvGrpSpPr>
          <p:cNvPr id="251" name="Google Shape;251;p10"/>
          <p:cNvGrpSpPr/>
          <p:nvPr/>
        </p:nvGrpSpPr>
        <p:grpSpPr>
          <a:xfrm>
            <a:off x="0" y="8824911"/>
            <a:ext cx="7251395" cy="1479444"/>
            <a:chOff x="0" y="-38100"/>
            <a:chExt cx="1909832" cy="389648"/>
          </a:xfrm>
        </p:grpSpPr>
        <p:sp>
          <p:nvSpPr>
            <p:cNvPr id="252" name="Google Shape;252;p10"/>
            <p:cNvSpPr/>
            <p:nvPr/>
          </p:nvSpPr>
          <p:spPr>
            <a:xfrm>
              <a:off x="0" y="0"/>
              <a:ext cx="1909832" cy="351548"/>
            </a:xfrm>
            <a:custGeom>
              <a:rect b="b" l="l" r="r" t="t"/>
              <a:pathLst>
                <a:path extrusionOk="0" h="351548" w="1909832">
                  <a:moveTo>
                    <a:pt x="0" y="0"/>
                  </a:moveTo>
                  <a:lnTo>
                    <a:pt x="1909832" y="0"/>
                  </a:lnTo>
                  <a:lnTo>
                    <a:pt x="1909832" y="351548"/>
                  </a:lnTo>
                  <a:lnTo>
                    <a:pt x="0" y="351548"/>
                  </a:lnTo>
                  <a:close/>
                </a:path>
              </a:pathLst>
            </a:custGeom>
            <a:solidFill>
              <a:srgbClr val="1E63ED"/>
            </a:solidFill>
            <a:ln>
              <a:noFill/>
            </a:ln>
          </p:spPr>
        </p:sp>
        <p:sp>
          <p:nvSpPr>
            <p:cNvPr id="253" name="Google Shape;253;p10"/>
            <p:cNvSpPr txBox="1"/>
            <p:nvPr/>
          </p:nvSpPr>
          <p:spPr>
            <a:xfrm>
              <a:off x="0" y="-38100"/>
              <a:ext cx="1909832" cy="38964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54" name="Google Shape;254;p10"/>
          <p:cNvGrpSpPr/>
          <p:nvPr/>
        </p:nvGrpSpPr>
        <p:grpSpPr>
          <a:xfrm>
            <a:off x="0" y="9113639"/>
            <a:ext cx="18288000" cy="1173361"/>
            <a:chOff x="0" y="-38100"/>
            <a:chExt cx="4816593" cy="309033"/>
          </a:xfrm>
        </p:grpSpPr>
        <p:sp>
          <p:nvSpPr>
            <p:cNvPr id="255" name="Google Shape;255;p10"/>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29303C"/>
            </a:solidFill>
            <a:ln>
              <a:noFill/>
            </a:ln>
          </p:spPr>
        </p:sp>
        <p:sp>
          <p:nvSpPr>
            <p:cNvPr id="256" name="Google Shape;256;p10"/>
            <p:cNvSpPr txBox="1"/>
            <p:nvPr/>
          </p:nvSpPr>
          <p:spPr>
            <a:xfrm>
              <a:off x="0" y="-38100"/>
              <a:ext cx="4816593" cy="3090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7" name="Google Shape;257;p10"/>
          <p:cNvSpPr/>
          <p:nvPr/>
        </p:nvSpPr>
        <p:spPr>
          <a:xfrm>
            <a:off x="9144000" y="2445226"/>
            <a:ext cx="8200935" cy="5396549"/>
          </a:xfrm>
          <a:custGeom>
            <a:rect b="b" l="l" r="r" t="t"/>
            <a:pathLst>
              <a:path extrusionOk="0" h="5396549" w="8200935">
                <a:moveTo>
                  <a:pt x="0" y="0"/>
                </a:moveTo>
                <a:lnTo>
                  <a:pt x="8200935" y="0"/>
                </a:lnTo>
                <a:lnTo>
                  <a:pt x="8200935" y="5396548"/>
                </a:lnTo>
                <a:lnTo>
                  <a:pt x="0" y="5396548"/>
                </a:lnTo>
                <a:lnTo>
                  <a:pt x="0" y="0"/>
                </a:lnTo>
                <a:close/>
              </a:path>
            </a:pathLst>
          </a:custGeom>
          <a:blipFill rotWithShape="1">
            <a:blip r:embed="rId3">
              <a:alphaModFix/>
            </a:blip>
            <a:stretch>
              <a:fillRect b="0" l="0" r="0" t="0"/>
            </a:stretch>
          </a:blipFill>
          <a:ln>
            <a:noFill/>
          </a:ln>
        </p:spPr>
      </p:sp>
      <p:sp>
        <p:nvSpPr>
          <p:cNvPr id="258" name="Google Shape;258;p10"/>
          <p:cNvSpPr txBox="1"/>
          <p:nvPr/>
        </p:nvSpPr>
        <p:spPr>
          <a:xfrm>
            <a:off x="3496932" y="971550"/>
            <a:ext cx="11294100" cy="8127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5000"/>
              <a:buFont typeface="Arial"/>
              <a:buNone/>
            </a:pPr>
            <a:r>
              <a:rPr b="1" i="0" lang="en-US" sz="5000" u="none" cap="none" strike="noStrike">
                <a:solidFill>
                  <a:srgbClr val="29303C"/>
                </a:solidFill>
                <a:latin typeface="Arial"/>
                <a:ea typeface="Arial"/>
                <a:cs typeface="Arial"/>
                <a:sym typeface="Arial"/>
              </a:rPr>
              <a:t>¿QUÉ SON LAS REDES DE DOCKER?</a:t>
            </a:r>
            <a:endParaRPr b="0" i="0" sz="1400" u="none" cap="none" strike="noStrike">
              <a:solidFill>
                <a:srgbClr val="000000"/>
              </a:solidFill>
              <a:latin typeface="Arial"/>
              <a:ea typeface="Arial"/>
              <a:cs typeface="Arial"/>
              <a:sym typeface="Arial"/>
            </a:endParaRPr>
          </a:p>
        </p:txBody>
      </p:sp>
      <p:sp>
        <p:nvSpPr>
          <p:cNvPr id="259" name="Google Shape;259;p10"/>
          <p:cNvSpPr txBox="1"/>
          <p:nvPr/>
        </p:nvSpPr>
        <p:spPr>
          <a:xfrm>
            <a:off x="1409700" y="3648075"/>
            <a:ext cx="7381262" cy="29622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29303C"/>
                </a:solidFill>
                <a:latin typeface="Arial"/>
                <a:ea typeface="Arial"/>
                <a:cs typeface="Arial"/>
                <a:sym typeface="Arial"/>
              </a:rPr>
              <a:t>Las redes en Docker </a:t>
            </a:r>
            <a:r>
              <a:rPr b="1" i="0" lang="en-US" sz="3000" u="none" cap="none" strike="noStrike">
                <a:solidFill>
                  <a:srgbClr val="29303C"/>
                </a:solidFill>
                <a:latin typeface="Arial"/>
                <a:ea typeface="Arial"/>
                <a:cs typeface="Arial"/>
                <a:sym typeface="Arial"/>
              </a:rPr>
              <a:t>permiten la comunicación entre contenedores</a:t>
            </a:r>
            <a:r>
              <a:rPr b="0" i="0" lang="en-US" sz="3000" u="none" cap="none" strike="noStrike">
                <a:solidFill>
                  <a:srgbClr val="29303C"/>
                </a:solidFill>
                <a:latin typeface="Arial"/>
                <a:ea typeface="Arial"/>
                <a:cs typeface="Arial"/>
                <a:sym typeface="Arial"/>
              </a:rPr>
              <a:t>. Docker usa networks para gestionar el tráfico y asegurar que los contenedores puedan descubrirse y comunicarse entre ellos.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grpSp>
        <p:nvGrpSpPr>
          <p:cNvPr id="264" name="Google Shape;264;p11"/>
          <p:cNvGrpSpPr/>
          <p:nvPr/>
        </p:nvGrpSpPr>
        <p:grpSpPr>
          <a:xfrm>
            <a:off x="-1893732" y="9582281"/>
            <a:ext cx="3086100" cy="3120318"/>
            <a:chOff x="0" y="-38100"/>
            <a:chExt cx="812800" cy="821812"/>
          </a:xfrm>
        </p:grpSpPr>
        <p:sp>
          <p:nvSpPr>
            <p:cNvPr id="265" name="Google Shape;265;p11"/>
            <p:cNvSpPr/>
            <p:nvPr/>
          </p:nvSpPr>
          <p:spPr>
            <a:xfrm>
              <a:off x="0" y="0"/>
              <a:ext cx="812800" cy="783712"/>
            </a:xfrm>
            <a:custGeom>
              <a:rect b="b" l="l" r="r" t="t"/>
              <a:pathLst>
                <a:path extrusionOk="0" h="783712" w="812800">
                  <a:moveTo>
                    <a:pt x="0" y="0"/>
                  </a:moveTo>
                  <a:lnTo>
                    <a:pt x="812800" y="0"/>
                  </a:lnTo>
                  <a:lnTo>
                    <a:pt x="812800" y="783712"/>
                  </a:lnTo>
                  <a:lnTo>
                    <a:pt x="0" y="783712"/>
                  </a:lnTo>
                  <a:close/>
                </a:path>
              </a:pathLst>
            </a:custGeom>
            <a:solidFill>
              <a:srgbClr val="1E63ED"/>
            </a:solidFill>
            <a:ln>
              <a:noFill/>
            </a:ln>
          </p:spPr>
        </p:sp>
        <p:sp>
          <p:nvSpPr>
            <p:cNvPr id="266" name="Google Shape;266;p11"/>
            <p:cNvSpPr txBox="1"/>
            <p:nvPr/>
          </p:nvSpPr>
          <p:spPr>
            <a:xfrm>
              <a:off x="0" y="-38100"/>
              <a:ext cx="812800" cy="8218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7" name="Google Shape;267;p11"/>
          <p:cNvGrpSpPr/>
          <p:nvPr/>
        </p:nvGrpSpPr>
        <p:grpSpPr>
          <a:xfrm>
            <a:off x="-2403992" y="8094453"/>
            <a:ext cx="3086100" cy="3120318"/>
            <a:chOff x="0" y="-38100"/>
            <a:chExt cx="812800" cy="821812"/>
          </a:xfrm>
        </p:grpSpPr>
        <p:sp>
          <p:nvSpPr>
            <p:cNvPr id="268" name="Google Shape;268;p11"/>
            <p:cNvSpPr/>
            <p:nvPr/>
          </p:nvSpPr>
          <p:spPr>
            <a:xfrm>
              <a:off x="0" y="0"/>
              <a:ext cx="812800" cy="783712"/>
            </a:xfrm>
            <a:custGeom>
              <a:rect b="b" l="l" r="r" t="t"/>
              <a:pathLst>
                <a:path extrusionOk="0" h="783712" w="812800">
                  <a:moveTo>
                    <a:pt x="0" y="0"/>
                  </a:moveTo>
                  <a:lnTo>
                    <a:pt x="812800" y="0"/>
                  </a:lnTo>
                  <a:lnTo>
                    <a:pt x="812800" y="783712"/>
                  </a:lnTo>
                  <a:lnTo>
                    <a:pt x="0" y="783712"/>
                  </a:lnTo>
                  <a:close/>
                </a:path>
              </a:pathLst>
            </a:custGeom>
            <a:solidFill>
              <a:srgbClr val="29303C"/>
            </a:solidFill>
            <a:ln>
              <a:noFill/>
            </a:ln>
          </p:spPr>
        </p:sp>
        <p:sp>
          <p:nvSpPr>
            <p:cNvPr id="269" name="Google Shape;269;p11"/>
            <p:cNvSpPr txBox="1"/>
            <p:nvPr/>
          </p:nvSpPr>
          <p:spPr>
            <a:xfrm>
              <a:off x="0" y="-38100"/>
              <a:ext cx="812800" cy="8218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0" name="Google Shape;270;p11"/>
          <p:cNvGrpSpPr/>
          <p:nvPr/>
        </p:nvGrpSpPr>
        <p:grpSpPr>
          <a:xfrm>
            <a:off x="16776087" y="-539578"/>
            <a:ext cx="2344551" cy="2157882"/>
            <a:chOff x="0" y="-38100"/>
            <a:chExt cx="617495" cy="568331"/>
          </a:xfrm>
        </p:grpSpPr>
        <p:sp>
          <p:nvSpPr>
            <p:cNvPr id="271" name="Google Shape;271;p11"/>
            <p:cNvSpPr/>
            <p:nvPr/>
          </p:nvSpPr>
          <p:spPr>
            <a:xfrm>
              <a:off x="0" y="0"/>
              <a:ext cx="617495" cy="530231"/>
            </a:xfrm>
            <a:custGeom>
              <a:rect b="b" l="l" r="r" t="t"/>
              <a:pathLst>
                <a:path extrusionOk="0" h="530231" w="617495">
                  <a:moveTo>
                    <a:pt x="0" y="0"/>
                  </a:moveTo>
                  <a:lnTo>
                    <a:pt x="617495" y="0"/>
                  </a:lnTo>
                  <a:lnTo>
                    <a:pt x="617495" y="530231"/>
                  </a:lnTo>
                  <a:lnTo>
                    <a:pt x="0" y="530231"/>
                  </a:lnTo>
                  <a:close/>
                </a:path>
              </a:pathLst>
            </a:custGeom>
            <a:solidFill>
              <a:srgbClr val="29303C"/>
            </a:solidFill>
            <a:ln>
              <a:noFill/>
            </a:ln>
          </p:spPr>
        </p:sp>
        <p:sp>
          <p:nvSpPr>
            <p:cNvPr id="272" name="Google Shape;272;p11"/>
            <p:cNvSpPr txBox="1"/>
            <p:nvPr/>
          </p:nvSpPr>
          <p:spPr>
            <a:xfrm>
              <a:off x="0" y="-38100"/>
              <a:ext cx="617495" cy="56833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3" name="Google Shape;273;p11"/>
          <p:cNvGrpSpPr/>
          <p:nvPr/>
        </p:nvGrpSpPr>
        <p:grpSpPr>
          <a:xfrm>
            <a:off x="17259300" y="641994"/>
            <a:ext cx="3086100" cy="3120318"/>
            <a:chOff x="0" y="-38100"/>
            <a:chExt cx="812800" cy="821812"/>
          </a:xfrm>
        </p:grpSpPr>
        <p:sp>
          <p:nvSpPr>
            <p:cNvPr id="274" name="Google Shape;274;p11"/>
            <p:cNvSpPr/>
            <p:nvPr/>
          </p:nvSpPr>
          <p:spPr>
            <a:xfrm>
              <a:off x="0" y="0"/>
              <a:ext cx="812800" cy="783712"/>
            </a:xfrm>
            <a:custGeom>
              <a:rect b="b" l="l" r="r" t="t"/>
              <a:pathLst>
                <a:path extrusionOk="0" h="783712" w="812800">
                  <a:moveTo>
                    <a:pt x="0" y="0"/>
                  </a:moveTo>
                  <a:lnTo>
                    <a:pt x="812800" y="0"/>
                  </a:lnTo>
                  <a:lnTo>
                    <a:pt x="812800" y="783712"/>
                  </a:lnTo>
                  <a:lnTo>
                    <a:pt x="0" y="783712"/>
                  </a:lnTo>
                  <a:close/>
                </a:path>
              </a:pathLst>
            </a:custGeom>
            <a:solidFill>
              <a:srgbClr val="1E63ED"/>
            </a:solidFill>
            <a:ln>
              <a:noFill/>
            </a:ln>
          </p:spPr>
        </p:sp>
        <p:sp>
          <p:nvSpPr>
            <p:cNvPr id="275" name="Google Shape;275;p11"/>
            <p:cNvSpPr txBox="1"/>
            <p:nvPr/>
          </p:nvSpPr>
          <p:spPr>
            <a:xfrm>
              <a:off x="0" y="-38100"/>
              <a:ext cx="812800" cy="8218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6" name="Google Shape;276;p11"/>
          <p:cNvSpPr txBox="1"/>
          <p:nvPr/>
        </p:nvSpPr>
        <p:spPr>
          <a:xfrm>
            <a:off x="2309801" y="439737"/>
            <a:ext cx="14307328" cy="1120775"/>
          </a:xfrm>
          <a:prstGeom prst="rect">
            <a:avLst/>
          </a:prstGeom>
          <a:noFill/>
          <a:ln>
            <a:noFill/>
          </a:ln>
        </p:spPr>
        <p:txBody>
          <a:bodyPr anchorCtr="0" anchor="t" bIns="0" lIns="0" spcFirstLastPara="1" rIns="0" wrap="square" tIns="0">
            <a:spAutoFit/>
          </a:bodyPr>
          <a:lstStyle/>
          <a:p>
            <a:pPr indent="0" lvl="0" marL="0" marR="0" rtl="0" algn="ctr">
              <a:lnSpc>
                <a:spcPct val="130004"/>
              </a:lnSpc>
              <a:spcBef>
                <a:spcPts val="0"/>
              </a:spcBef>
              <a:spcAft>
                <a:spcPts val="0"/>
              </a:spcAft>
              <a:buClr>
                <a:srgbClr val="000000"/>
              </a:buClr>
              <a:buSzPts val="6999"/>
              <a:buFont typeface="Arial"/>
              <a:buNone/>
            </a:pPr>
            <a:r>
              <a:rPr b="1" i="0" lang="en-US" sz="6999" u="none" cap="none" strike="noStrike">
                <a:solidFill>
                  <a:srgbClr val="29303C"/>
                </a:solidFill>
                <a:latin typeface="Arial"/>
                <a:ea typeface="Arial"/>
                <a:cs typeface="Arial"/>
                <a:sym typeface="Arial"/>
              </a:rPr>
              <a:t>TIPOS DE REDES</a:t>
            </a:r>
            <a:endParaRPr b="0" i="0" sz="1400" u="none" cap="none" strike="noStrike">
              <a:solidFill>
                <a:srgbClr val="000000"/>
              </a:solidFill>
              <a:latin typeface="Arial"/>
              <a:ea typeface="Arial"/>
              <a:cs typeface="Arial"/>
              <a:sym typeface="Arial"/>
            </a:endParaRPr>
          </a:p>
        </p:txBody>
      </p:sp>
      <p:grpSp>
        <p:nvGrpSpPr>
          <p:cNvPr id="277" name="Google Shape;277;p11"/>
          <p:cNvGrpSpPr/>
          <p:nvPr/>
        </p:nvGrpSpPr>
        <p:grpSpPr>
          <a:xfrm>
            <a:off x="1517594" y="2133476"/>
            <a:ext cx="731003" cy="760368"/>
            <a:chOff x="0" y="0"/>
            <a:chExt cx="974670" cy="1013824"/>
          </a:xfrm>
        </p:grpSpPr>
        <p:sp>
          <p:nvSpPr>
            <p:cNvPr id="278" name="Google Shape;278;p11"/>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11"/>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grpSp>
      <p:grpSp>
        <p:nvGrpSpPr>
          <p:cNvPr id="280" name="Google Shape;280;p11"/>
          <p:cNvGrpSpPr/>
          <p:nvPr/>
        </p:nvGrpSpPr>
        <p:grpSpPr>
          <a:xfrm>
            <a:off x="1517594" y="3809998"/>
            <a:ext cx="731003" cy="760368"/>
            <a:chOff x="0" y="0"/>
            <a:chExt cx="974670" cy="1013824"/>
          </a:xfrm>
        </p:grpSpPr>
        <p:sp>
          <p:nvSpPr>
            <p:cNvPr id="281" name="Google Shape;281;p11"/>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1"/>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FFFFFF"/>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grpSp>
      <p:grpSp>
        <p:nvGrpSpPr>
          <p:cNvPr id="283" name="Google Shape;283;p11"/>
          <p:cNvGrpSpPr/>
          <p:nvPr/>
        </p:nvGrpSpPr>
        <p:grpSpPr>
          <a:xfrm>
            <a:off x="1517594" y="6003234"/>
            <a:ext cx="731003" cy="760368"/>
            <a:chOff x="0" y="0"/>
            <a:chExt cx="974670" cy="1013824"/>
          </a:xfrm>
        </p:grpSpPr>
        <p:sp>
          <p:nvSpPr>
            <p:cNvPr id="284" name="Google Shape;284;p11"/>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11"/>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FF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grpSp>
      <p:sp>
        <p:nvSpPr>
          <p:cNvPr id="286" name="Google Shape;286;p11"/>
          <p:cNvSpPr txBox="1"/>
          <p:nvPr/>
        </p:nvSpPr>
        <p:spPr>
          <a:xfrm>
            <a:off x="2441330" y="2104901"/>
            <a:ext cx="14175799" cy="19716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rPr b="1" i="0" lang="en-US" sz="3000" u="none" cap="none" strike="noStrike">
                <a:solidFill>
                  <a:srgbClr val="29303C"/>
                </a:solidFill>
                <a:latin typeface="Arial"/>
                <a:ea typeface="Arial"/>
                <a:cs typeface="Arial"/>
                <a:sym typeface="Arial"/>
              </a:rPr>
              <a:t>Bridge Network</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29303C"/>
                </a:solidFill>
                <a:latin typeface="Arial"/>
                <a:ea typeface="Arial"/>
                <a:cs typeface="Arial"/>
                <a:sym typeface="Arial"/>
              </a:rPr>
              <a:t>Es el tipo de red por defecto para contenedores. Conecta contenedores en una misma red aislada dentro del host.</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t/>
            </a:r>
            <a:endParaRPr b="0" i="0" sz="3000" u="none" cap="none" strike="noStrike">
              <a:solidFill>
                <a:srgbClr val="29303C"/>
              </a:solidFill>
              <a:latin typeface="Arial"/>
              <a:ea typeface="Arial"/>
              <a:cs typeface="Arial"/>
              <a:sym typeface="Arial"/>
            </a:endParaRPr>
          </a:p>
        </p:txBody>
      </p:sp>
      <p:sp>
        <p:nvSpPr>
          <p:cNvPr id="287" name="Google Shape;287;p11"/>
          <p:cNvSpPr txBox="1"/>
          <p:nvPr/>
        </p:nvSpPr>
        <p:spPr>
          <a:xfrm>
            <a:off x="2441330" y="3781423"/>
            <a:ext cx="14334757" cy="19716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rPr b="1" i="0" lang="en-US" sz="3000" u="none" cap="none" strike="noStrike">
                <a:solidFill>
                  <a:srgbClr val="29303C"/>
                </a:solidFill>
                <a:latin typeface="Arial"/>
                <a:ea typeface="Arial"/>
                <a:cs typeface="Arial"/>
                <a:sym typeface="Arial"/>
              </a:rPr>
              <a:t>HOST NETWORK</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29303C"/>
                </a:solidFill>
                <a:latin typeface="Arial"/>
                <a:ea typeface="Arial"/>
                <a:cs typeface="Arial"/>
                <a:sym typeface="Arial"/>
              </a:rPr>
              <a:t>Usa la interfaz de red del host y permite que el contenedor comparta su IP con el host. Ideal para entornos en los que el rendimiento de la red es una prioridad.</a:t>
            </a:r>
            <a:endParaRPr b="0" i="0" sz="1400" u="none" cap="none" strike="noStrike">
              <a:solidFill>
                <a:srgbClr val="000000"/>
              </a:solidFill>
              <a:latin typeface="Arial"/>
              <a:ea typeface="Arial"/>
              <a:cs typeface="Arial"/>
              <a:sym typeface="Arial"/>
            </a:endParaRPr>
          </a:p>
        </p:txBody>
      </p:sp>
      <p:sp>
        <p:nvSpPr>
          <p:cNvPr id="288" name="Google Shape;288;p11"/>
          <p:cNvSpPr txBox="1"/>
          <p:nvPr/>
        </p:nvSpPr>
        <p:spPr>
          <a:xfrm>
            <a:off x="2441330" y="5974659"/>
            <a:ext cx="14175799" cy="14763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rPr b="1" i="0" lang="en-US" sz="3000" u="none" cap="none" strike="noStrike">
                <a:solidFill>
                  <a:srgbClr val="29303C"/>
                </a:solidFill>
                <a:latin typeface="Arial"/>
                <a:ea typeface="Arial"/>
                <a:cs typeface="Arial"/>
                <a:sym typeface="Arial"/>
              </a:rPr>
              <a:t>OVERLAY NETWORK</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29303C"/>
                </a:solidFill>
                <a:latin typeface="Arial"/>
                <a:ea typeface="Arial"/>
                <a:cs typeface="Arial"/>
                <a:sym typeface="Arial"/>
              </a:rPr>
              <a:t>Permite la comunicación entre varios hosts Docker, ideal para configuraciones de orquestación con Docker Swarm o Kubernetes.</a:t>
            </a:r>
            <a:endParaRPr b="0" i="0" sz="1400" u="none" cap="none" strike="noStrike">
              <a:solidFill>
                <a:srgbClr val="000000"/>
              </a:solidFill>
              <a:latin typeface="Arial"/>
              <a:ea typeface="Arial"/>
              <a:cs typeface="Arial"/>
              <a:sym typeface="Arial"/>
            </a:endParaRPr>
          </a:p>
        </p:txBody>
      </p:sp>
      <p:grpSp>
        <p:nvGrpSpPr>
          <p:cNvPr id="289" name="Google Shape;289;p11"/>
          <p:cNvGrpSpPr/>
          <p:nvPr/>
        </p:nvGrpSpPr>
        <p:grpSpPr>
          <a:xfrm>
            <a:off x="1517594" y="8092384"/>
            <a:ext cx="731003" cy="760368"/>
            <a:chOff x="0" y="0"/>
            <a:chExt cx="974670" cy="1013824"/>
          </a:xfrm>
        </p:grpSpPr>
        <p:sp>
          <p:nvSpPr>
            <p:cNvPr id="290" name="Google Shape;290;p11"/>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11"/>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FFFFFF"/>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grpSp>
      <p:sp>
        <p:nvSpPr>
          <p:cNvPr id="292" name="Google Shape;292;p11"/>
          <p:cNvSpPr txBox="1"/>
          <p:nvPr/>
        </p:nvSpPr>
        <p:spPr>
          <a:xfrm>
            <a:off x="2441330" y="8063809"/>
            <a:ext cx="14175799" cy="9810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rPr b="1" i="0" lang="en-US" sz="3000" u="none" cap="none" strike="noStrike">
                <a:solidFill>
                  <a:srgbClr val="29303C"/>
                </a:solidFill>
                <a:latin typeface="Arial"/>
                <a:ea typeface="Arial"/>
                <a:cs typeface="Arial"/>
                <a:sym typeface="Arial"/>
              </a:rPr>
              <a:t>NONE NETWORK</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29303C"/>
                </a:solidFill>
                <a:latin typeface="Arial"/>
                <a:ea typeface="Arial"/>
                <a:cs typeface="Arial"/>
                <a:sym typeface="Arial"/>
              </a:rPr>
              <a:t>No asigna una red al contenedor, lo que aísla completamente al contenedor.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grpSp>
        <p:nvGrpSpPr>
          <p:cNvPr id="297" name="Google Shape;297;p12"/>
          <p:cNvGrpSpPr/>
          <p:nvPr/>
        </p:nvGrpSpPr>
        <p:grpSpPr>
          <a:xfrm>
            <a:off x="0" y="-171146"/>
            <a:ext cx="566738" cy="2834568"/>
            <a:chOff x="0" y="-38100"/>
            <a:chExt cx="149264" cy="746553"/>
          </a:xfrm>
        </p:grpSpPr>
        <p:sp>
          <p:nvSpPr>
            <p:cNvPr id="298" name="Google Shape;298;p12"/>
            <p:cNvSpPr/>
            <p:nvPr/>
          </p:nvSpPr>
          <p:spPr>
            <a:xfrm>
              <a:off x="0" y="0"/>
              <a:ext cx="149264" cy="708453"/>
            </a:xfrm>
            <a:custGeom>
              <a:rect b="b" l="l" r="r" t="t"/>
              <a:pathLst>
                <a:path extrusionOk="0" h="708453" w="149264">
                  <a:moveTo>
                    <a:pt x="0" y="0"/>
                  </a:moveTo>
                  <a:lnTo>
                    <a:pt x="149264" y="0"/>
                  </a:lnTo>
                  <a:lnTo>
                    <a:pt x="149264" y="708453"/>
                  </a:lnTo>
                  <a:lnTo>
                    <a:pt x="0" y="708453"/>
                  </a:lnTo>
                  <a:close/>
                </a:path>
              </a:pathLst>
            </a:custGeom>
            <a:solidFill>
              <a:srgbClr val="1E63ED"/>
            </a:solidFill>
            <a:ln>
              <a:noFill/>
            </a:ln>
          </p:spPr>
        </p:sp>
        <p:sp>
          <p:nvSpPr>
            <p:cNvPr id="299" name="Google Shape;299;p12"/>
            <p:cNvSpPr txBox="1"/>
            <p:nvPr/>
          </p:nvSpPr>
          <p:spPr>
            <a:xfrm>
              <a:off x="0" y="-38100"/>
              <a:ext cx="149264" cy="74655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0" name="Google Shape;300;p12"/>
          <p:cNvGrpSpPr/>
          <p:nvPr/>
        </p:nvGrpSpPr>
        <p:grpSpPr>
          <a:xfrm>
            <a:off x="0" y="-144661"/>
            <a:ext cx="1133475" cy="1463129"/>
            <a:chOff x="0" y="-38100"/>
            <a:chExt cx="298528" cy="385351"/>
          </a:xfrm>
        </p:grpSpPr>
        <p:sp>
          <p:nvSpPr>
            <p:cNvPr id="301" name="Google Shape;301;p12"/>
            <p:cNvSpPr/>
            <p:nvPr/>
          </p:nvSpPr>
          <p:spPr>
            <a:xfrm>
              <a:off x="0" y="0"/>
              <a:ext cx="298528" cy="347251"/>
            </a:xfrm>
            <a:custGeom>
              <a:rect b="b" l="l" r="r" t="t"/>
              <a:pathLst>
                <a:path extrusionOk="0" h="347251" w="298528">
                  <a:moveTo>
                    <a:pt x="0" y="0"/>
                  </a:moveTo>
                  <a:lnTo>
                    <a:pt x="298528" y="0"/>
                  </a:lnTo>
                  <a:lnTo>
                    <a:pt x="298528" y="347251"/>
                  </a:lnTo>
                  <a:lnTo>
                    <a:pt x="0" y="347251"/>
                  </a:lnTo>
                  <a:close/>
                </a:path>
              </a:pathLst>
            </a:custGeom>
            <a:solidFill>
              <a:srgbClr val="29303C"/>
            </a:solidFill>
            <a:ln>
              <a:noFill/>
            </a:ln>
          </p:spPr>
        </p:sp>
        <p:sp>
          <p:nvSpPr>
            <p:cNvPr id="302" name="Google Shape;302;p12"/>
            <p:cNvSpPr txBox="1"/>
            <p:nvPr/>
          </p:nvSpPr>
          <p:spPr>
            <a:xfrm>
              <a:off x="0" y="-38100"/>
              <a:ext cx="298528" cy="3853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3" name="Google Shape;303;p12"/>
          <p:cNvGrpSpPr/>
          <p:nvPr/>
        </p:nvGrpSpPr>
        <p:grpSpPr>
          <a:xfrm>
            <a:off x="16776087" y="8921922"/>
            <a:ext cx="2344551" cy="2157882"/>
            <a:chOff x="0" y="-38100"/>
            <a:chExt cx="617495" cy="568331"/>
          </a:xfrm>
        </p:grpSpPr>
        <p:sp>
          <p:nvSpPr>
            <p:cNvPr id="304" name="Google Shape;304;p12"/>
            <p:cNvSpPr/>
            <p:nvPr/>
          </p:nvSpPr>
          <p:spPr>
            <a:xfrm>
              <a:off x="0" y="0"/>
              <a:ext cx="617495" cy="530231"/>
            </a:xfrm>
            <a:custGeom>
              <a:rect b="b" l="l" r="r" t="t"/>
              <a:pathLst>
                <a:path extrusionOk="0" h="530231" w="617495">
                  <a:moveTo>
                    <a:pt x="0" y="0"/>
                  </a:moveTo>
                  <a:lnTo>
                    <a:pt x="617495" y="0"/>
                  </a:lnTo>
                  <a:lnTo>
                    <a:pt x="617495" y="530231"/>
                  </a:lnTo>
                  <a:lnTo>
                    <a:pt x="0" y="530231"/>
                  </a:lnTo>
                  <a:close/>
                </a:path>
              </a:pathLst>
            </a:custGeom>
            <a:solidFill>
              <a:srgbClr val="29303C"/>
            </a:solidFill>
            <a:ln>
              <a:noFill/>
            </a:ln>
          </p:spPr>
        </p:sp>
        <p:sp>
          <p:nvSpPr>
            <p:cNvPr id="305" name="Google Shape;305;p12"/>
            <p:cNvSpPr txBox="1"/>
            <p:nvPr/>
          </p:nvSpPr>
          <p:spPr>
            <a:xfrm>
              <a:off x="0" y="-38100"/>
              <a:ext cx="617495" cy="56833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6" name="Google Shape;306;p12"/>
          <p:cNvGrpSpPr/>
          <p:nvPr/>
        </p:nvGrpSpPr>
        <p:grpSpPr>
          <a:xfrm>
            <a:off x="17577588" y="6952876"/>
            <a:ext cx="3086100" cy="3120318"/>
            <a:chOff x="0" y="-38100"/>
            <a:chExt cx="812800" cy="821812"/>
          </a:xfrm>
        </p:grpSpPr>
        <p:sp>
          <p:nvSpPr>
            <p:cNvPr id="307" name="Google Shape;307;p12"/>
            <p:cNvSpPr/>
            <p:nvPr/>
          </p:nvSpPr>
          <p:spPr>
            <a:xfrm>
              <a:off x="0" y="0"/>
              <a:ext cx="812800" cy="783712"/>
            </a:xfrm>
            <a:custGeom>
              <a:rect b="b" l="l" r="r" t="t"/>
              <a:pathLst>
                <a:path extrusionOk="0" h="783712" w="812800">
                  <a:moveTo>
                    <a:pt x="0" y="0"/>
                  </a:moveTo>
                  <a:lnTo>
                    <a:pt x="812800" y="0"/>
                  </a:lnTo>
                  <a:lnTo>
                    <a:pt x="812800" y="783712"/>
                  </a:lnTo>
                  <a:lnTo>
                    <a:pt x="0" y="783712"/>
                  </a:lnTo>
                  <a:close/>
                </a:path>
              </a:pathLst>
            </a:custGeom>
            <a:solidFill>
              <a:srgbClr val="1E63ED"/>
            </a:solidFill>
            <a:ln>
              <a:noFill/>
            </a:ln>
          </p:spPr>
        </p:sp>
        <p:sp>
          <p:nvSpPr>
            <p:cNvPr id="308" name="Google Shape;308;p12"/>
            <p:cNvSpPr txBox="1"/>
            <p:nvPr/>
          </p:nvSpPr>
          <p:spPr>
            <a:xfrm>
              <a:off x="0" y="-38100"/>
              <a:ext cx="812800" cy="8218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9" name="Google Shape;309;p12"/>
          <p:cNvSpPr/>
          <p:nvPr/>
        </p:nvSpPr>
        <p:spPr>
          <a:xfrm>
            <a:off x="3805722" y="1911554"/>
            <a:ext cx="10676557" cy="7913998"/>
          </a:xfrm>
          <a:custGeom>
            <a:rect b="b" l="l" r="r" t="t"/>
            <a:pathLst>
              <a:path extrusionOk="0" h="7913998" w="10676557">
                <a:moveTo>
                  <a:pt x="0" y="0"/>
                </a:moveTo>
                <a:lnTo>
                  <a:pt x="10676556" y="0"/>
                </a:lnTo>
                <a:lnTo>
                  <a:pt x="10676556" y="7913997"/>
                </a:lnTo>
                <a:lnTo>
                  <a:pt x="0" y="7913997"/>
                </a:lnTo>
                <a:lnTo>
                  <a:pt x="0" y="0"/>
                </a:lnTo>
                <a:close/>
              </a:path>
            </a:pathLst>
          </a:custGeom>
          <a:blipFill rotWithShape="1">
            <a:blip r:embed="rId3">
              <a:alphaModFix/>
            </a:blip>
            <a:stretch>
              <a:fillRect b="0" l="0" r="0" t="0"/>
            </a:stretch>
          </a:blipFill>
          <a:ln>
            <a:noFill/>
          </a:ln>
        </p:spPr>
      </p:sp>
      <p:sp>
        <p:nvSpPr>
          <p:cNvPr id="310" name="Google Shape;310;p12"/>
          <p:cNvSpPr txBox="1"/>
          <p:nvPr/>
        </p:nvSpPr>
        <p:spPr>
          <a:xfrm>
            <a:off x="5115975" y="602075"/>
            <a:ext cx="10268400" cy="1077300"/>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Clr>
                <a:srgbClr val="000000"/>
              </a:buClr>
              <a:buSzPts val="6999"/>
              <a:buFont typeface="Arial"/>
              <a:buNone/>
            </a:pPr>
            <a:r>
              <a:rPr b="1" i="0" lang="en-US" sz="6999" u="none" cap="none" strike="noStrike">
                <a:solidFill>
                  <a:srgbClr val="29303C"/>
                </a:solidFill>
                <a:latin typeface="Arial"/>
                <a:ea typeface="Arial"/>
                <a:cs typeface="Arial"/>
                <a:sym typeface="Arial"/>
              </a:rPr>
              <a:t>DOCKER NETWORKS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grpSp>
        <p:nvGrpSpPr>
          <p:cNvPr id="315" name="Google Shape;315;p13"/>
          <p:cNvGrpSpPr/>
          <p:nvPr/>
        </p:nvGrpSpPr>
        <p:grpSpPr>
          <a:xfrm>
            <a:off x="1028700" y="1310478"/>
            <a:ext cx="7832725" cy="2515431"/>
            <a:chOff x="0" y="-47625"/>
            <a:chExt cx="2062940" cy="662500"/>
          </a:xfrm>
        </p:grpSpPr>
        <p:sp>
          <p:nvSpPr>
            <p:cNvPr id="316" name="Google Shape;316;p13"/>
            <p:cNvSpPr/>
            <p:nvPr/>
          </p:nvSpPr>
          <p:spPr>
            <a:xfrm>
              <a:off x="0" y="0"/>
              <a:ext cx="2062940" cy="614875"/>
            </a:xfrm>
            <a:custGeom>
              <a:rect b="b" l="l" r="r" t="t"/>
              <a:pathLst>
                <a:path extrusionOk="0" h="614875" w="2062940">
                  <a:moveTo>
                    <a:pt x="50409" y="0"/>
                  </a:moveTo>
                  <a:lnTo>
                    <a:pt x="2012531" y="0"/>
                  </a:lnTo>
                  <a:cubicBezTo>
                    <a:pt x="2025900" y="0"/>
                    <a:pt x="2038722" y="5311"/>
                    <a:pt x="2048176" y="14764"/>
                  </a:cubicBezTo>
                  <a:cubicBezTo>
                    <a:pt x="2057629" y="24218"/>
                    <a:pt x="2062940" y="37040"/>
                    <a:pt x="2062940" y="50409"/>
                  </a:cubicBezTo>
                  <a:lnTo>
                    <a:pt x="2062940" y="564467"/>
                  </a:lnTo>
                  <a:cubicBezTo>
                    <a:pt x="2062940" y="577836"/>
                    <a:pt x="2057629" y="590657"/>
                    <a:pt x="2048176" y="600111"/>
                  </a:cubicBezTo>
                  <a:cubicBezTo>
                    <a:pt x="2038722" y="609564"/>
                    <a:pt x="2025900" y="614875"/>
                    <a:pt x="2012531" y="614875"/>
                  </a:cubicBezTo>
                  <a:lnTo>
                    <a:pt x="50409" y="614875"/>
                  </a:lnTo>
                  <a:cubicBezTo>
                    <a:pt x="37040" y="614875"/>
                    <a:pt x="24218" y="609564"/>
                    <a:pt x="14764" y="600111"/>
                  </a:cubicBezTo>
                  <a:cubicBezTo>
                    <a:pt x="5311" y="590657"/>
                    <a:pt x="0" y="577836"/>
                    <a:pt x="0" y="564467"/>
                  </a:cubicBezTo>
                  <a:lnTo>
                    <a:pt x="0" y="50409"/>
                  </a:lnTo>
                  <a:cubicBezTo>
                    <a:pt x="0" y="37040"/>
                    <a:pt x="5311" y="24218"/>
                    <a:pt x="14764" y="14764"/>
                  </a:cubicBezTo>
                  <a:cubicBezTo>
                    <a:pt x="24218" y="5311"/>
                    <a:pt x="37040" y="0"/>
                    <a:pt x="50409" y="0"/>
                  </a:cubicBezTo>
                  <a:close/>
                </a:path>
              </a:pathLst>
            </a:custGeom>
            <a:solidFill>
              <a:srgbClr val="1E63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13"/>
            <p:cNvSpPr txBox="1"/>
            <p:nvPr/>
          </p:nvSpPr>
          <p:spPr>
            <a:xfrm>
              <a:off x="0" y="-47625"/>
              <a:ext cx="2062940" cy="662500"/>
            </a:xfrm>
            <a:prstGeom prst="rect">
              <a:avLst/>
            </a:prstGeom>
            <a:noFill/>
            <a:ln>
              <a:noFill/>
            </a:ln>
          </p:spPr>
          <p:txBody>
            <a:bodyPr anchorCtr="0" anchor="ctr" bIns="50800" lIns="50800" spcFirstLastPara="1" rIns="50800" wrap="square" tIns="50800">
              <a:no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Arial"/>
                  <a:ea typeface="Arial"/>
                  <a:cs typeface="Arial"/>
                  <a:sym typeface="Arial"/>
                </a:rPr>
                <a:t>PORTABILIDAD</a:t>
              </a:r>
              <a:endParaRPr b="0" i="0" sz="1400" u="none" cap="none" strike="noStrike">
                <a:solidFill>
                  <a:srgbClr val="000000"/>
                </a:solidFill>
                <a:latin typeface="Arial"/>
                <a:ea typeface="Arial"/>
                <a:cs typeface="Arial"/>
                <a:sym typeface="Arial"/>
              </a:endParaRPr>
            </a:p>
            <a:p>
              <a:pPr indent="0" lvl="0" marL="0" marR="0" rtl="0" algn="ctr">
                <a:lnSpc>
                  <a:spcPct val="140016"/>
                </a:lnSpc>
                <a:spcBef>
                  <a:spcPts val="0"/>
                </a:spcBef>
                <a:spcAft>
                  <a:spcPts val="0"/>
                </a:spcAft>
                <a:buClr>
                  <a:srgbClr val="000000"/>
                </a:buClr>
                <a:buSzPts val="2499"/>
                <a:buFont typeface="Arial"/>
                <a:buNone/>
              </a:pPr>
              <a:r>
                <a:rPr b="0" i="0" lang="en-US" sz="2499" u="none" cap="none" strike="noStrike">
                  <a:solidFill>
                    <a:srgbClr val="FFFFFF"/>
                  </a:solidFill>
                  <a:latin typeface="Arial"/>
                  <a:ea typeface="Arial"/>
                  <a:cs typeface="Arial"/>
                  <a:sym typeface="Arial"/>
                </a:rPr>
                <a:t>Los contenedores de Docker pueden ejecutarse de manera uniforme en cualquier entorno, ya sea de desarrollo, pruebas o producción.</a:t>
              </a:r>
              <a:endParaRPr b="0" i="0" sz="1400" u="none" cap="none" strike="noStrike">
                <a:solidFill>
                  <a:srgbClr val="000000"/>
                </a:solidFill>
                <a:latin typeface="Arial"/>
                <a:ea typeface="Arial"/>
                <a:cs typeface="Arial"/>
                <a:sym typeface="Arial"/>
              </a:endParaRPr>
            </a:p>
            <a:p>
              <a:pPr indent="0" lvl="0" marL="0" marR="0" rtl="0" algn="ctr">
                <a:lnSpc>
                  <a:spcPct val="140016"/>
                </a:lnSpc>
                <a:spcBef>
                  <a:spcPts val="0"/>
                </a:spcBef>
                <a:spcAft>
                  <a:spcPts val="0"/>
                </a:spcAft>
                <a:buClr>
                  <a:srgbClr val="000000"/>
                </a:buClr>
                <a:buSzPts val="2499"/>
                <a:buFont typeface="Arial"/>
                <a:buNone/>
              </a:pPr>
              <a:r>
                <a:t/>
              </a:r>
              <a:endParaRPr b="0" i="0" sz="2499" u="none" cap="none" strike="noStrike">
                <a:solidFill>
                  <a:srgbClr val="FFFFFF"/>
                </a:solidFill>
                <a:latin typeface="Arial"/>
                <a:ea typeface="Arial"/>
                <a:cs typeface="Arial"/>
                <a:sym typeface="Arial"/>
              </a:endParaRPr>
            </a:p>
          </p:txBody>
        </p:sp>
      </p:grpSp>
      <p:sp>
        <p:nvSpPr>
          <p:cNvPr id="318" name="Google Shape;318;p13"/>
          <p:cNvSpPr txBox="1"/>
          <p:nvPr/>
        </p:nvSpPr>
        <p:spPr>
          <a:xfrm>
            <a:off x="1028700" y="332293"/>
            <a:ext cx="15431080" cy="8128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5000"/>
              <a:buFont typeface="Arial"/>
              <a:buNone/>
            </a:pPr>
            <a:r>
              <a:rPr b="1" i="0" lang="en-US" sz="5000" u="none" cap="none" strike="noStrike">
                <a:solidFill>
                  <a:srgbClr val="29303C"/>
                </a:solidFill>
                <a:latin typeface="Arial"/>
                <a:ea typeface="Arial"/>
                <a:cs typeface="Arial"/>
                <a:sym typeface="Arial"/>
              </a:rPr>
              <a:t>¿POR QUÉ UTILIZAR DOCKER?</a:t>
            </a:r>
            <a:endParaRPr b="0" i="0" sz="1400" u="none" cap="none" strike="noStrike">
              <a:solidFill>
                <a:srgbClr val="000000"/>
              </a:solidFill>
              <a:latin typeface="Arial"/>
              <a:ea typeface="Arial"/>
              <a:cs typeface="Arial"/>
              <a:sym typeface="Arial"/>
            </a:endParaRPr>
          </a:p>
        </p:txBody>
      </p:sp>
      <p:grpSp>
        <p:nvGrpSpPr>
          <p:cNvPr id="319" name="Google Shape;319;p13"/>
          <p:cNvGrpSpPr/>
          <p:nvPr/>
        </p:nvGrpSpPr>
        <p:grpSpPr>
          <a:xfrm>
            <a:off x="9426575" y="1310478"/>
            <a:ext cx="7832725" cy="2515431"/>
            <a:chOff x="0" y="-47625"/>
            <a:chExt cx="2062940" cy="662500"/>
          </a:xfrm>
        </p:grpSpPr>
        <p:sp>
          <p:nvSpPr>
            <p:cNvPr id="320" name="Google Shape;320;p13"/>
            <p:cNvSpPr/>
            <p:nvPr/>
          </p:nvSpPr>
          <p:spPr>
            <a:xfrm>
              <a:off x="0" y="0"/>
              <a:ext cx="2062940" cy="614875"/>
            </a:xfrm>
            <a:custGeom>
              <a:rect b="b" l="l" r="r" t="t"/>
              <a:pathLst>
                <a:path extrusionOk="0" h="614875" w="2062940">
                  <a:moveTo>
                    <a:pt x="50409" y="0"/>
                  </a:moveTo>
                  <a:lnTo>
                    <a:pt x="2012531" y="0"/>
                  </a:lnTo>
                  <a:cubicBezTo>
                    <a:pt x="2025900" y="0"/>
                    <a:pt x="2038722" y="5311"/>
                    <a:pt x="2048176" y="14764"/>
                  </a:cubicBezTo>
                  <a:cubicBezTo>
                    <a:pt x="2057629" y="24218"/>
                    <a:pt x="2062940" y="37040"/>
                    <a:pt x="2062940" y="50409"/>
                  </a:cubicBezTo>
                  <a:lnTo>
                    <a:pt x="2062940" y="564467"/>
                  </a:lnTo>
                  <a:cubicBezTo>
                    <a:pt x="2062940" y="577836"/>
                    <a:pt x="2057629" y="590657"/>
                    <a:pt x="2048176" y="600111"/>
                  </a:cubicBezTo>
                  <a:cubicBezTo>
                    <a:pt x="2038722" y="609564"/>
                    <a:pt x="2025900" y="614875"/>
                    <a:pt x="2012531" y="614875"/>
                  </a:cubicBezTo>
                  <a:lnTo>
                    <a:pt x="50409" y="614875"/>
                  </a:lnTo>
                  <a:cubicBezTo>
                    <a:pt x="37040" y="614875"/>
                    <a:pt x="24218" y="609564"/>
                    <a:pt x="14764" y="600111"/>
                  </a:cubicBezTo>
                  <a:cubicBezTo>
                    <a:pt x="5311" y="590657"/>
                    <a:pt x="0" y="577836"/>
                    <a:pt x="0" y="564467"/>
                  </a:cubicBezTo>
                  <a:lnTo>
                    <a:pt x="0" y="50409"/>
                  </a:lnTo>
                  <a:cubicBezTo>
                    <a:pt x="0" y="37040"/>
                    <a:pt x="5311" y="24218"/>
                    <a:pt x="14764" y="14764"/>
                  </a:cubicBezTo>
                  <a:cubicBezTo>
                    <a:pt x="24218" y="5311"/>
                    <a:pt x="37040" y="0"/>
                    <a:pt x="50409" y="0"/>
                  </a:cubicBezTo>
                  <a:close/>
                </a:path>
              </a:pathLst>
            </a:custGeom>
            <a:solidFill>
              <a:srgbClr val="2930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13"/>
            <p:cNvSpPr txBox="1"/>
            <p:nvPr/>
          </p:nvSpPr>
          <p:spPr>
            <a:xfrm>
              <a:off x="0" y="-47625"/>
              <a:ext cx="2062940" cy="662500"/>
            </a:xfrm>
            <a:prstGeom prst="rect">
              <a:avLst/>
            </a:prstGeom>
            <a:noFill/>
            <a:ln>
              <a:noFill/>
            </a:ln>
          </p:spPr>
          <p:txBody>
            <a:bodyPr anchorCtr="0" anchor="ctr" bIns="50800" lIns="50800" spcFirstLastPara="1" rIns="50800" wrap="square" tIns="50800">
              <a:no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Arial"/>
                  <a:ea typeface="Arial"/>
                  <a:cs typeface="Arial"/>
                  <a:sym typeface="Arial"/>
                </a:rPr>
                <a:t>ESCALABILIDAD</a:t>
              </a:r>
              <a:endParaRPr b="0" i="0" sz="1400" u="none" cap="none" strike="noStrike">
                <a:solidFill>
                  <a:srgbClr val="000000"/>
                </a:solidFill>
                <a:latin typeface="Arial"/>
                <a:ea typeface="Arial"/>
                <a:cs typeface="Arial"/>
                <a:sym typeface="Arial"/>
              </a:endParaRPr>
            </a:p>
            <a:p>
              <a:pPr indent="0" lvl="0" marL="0" marR="0" rtl="0" algn="ctr">
                <a:lnSpc>
                  <a:spcPct val="140016"/>
                </a:lnSpc>
                <a:spcBef>
                  <a:spcPts val="0"/>
                </a:spcBef>
                <a:spcAft>
                  <a:spcPts val="0"/>
                </a:spcAft>
                <a:buClr>
                  <a:srgbClr val="000000"/>
                </a:buClr>
                <a:buSzPts val="2499"/>
                <a:buFont typeface="Arial"/>
                <a:buNone/>
              </a:pPr>
              <a:r>
                <a:rPr b="0" i="0" lang="en-US" sz="2499" u="none" cap="none" strike="noStrike">
                  <a:solidFill>
                    <a:srgbClr val="FFFFFF"/>
                  </a:solidFill>
                  <a:latin typeface="Arial"/>
                  <a:ea typeface="Arial"/>
                  <a:cs typeface="Arial"/>
                  <a:sym typeface="Arial"/>
                </a:rPr>
                <a:t>Facilita la ampliación de servicios y aplicaciones al poder replicar contenedores de manera rápida.</a:t>
              </a:r>
              <a:endParaRPr b="0" i="0" sz="1400" u="none" cap="none" strike="noStrike">
                <a:solidFill>
                  <a:srgbClr val="000000"/>
                </a:solidFill>
                <a:latin typeface="Arial"/>
                <a:ea typeface="Arial"/>
                <a:cs typeface="Arial"/>
                <a:sym typeface="Arial"/>
              </a:endParaRPr>
            </a:p>
            <a:p>
              <a:pPr indent="0" lvl="0" marL="0" marR="0" rtl="0" algn="ctr">
                <a:lnSpc>
                  <a:spcPct val="140016"/>
                </a:lnSpc>
                <a:spcBef>
                  <a:spcPts val="0"/>
                </a:spcBef>
                <a:spcAft>
                  <a:spcPts val="0"/>
                </a:spcAft>
                <a:buClr>
                  <a:srgbClr val="000000"/>
                </a:buClr>
                <a:buSzPts val="2499"/>
                <a:buFont typeface="Arial"/>
                <a:buNone/>
              </a:pPr>
              <a:r>
                <a:t/>
              </a:r>
              <a:endParaRPr b="0" i="0" sz="2499" u="none" cap="none" strike="noStrike">
                <a:solidFill>
                  <a:srgbClr val="FFFFFF"/>
                </a:solidFill>
                <a:latin typeface="Arial"/>
                <a:ea typeface="Arial"/>
                <a:cs typeface="Arial"/>
                <a:sym typeface="Arial"/>
              </a:endParaRPr>
            </a:p>
          </p:txBody>
        </p:sp>
      </p:grpSp>
      <p:grpSp>
        <p:nvGrpSpPr>
          <p:cNvPr id="322" name="Google Shape;322;p13"/>
          <p:cNvGrpSpPr/>
          <p:nvPr/>
        </p:nvGrpSpPr>
        <p:grpSpPr>
          <a:xfrm>
            <a:off x="911515" y="3987983"/>
            <a:ext cx="7949910" cy="2769431"/>
            <a:chOff x="0" y="-47625"/>
            <a:chExt cx="2093803" cy="729397"/>
          </a:xfrm>
        </p:grpSpPr>
        <p:sp>
          <p:nvSpPr>
            <p:cNvPr id="323" name="Google Shape;323;p13"/>
            <p:cNvSpPr/>
            <p:nvPr/>
          </p:nvSpPr>
          <p:spPr>
            <a:xfrm>
              <a:off x="0" y="0"/>
              <a:ext cx="2093803" cy="681772"/>
            </a:xfrm>
            <a:custGeom>
              <a:rect b="b" l="l" r="r" t="t"/>
              <a:pathLst>
                <a:path extrusionOk="0" h="681772" w="2093803">
                  <a:moveTo>
                    <a:pt x="49666" y="0"/>
                  </a:moveTo>
                  <a:lnTo>
                    <a:pt x="2044138" y="0"/>
                  </a:lnTo>
                  <a:cubicBezTo>
                    <a:pt x="2057310" y="0"/>
                    <a:pt x="2069942" y="5233"/>
                    <a:pt x="2079257" y="14547"/>
                  </a:cubicBezTo>
                  <a:cubicBezTo>
                    <a:pt x="2088571" y="23861"/>
                    <a:pt x="2093803" y="36494"/>
                    <a:pt x="2093803" y="49666"/>
                  </a:cubicBezTo>
                  <a:lnTo>
                    <a:pt x="2093803" y="632107"/>
                  </a:lnTo>
                  <a:cubicBezTo>
                    <a:pt x="2093803" y="645279"/>
                    <a:pt x="2088571" y="657912"/>
                    <a:pt x="2079257" y="667226"/>
                  </a:cubicBezTo>
                  <a:cubicBezTo>
                    <a:pt x="2069942" y="676540"/>
                    <a:pt x="2057310" y="681772"/>
                    <a:pt x="2044138" y="681772"/>
                  </a:cubicBezTo>
                  <a:lnTo>
                    <a:pt x="49666" y="681772"/>
                  </a:lnTo>
                  <a:cubicBezTo>
                    <a:pt x="22236" y="681772"/>
                    <a:pt x="0" y="659536"/>
                    <a:pt x="0" y="632107"/>
                  </a:cubicBezTo>
                  <a:lnTo>
                    <a:pt x="0" y="49666"/>
                  </a:lnTo>
                  <a:cubicBezTo>
                    <a:pt x="0" y="36494"/>
                    <a:pt x="5233" y="23861"/>
                    <a:pt x="14547" y="14547"/>
                  </a:cubicBezTo>
                  <a:cubicBezTo>
                    <a:pt x="23861" y="5233"/>
                    <a:pt x="36494" y="0"/>
                    <a:pt x="49666" y="0"/>
                  </a:cubicBezTo>
                  <a:close/>
                </a:path>
              </a:pathLst>
            </a:custGeom>
            <a:solidFill>
              <a:srgbClr val="2930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13"/>
            <p:cNvSpPr txBox="1"/>
            <p:nvPr/>
          </p:nvSpPr>
          <p:spPr>
            <a:xfrm>
              <a:off x="0" y="-47625"/>
              <a:ext cx="2093803" cy="729397"/>
            </a:xfrm>
            <a:prstGeom prst="rect">
              <a:avLst/>
            </a:prstGeom>
            <a:noFill/>
            <a:ln>
              <a:noFill/>
            </a:ln>
          </p:spPr>
          <p:txBody>
            <a:bodyPr anchorCtr="0" anchor="ctr" bIns="50800" lIns="50800" spcFirstLastPara="1" rIns="50800" wrap="square" tIns="50800">
              <a:no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Arial"/>
                  <a:ea typeface="Arial"/>
                  <a:cs typeface="Arial"/>
                  <a:sym typeface="Arial"/>
                </a:rPr>
                <a:t>EFICIENCIA DE RECURSOS</a:t>
              </a:r>
              <a:endParaRPr b="0" i="0" sz="1400" u="none" cap="none" strike="noStrike">
                <a:solidFill>
                  <a:srgbClr val="000000"/>
                </a:solidFill>
                <a:latin typeface="Arial"/>
                <a:ea typeface="Arial"/>
                <a:cs typeface="Arial"/>
                <a:sym typeface="Arial"/>
              </a:endParaRPr>
            </a:p>
            <a:p>
              <a:pPr indent="0" lvl="0" marL="0" marR="0" rtl="0" algn="ctr">
                <a:lnSpc>
                  <a:spcPct val="140016"/>
                </a:lnSpc>
                <a:spcBef>
                  <a:spcPts val="0"/>
                </a:spcBef>
                <a:spcAft>
                  <a:spcPts val="0"/>
                </a:spcAft>
                <a:buClr>
                  <a:srgbClr val="000000"/>
                </a:buClr>
                <a:buSzPts val="2499"/>
                <a:buFont typeface="Arial"/>
                <a:buNone/>
              </a:pPr>
              <a:r>
                <a:rPr b="0" i="0" lang="en-US" sz="2499" u="none" cap="none" strike="noStrike">
                  <a:solidFill>
                    <a:srgbClr val="FFFFFF"/>
                  </a:solidFill>
                  <a:latin typeface="Arial"/>
                  <a:ea typeface="Arial"/>
                  <a:cs typeface="Arial"/>
                  <a:sym typeface="Arial"/>
                </a:rPr>
                <a:t>Los contenedores comparten el sistema operativo, lo que reduce el consumo de recursos y permite mayor densidad de aplicaciones en un mismo servidor.</a:t>
              </a:r>
              <a:endParaRPr b="0" i="0" sz="1400" u="none" cap="none" strike="noStrike">
                <a:solidFill>
                  <a:srgbClr val="000000"/>
                </a:solidFill>
                <a:latin typeface="Arial"/>
                <a:ea typeface="Arial"/>
                <a:cs typeface="Arial"/>
                <a:sym typeface="Arial"/>
              </a:endParaRPr>
            </a:p>
            <a:p>
              <a:pPr indent="0" lvl="0" marL="0" marR="0" rtl="0" algn="ctr">
                <a:lnSpc>
                  <a:spcPct val="140016"/>
                </a:lnSpc>
                <a:spcBef>
                  <a:spcPts val="0"/>
                </a:spcBef>
                <a:spcAft>
                  <a:spcPts val="0"/>
                </a:spcAft>
                <a:buClr>
                  <a:srgbClr val="000000"/>
                </a:buClr>
                <a:buSzPts val="2499"/>
                <a:buFont typeface="Arial"/>
                <a:buNone/>
              </a:pPr>
              <a:r>
                <a:t/>
              </a:r>
              <a:endParaRPr b="0" i="0" sz="2499" u="none" cap="none" strike="noStrike">
                <a:solidFill>
                  <a:srgbClr val="FFFFFF"/>
                </a:solidFill>
                <a:latin typeface="Arial"/>
                <a:ea typeface="Arial"/>
                <a:cs typeface="Arial"/>
                <a:sym typeface="Arial"/>
              </a:endParaRPr>
            </a:p>
          </p:txBody>
        </p:sp>
      </p:grpSp>
      <p:grpSp>
        <p:nvGrpSpPr>
          <p:cNvPr id="325" name="Google Shape;325;p13"/>
          <p:cNvGrpSpPr/>
          <p:nvPr/>
        </p:nvGrpSpPr>
        <p:grpSpPr>
          <a:xfrm>
            <a:off x="9426575" y="3987983"/>
            <a:ext cx="7949910" cy="2769431"/>
            <a:chOff x="0" y="-47625"/>
            <a:chExt cx="2093803" cy="729397"/>
          </a:xfrm>
        </p:grpSpPr>
        <p:sp>
          <p:nvSpPr>
            <p:cNvPr id="326" name="Google Shape;326;p13"/>
            <p:cNvSpPr/>
            <p:nvPr/>
          </p:nvSpPr>
          <p:spPr>
            <a:xfrm>
              <a:off x="0" y="0"/>
              <a:ext cx="2093803" cy="681772"/>
            </a:xfrm>
            <a:custGeom>
              <a:rect b="b" l="l" r="r" t="t"/>
              <a:pathLst>
                <a:path extrusionOk="0" h="681772" w="2093803">
                  <a:moveTo>
                    <a:pt x="49666" y="0"/>
                  </a:moveTo>
                  <a:lnTo>
                    <a:pt x="2044138" y="0"/>
                  </a:lnTo>
                  <a:cubicBezTo>
                    <a:pt x="2057310" y="0"/>
                    <a:pt x="2069942" y="5233"/>
                    <a:pt x="2079257" y="14547"/>
                  </a:cubicBezTo>
                  <a:cubicBezTo>
                    <a:pt x="2088571" y="23861"/>
                    <a:pt x="2093803" y="36494"/>
                    <a:pt x="2093803" y="49666"/>
                  </a:cubicBezTo>
                  <a:lnTo>
                    <a:pt x="2093803" y="632107"/>
                  </a:lnTo>
                  <a:cubicBezTo>
                    <a:pt x="2093803" y="645279"/>
                    <a:pt x="2088571" y="657912"/>
                    <a:pt x="2079257" y="667226"/>
                  </a:cubicBezTo>
                  <a:cubicBezTo>
                    <a:pt x="2069942" y="676540"/>
                    <a:pt x="2057310" y="681772"/>
                    <a:pt x="2044138" y="681772"/>
                  </a:cubicBezTo>
                  <a:lnTo>
                    <a:pt x="49666" y="681772"/>
                  </a:lnTo>
                  <a:cubicBezTo>
                    <a:pt x="22236" y="681772"/>
                    <a:pt x="0" y="659536"/>
                    <a:pt x="0" y="632107"/>
                  </a:cubicBezTo>
                  <a:lnTo>
                    <a:pt x="0" y="49666"/>
                  </a:lnTo>
                  <a:cubicBezTo>
                    <a:pt x="0" y="36494"/>
                    <a:pt x="5233" y="23861"/>
                    <a:pt x="14547" y="14547"/>
                  </a:cubicBezTo>
                  <a:cubicBezTo>
                    <a:pt x="23861" y="5233"/>
                    <a:pt x="36494" y="0"/>
                    <a:pt x="49666" y="0"/>
                  </a:cubicBezTo>
                  <a:close/>
                </a:path>
              </a:pathLst>
            </a:custGeom>
            <a:solidFill>
              <a:srgbClr val="1E63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13"/>
            <p:cNvSpPr txBox="1"/>
            <p:nvPr/>
          </p:nvSpPr>
          <p:spPr>
            <a:xfrm>
              <a:off x="0" y="-47625"/>
              <a:ext cx="2093803" cy="729397"/>
            </a:xfrm>
            <a:prstGeom prst="rect">
              <a:avLst/>
            </a:prstGeom>
            <a:noFill/>
            <a:ln>
              <a:noFill/>
            </a:ln>
          </p:spPr>
          <p:txBody>
            <a:bodyPr anchorCtr="0" anchor="ctr" bIns="50800" lIns="50800" spcFirstLastPara="1" rIns="50800" wrap="square" tIns="50800">
              <a:no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Arial"/>
                  <a:ea typeface="Arial"/>
                  <a:cs typeface="Arial"/>
                  <a:sym typeface="Arial"/>
                </a:rPr>
                <a:t>VELOCIDAD DE DESPLIEGUE</a:t>
              </a:r>
              <a:endParaRPr b="0" i="0" sz="1400" u="none" cap="none" strike="noStrike">
                <a:solidFill>
                  <a:srgbClr val="000000"/>
                </a:solidFill>
                <a:latin typeface="Arial"/>
                <a:ea typeface="Arial"/>
                <a:cs typeface="Arial"/>
                <a:sym typeface="Arial"/>
              </a:endParaRPr>
            </a:p>
            <a:p>
              <a:pPr indent="0" lvl="0" marL="0" marR="0" rtl="0" algn="ctr">
                <a:lnSpc>
                  <a:spcPct val="140016"/>
                </a:lnSpc>
                <a:spcBef>
                  <a:spcPts val="0"/>
                </a:spcBef>
                <a:spcAft>
                  <a:spcPts val="0"/>
                </a:spcAft>
                <a:buClr>
                  <a:srgbClr val="000000"/>
                </a:buClr>
                <a:buSzPts val="2499"/>
                <a:buFont typeface="Arial"/>
                <a:buNone/>
              </a:pPr>
              <a:r>
                <a:rPr b="0" i="0" lang="en-US" sz="2499" u="none" cap="none" strike="noStrike">
                  <a:solidFill>
                    <a:srgbClr val="FFFFFF"/>
                  </a:solidFill>
                  <a:latin typeface="Arial"/>
                  <a:ea typeface="Arial"/>
                  <a:cs typeface="Arial"/>
                  <a:sym typeface="Arial"/>
                </a:rPr>
                <a:t>Los contenedores se inician rápidamente en comparación con las máquinas virtuales.</a:t>
              </a:r>
              <a:endParaRPr b="0" i="0" sz="1400" u="none" cap="none" strike="noStrike">
                <a:solidFill>
                  <a:srgbClr val="000000"/>
                </a:solidFill>
                <a:latin typeface="Arial"/>
                <a:ea typeface="Arial"/>
                <a:cs typeface="Arial"/>
                <a:sym typeface="Arial"/>
              </a:endParaRPr>
            </a:p>
            <a:p>
              <a:pPr indent="0" lvl="0" marL="0" marR="0" rtl="0" algn="ctr">
                <a:lnSpc>
                  <a:spcPct val="140016"/>
                </a:lnSpc>
                <a:spcBef>
                  <a:spcPts val="0"/>
                </a:spcBef>
                <a:spcAft>
                  <a:spcPts val="0"/>
                </a:spcAft>
                <a:buClr>
                  <a:srgbClr val="000000"/>
                </a:buClr>
                <a:buSzPts val="2499"/>
                <a:buFont typeface="Arial"/>
                <a:buNone/>
              </a:pPr>
              <a:r>
                <a:t/>
              </a:r>
              <a:endParaRPr b="0" i="0" sz="2499" u="none" cap="none" strike="noStrike">
                <a:solidFill>
                  <a:srgbClr val="FFFFFF"/>
                </a:solidFill>
                <a:latin typeface="Arial"/>
                <a:ea typeface="Arial"/>
                <a:cs typeface="Arial"/>
                <a:sym typeface="Arial"/>
              </a:endParaRPr>
            </a:p>
          </p:txBody>
        </p:sp>
      </p:grpSp>
      <p:grpSp>
        <p:nvGrpSpPr>
          <p:cNvPr id="328" name="Google Shape;328;p13"/>
          <p:cNvGrpSpPr/>
          <p:nvPr/>
        </p:nvGrpSpPr>
        <p:grpSpPr>
          <a:xfrm>
            <a:off x="4362450" y="7138562"/>
            <a:ext cx="9563100" cy="2515431"/>
            <a:chOff x="0" y="-47625"/>
            <a:chExt cx="2518677" cy="662500"/>
          </a:xfrm>
        </p:grpSpPr>
        <p:sp>
          <p:nvSpPr>
            <p:cNvPr id="329" name="Google Shape;329;p13"/>
            <p:cNvSpPr/>
            <p:nvPr/>
          </p:nvSpPr>
          <p:spPr>
            <a:xfrm>
              <a:off x="0" y="0"/>
              <a:ext cx="2518676" cy="614875"/>
            </a:xfrm>
            <a:custGeom>
              <a:rect b="b" l="l" r="r" t="t"/>
              <a:pathLst>
                <a:path extrusionOk="0" h="614875" w="2518676">
                  <a:moveTo>
                    <a:pt x="41288" y="0"/>
                  </a:moveTo>
                  <a:lnTo>
                    <a:pt x="2477389" y="0"/>
                  </a:lnTo>
                  <a:cubicBezTo>
                    <a:pt x="2500191" y="0"/>
                    <a:pt x="2518676" y="18485"/>
                    <a:pt x="2518676" y="41288"/>
                  </a:cubicBezTo>
                  <a:lnTo>
                    <a:pt x="2518676" y="573588"/>
                  </a:lnTo>
                  <a:cubicBezTo>
                    <a:pt x="2518676" y="596390"/>
                    <a:pt x="2500191" y="614875"/>
                    <a:pt x="2477389" y="614875"/>
                  </a:cubicBezTo>
                  <a:lnTo>
                    <a:pt x="41288" y="614875"/>
                  </a:lnTo>
                  <a:cubicBezTo>
                    <a:pt x="18485" y="614875"/>
                    <a:pt x="0" y="596390"/>
                    <a:pt x="0" y="573588"/>
                  </a:cubicBezTo>
                  <a:lnTo>
                    <a:pt x="0" y="41288"/>
                  </a:lnTo>
                  <a:cubicBezTo>
                    <a:pt x="0" y="18485"/>
                    <a:pt x="18485" y="0"/>
                    <a:pt x="41288" y="0"/>
                  </a:cubicBezTo>
                  <a:close/>
                </a:path>
              </a:pathLst>
            </a:custGeom>
            <a:solidFill>
              <a:srgbClr val="2930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13"/>
            <p:cNvSpPr txBox="1"/>
            <p:nvPr/>
          </p:nvSpPr>
          <p:spPr>
            <a:xfrm>
              <a:off x="0" y="-47625"/>
              <a:ext cx="2518677" cy="662500"/>
            </a:xfrm>
            <a:prstGeom prst="rect">
              <a:avLst/>
            </a:prstGeom>
            <a:noFill/>
            <a:ln>
              <a:noFill/>
            </a:ln>
          </p:spPr>
          <p:txBody>
            <a:bodyPr anchorCtr="0" anchor="ctr" bIns="50800" lIns="50800" spcFirstLastPara="1" rIns="50800" wrap="square" tIns="50800">
              <a:no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Arial"/>
                  <a:ea typeface="Arial"/>
                  <a:cs typeface="Arial"/>
                  <a:sym typeface="Arial"/>
                </a:rPr>
                <a:t>DESARROLLO ÁGIL</a:t>
              </a:r>
              <a:endParaRPr b="0" i="0" sz="1400" u="none" cap="none" strike="noStrike">
                <a:solidFill>
                  <a:srgbClr val="000000"/>
                </a:solidFill>
                <a:latin typeface="Arial"/>
                <a:ea typeface="Arial"/>
                <a:cs typeface="Arial"/>
                <a:sym typeface="Arial"/>
              </a:endParaRPr>
            </a:p>
            <a:p>
              <a:pPr indent="0" lvl="0" marL="0" marR="0" rtl="0" algn="ctr">
                <a:lnSpc>
                  <a:spcPct val="140016"/>
                </a:lnSpc>
                <a:spcBef>
                  <a:spcPts val="0"/>
                </a:spcBef>
                <a:spcAft>
                  <a:spcPts val="0"/>
                </a:spcAft>
                <a:buClr>
                  <a:srgbClr val="000000"/>
                </a:buClr>
                <a:buSzPts val="2499"/>
                <a:buFont typeface="Arial"/>
                <a:buNone/>
              </a:pPr>
              <a:r>
                <a:rPr b="0" i="0" lang="en-US" sz="2499" u="none" cap="none" strike="noStrike">
                  <a:solidFill>
                    <a:srgbClr val="FFFFFF"/>
                  </a:solidFill>
                  <a:latin typeface="Arial"/>
                  <a:ea typeface="Arial"/>
                  <a:cs typeface="Arial"/>
                  <a:sym typeface="Arial"/>
                </a:rPr>
                <a:t>Docker permite a los equipos de desarrollo trabajar en entornos consistentes y paralelos, lo cual acelera el ciclo de vida de desarrollo y despliegue de aplicaciones.</a:t>
              </a:r>
              <a:endParaRPr b="0" i="0" sz="1400" u="none" cap="none" strike="noStrike">
                <a:solidFill>
                  <a:srgbClr val="000000"/>
                </a:solidFill>
                <a:latin typeface="Arial"/>
                <a:ea typeface="Arial"/>
                <a:cs typeface="Arial"/>
                <a:sym typeface="Arial"/>
              </a:endParaRPr>
            </a:p>
            <a:p>
              <a:pPr indent="0" lvl="0" marL="0" marR="0" rtl="0" algn="ctr">
                <a:lnSpc>
                  <a:spcPct val="140016"/>
                </a:lnSpc>
                <a:spcBef>
                  <a:spcPts val="0"/>
                </a:spcBef>
                <a:spcAft>
                  <a:spcPts val="0"/>
                </a:spcAft>
                <a:buClr>
                  <a:srgbClr val="000000"/>
                </a:buClr>
                <a:buSzPts val="2499"/>
                <a:buFont typeface="Arial"/>
                <a:buNone/>
              </a:pPr>
              <a:r>
                <a:t/>
              </a:r>
              <a:endParaRPr b="0" i="0" sz="2499" u="none" cap="none" strike="noStrike">
                <a:solidFill>
                  <a:srgbClr val="FFFFFF"/>
                </a:solidFill>
                <a:latin typeface="Arial"/>
                <a:ea typeface="Arial"/>
                <a:cs typeface="Arial"/>
                <a:sym typeface="Arial"/>
              </a:endParaRPr>
            </a:p>
          </p:txBody>
        </p:sp>
      </p:grpSp>
      <p:grpSp>
        <p:nvGrpSpPr>
          <p:cNvPr id="331" name="Google Shape;331;p13"/>
          <p:cNvGrpSpPr/>
          <p:nvPr/>
        </p:nvGrpSpPr>
        <p:grpSpPr>
          <a:xfrm>
            <a:off x="0" y="-1100171"/>
            <a:ext cx="566738" cy="2834568"/>
            <a:chOff x="0" y="-38100"/>
            <a:chExt cx="149264" cy="746553"/>
          </a:xfrm>
        </p:grpSpPr>
        <p:sp>
          <p:nvSpPr>
            <p:cNvPr id="332" name="Google Shape;332;p13"/>
            <p:cNvSpPr/>
            <p:nvPr/>
          </p:nvSpPr>
          <p:spPr>
            <a:xfrm>
              <a:off x="0" y="0"/>
              <a:ext cx="149264" cy="708453"/>
            </a:xfrm>
            <a:custGeom>
              <a:rect b="b" l="l" r="r" t="t"/>
              <a:pathLst>
                <a:path extrusionOk="0" h="708453" w="149264">
                  <a:moveTo>
                    <a:pt x="0" y="0"/>
                  </a:moveTo>
                  <a:lnTo>
                    <a:pt x="149264" y="0"/>
                  </a:lnTo>
                  <a:lnTo>
                    <a:pt x="149264" y="708453"/>
                  </a:lnTo>
                  <a:lnTo>
                    <a:pt x="0" y="708453"/>
                  </a:lnTo>
                  <a:close/>
                </a:path>
              </a:pathLst>
            </a:custGeom>
            <a:solidFill>
              <a:srgbClr val="1E63ED"/>
            </a:solidFill>
            <a:ln>
              <a:noFill/>
            </a:ln>
          </p:spPr>
        </p:sp>
        <p:sp>
          <p:nvSpPr>
            <p:cNvPr id="333" name="Google Shape;333;p13"/>
            <p:cNvSpPr txBox="1"/>
            <p:nvPr/>
          </p:nvSpPr>
          <p:spPr>
            <a:xfrm>
              <a:off x="0" y="-38100"/>
              <a:ext cx="149264" cy="74655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34" name="Google Shape;334;p13"/>
          <p:cNvGrpSpPr/>
          <p:nvPr/>
        </p:nvGrpSpPr>
        <p:grpSpPr>
          <a:xfrm>
            <a:off x="0" y="-144661"/>
            <a:ext cx="1133475" cy="1463129"/>
            <a:chOff x="0" y="-38100"/>
            <a:chExt cx="298528" cy="385351"/>
          </a:xfrm>
        </p:grpSpPr>
        <p:sp>
          <p:nvSpPr>
            <p:cNvPr id="335" name="Google Shape;335;p13"/>
            <p:cNvSpPr/>
            <p:nvPr/>
          </p:nvSpPr>
          <p:spPr>
            <a:xfrm>
              <a:off x="0" y="0"/>
              <a:ext cx="298528" cy="347251"/>
            </a:xfrm>
            <a:custGeom>
              <a:rect b="b" l="l" r="r" t="t"/>
              <a:pathLst>
                <a:path extrusionOk="0" h="347251" w="298528">
                  <a:moveTo>
                    <a:pt x="0" y="0"/>
                  </a:moveTo>
                  <a:lnTo>
                    <a:pt x="298528" y="0"/>
                  </a:lnTo>
                  <a:lnTo>
                    <a:pt x="298528" y="347251"/>
                  </a:lnTo>
                  <a:lnTo>
                    <a:pt x="0" y="347251"/>
                  </a:lnTo>
                  <a:close/>
                </a:path>
              </a:pathLst>
            </a:custGeom>
            <a:solidFill>
              <a:srgbClr val="29303C"/>
            </a:solidFill>
            <a:ln>
              <a:noFill/>
            </a:ln>
          </p:spPr>
        </p:sp>
        <p:sp>
          <p:nvSpPr>
            <p:cNvPr id="336" name="Google Shape;336;p13"/>
            <p:cNvSpPr txBox="1"/>
            <p:nvPr/>
          </p:nvSpPr>
          <p:spPr>
            <a:xfrm>
              <a:off x="0" y="-38100"/>
              <a:ext cx="298528" cy="3853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37" name="Google Shape;337;p13"/>
          <p:cNvGrpSpPr/>
          <p:nvPr/>
        </p:nvGrpSpPr>
        <p:grpSpPr>
          <a:xfrm>
            <a:off x="16776087" y="8921922"/>
            <a:ext cx="2344551" cy="2157882"/>
            <a:chOff x="0" y="-38100"/>
            <a:chExt cx="617495" cy="568331"/>
          </a:xfrm>
        </p:grpSpPr>
        <p:sp>
          <p:nvSpPr>
            <p:cNvPr id="338" name="Google Shape;338;p13"/>
            <p:cNvSpPr/>
            <p:nvPr/>
          </p:nvSpPr>
          <p:spPr>
            <a:xfrm>
              <a:off x="0" y="0"/>
              <a:ext cx="617495" cy="530231"/>
            </a:xfrm>
            <a:custGeom>
              <a:rect b="b" l="l" r="r" t="t"/>
              <a:pathLst>
                <a:path extrusionOk="0" h="530231" w="617495">
                  <a:moveTo>
                    <a:pt x="0" y="0"/>
                  </a:moveTo>
                  <a:lnTo>
                    <a:pt x="617495" y="0"/>
                  </a:lnTo>
                  <a:lnTo>
                    <a:pt x="617495" y="530231"/>
                  </a:lnTo>
                  <a:lnTo>
                    <a:pt x="0" y="530231"/>
                  </a:lnTo>
                  <a:close/>
                </a:path>
              </a:pathLst>
            </a:custGeom>
            <a:solidFill>
              <a:srgbClr val="29303C"/>
            </a:solidFill>
            <a:ln>
              <a:noFill/>
            </a:ln>
          </p:spPr>
        </p:sp>
        <p:sp>
          <p:nvSpPr>
            <p:cNvPr id="339" name="Google Shape;339;p13"/>
            <p:cNvSpPr txBox="1"/>
            <p:nvPr/>
          </p:nvSpPr>
          <p:spPr>
            <a:xfrm>
              <a:off x="0" y="-38100"/>
              <a:ext cx="617495" cy="56833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0" name="Google Shape;340;p13"/>
          <p:cNvGrpSpPr/>
          <p:nvPr/>
        </p:nvGrpSpPr>
        <p:grpSpPr>
          <a:xfrm>
            <a:off x="17577588" y="6952876"/>
            <a:ext cx="3086100" cy="3120318"/>
            <a:chOff x="0" y="-38100"/>
            <a:chExt cx="812800" cy="821812"/>
          </a:xfrm>
        </p:grpSpPr>
        <p:sp>
          <p:nvSpPr>
            <p:cNvPr id="341" name="Google Shape;341;p13"/>
            <p:cNvSpPr/>
            <p:nvPr/>
          </p:nvSpPr>
          <p:spPr>
            <a:xfrm>
              <a:off x="0" y="0"/>
              <a:ext cx="812800" cy="783712"/>
            </a:xfrm>
            <a:custGeom>
              <a:rect b="b" l="l" r="r" t="t"/>
              <a:pathLst>
                <a:path extrusionOk="0" h="783712" w="812800">
                  <a:moveTo>
                    <a:pt x="0" y="0"/>
                  </a:moveTo>
                  <a:lnTo>
                    <a:pt x="812800" y="0"/>
                  </a:lnTo>
                  <a:lnTo>
                    <a:pt x="812800" y="783712"/>
                  </a:lnTo>
                  <a:lnTo>
                    <a:pt x="0" y="783712"/>
                  </a:lnTo>
                  <a:close/>
                </a:path>
              </a:pathLst>
            </a:custGeom>
            <a:solidFill>
              <a:srgbClr val="1E63ED"/>
            </a:solidFill>
            <a:ln>
              <a:noFill/>
            </a:ln>
          </p:spPr>
        </p:sp>
        <p:sp>
          <p:nvSpPr>
            <p:cNvPr id="342" name="Google Shape;342;p13"/>
            <p:cNvSpPr txBox="1"/>
            <p:nvPr/>
          </p:nvSpPr>
          <p:spPr>
            <a:xfrm>
              <a:off x="0" y="-38100"/>
              <a:ext cx="812800" cy="8218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14"/>
          <p:cNvSpPr/>
          <p:nvPr/>
        </p:nvSpPr>
        <p:spPr>
          <a:xfrm flipH="1" rot="5679621">
            <a:off x="7710161" y="1015520"/>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3">
              <a:alphaModFix/>
            </a:blip>
            <a:stretch>
              <a:fillRect b="0" l="0" r="0" t="0"/>
            </a:stretch>
          </a:blipFill>
          <a:ln>
            <a:noFill/>
          </a:ln>
        </p:spPr>
      </p:sp>
      <p:sp>
        <p:nvSpPr>
          <p:cNvPr id="348" name="Google Shape;348;p14"/>
          <p:cNvSpPr/>
          <p:nvPr/>
        </p:nvSpPr>
        <p:spPr>
          <a:xfrm flipH="1" rot="5679621">
            <a:off x="7894116" y="1193759"/>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4">
              <a:alphaModFix/>
            </a:blip>
            <a:stretch>
              <a:fillRect b="0" l="0" r="0" t="0"/>
            </a:stretch>
          </a:blipFill>
          <a:ln>
            <a:noFill/>
          </a:ln>
        </p:spPr>
      </p:sp>
      <p:sp>
        <p:nvSpPr>
          <p:cNvPr id="349" name="Google Shape;349;p14"/>
          <p:cNvSpPr/>
          <p:nvPr/>
        </p:nvSpPr>
        <p:spPr>
          <a:xfrm>
            <a:off x="6927386" y="4732188"/>
            <a:ext cx="4433229" cy="4427687"/>
          </a:xfrm>
          <a:custGeom>
            <a:rect b="b" l="l" r="r" t="t"/>
            <a:pathLst>
              <a:path extrusionOk="0" h="4427687" w="4433229">
                <a:moveTo>
                  <a:pt x="0" y="0"/>
                </a:moveTo>
                <a:lnTo>
                  <a:pt x="4433228" y="0"/>
                </a:lnTo>
                <a:lnTo>
                  <a:pt x="4433228" y="4427687"/>
                </a:lnTo>
                <a:lnTo>
                  <a:pt x="0" y="4427687"/>
                </a:lnTo>
                <a:lnTo>
                  <a:pt x="0" y="0"/>
                </a:lnTo>
                <a:close/>
              </a:path>
            </a:pathLst>
          </a:custGeom>
          <a:blipFill rotWithShape="1">
            <a:blip r:embed="rId5">
              <a:alphaModFix/>
            </a:blip>
            <a:stretch>
              <a:fillRect b="0" l="0" r="0" t="0"/>
            </a:stretch>
          </a:blipFill>
          <a:ln>
            <a:noFill/>
          </a:ln>
        </p:spPr>
      </p:sp>
      <p:sp>
        <p:nvSpPr>
          <p:cNvPr id="350" name="Google Shape;350;p14"/>
          <p:cNvSpPr txBox="1"/>
          <p:nvPr/>
        </p:nvSpPr>
        <p:spPr>
          <a:xfrm>
            <a:off x="2419533" y="439737"/>
            <a:ext cx="13719953" cy="1120775"/>
          </a:xfrm>
          <a:prstGeom prst="rect">
            <a:avLst/>
          </a:prstGeom>
          <a:noFill/>
          <a:ln>
            <a:noFill/>
          </a:ln>
        </p:spPr>
        <p:txBody>
          <a:bodyPr anchorCtr="0" anchor="t" bIns="0" lIns="0" spcFirstLastPara="1" rIns="0" wrap="square" tIns="0">
            <a:spAutoFit/>
          </a:bodyPr>
          <a:lstStyle/>
          <a:p>
            <a:pPr indent="0" lvl="0" marL="0" marR="0" rtl="0" algn="ctr">
              <a:lnSpc>
                <a:spcPct val="130004"/>
              </a:lnSpc>
              <a:spcBef>
                <a:spcPts val="0"/>
              </a:spcBef>
              <a:spcAft>
                <a:spcPts val="0"/>
              </a:spcAft>
              <a:buClr>
                <a:srgbClr val="000000"/>
              </a:buClr>
              <a:buSzPts val="6999"/>
              <a:buFont typeface="Arial"/>
              <a:buNone/>
            </a:pPr>
            <a:r>
              <a:rPr b="1" i="0" lang="en-US" sz="6999" u="none" cap="none" strike="noStrike">
                <a:solidFill>
                  <a:srgbClr val="29303C"/>
                </a:solidFill>
                <a:latin typeface="Arial"/>
                <a:ea typeface="Arial"/>
                <a:cs typeface="Arial"/>
                <a:sym typeface="Arial"/>
              </a:rPr>
              <a:t>DOCKER COMPOSE</a:t>
            </a:r>
            <a:endParaRPr b="0" i="0" sz="1400" u="none" cap="none" strike="noStrike">
              <a:solidFill>
                <a:srgbClr val="000000"/>
              </a:solidFill>
              <a:latin typeface="Arial"/>
              <a:ea typeface="Arial"/>
              <a:cs typeface="Arial"/>
              <a:sym typeface="Arial"/>
            </a:endParaRPr>
          </a:p>
        </p:txBody>
      </p:sp>
      <p:sp>
        <p:nvSpPr>
          <p:cNvPr id="351" name="Google Shape;351;p14"/>
          <p:cNvSpPr txBox="1"/>
          <p:nvPr/>
        </p:nvSpPr>
        <p:spPr>
          <a:xfrm>
            <a:off x="1164210" y="1531938"/>
            <a:ext cx="16230600" cy="29622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29303C"/>
                </a:solidFill>
                <a:latin typeface="Arial"/>
                <a:ea typeface="Arial"/>
                <a:cs typeface="Arial"/>
                <a:sym typeface="Arial"/>
              </a:rPr>
              <a:t>Docker compose </a:t>
            </a:r>
            <a:r>
              <a:rPr b="1" i="0" lang="en-US" sz="3000" u="none" cap="none" strike="noStrike">
                <a:solidFill>
                  <a:srgbClr val="29303C"/>
                </a:solidFill>
                <a:latin typeface="Arial"/>
                <a:ea typeface="Arial"/>
                <a:cs typeface="Arial"/>
                <a:sym typeface="Arial"/>
              </a:rPr>
              <a:t>es una herramienta de Docker que permite definir y gestionar múltiples contenedores como una aplicación única.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t/>
            </a:r>
            <a:endParaRPr b="1" i="0" sz="3000" u="none" cap="none" strike="noStrike">
              <a:solidFill>
                <a:srgbClr val="29303C"/>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29303C"/>
                </a:solidFill>
                <a:latin typeface="Arial"/>
                <a:ea typeface="Arial"/>
                <a:cs typeface="Arial"/>
                <a:sym typeface="Arial"/>
              </a:rPr>
              <a:t>Utilizando un archivo YAML, </a:t>
            </a:r>
            <a:r>
              <a:rPr b="1" i="0" lang="en-US" sz="3000" u="none" cap="none" strike="noStrike">
                <a:solidFill>
                  <a:srgbClr val="29303C"/>
                </a:solidFill>
                <a:latin typeface="Arial"/>
                <a:ea typeface="Arial"/>
                <a:cs typeface="Arial"/>
                <a:sym typeface="Arial"/>
              </a:rPr>
              <a:t>Docker Compose facilita la configuración y conexión entre diferentes servicios de una aplicación</a:t>
            </a:r>
            <a:r>
              <a:rPr b="0" i="0" lang="en-US" sz="3000" u="none" cap="none" strike="noStrike">
                <a:solidFill>
                  <a:srgbClr val="29303C"/>
                </a:solidFill>
                <a:latin typeface="Arial"/>
                <a:ea typeface="Arial"/>
                <a:cs typeface="Arial"/>
                <a:sym typeface="Arial"/>
              </a:rPr>
              <a:t> </a:t>
            </a:r>
            <a:r>
              <a:rPr b="1" i="0" lang="en-US" sz="3000" u="none" cap="none" strike="noStrike">
                <a:solidFill>
                  <a:srgbClr val="29303C"/>
                </a:solidFill>
                <a:latin typeface="Arial"/>
                <a:ea typeface="Arial"/>
                <a:cs typeface="Arial"/>
                <a:sym typeface="Arial"/>
              </a:rPr>
              <a:t>que requieren varios contenedores</a:t>
            </a:r>
            <a:r>
              <a:rPr b="0" i="0" lang="en-US" sz="3000" u="none" cap="none" strike="noStrike">
                <a:solidFill>
                  <a:srgbClr val="29303C"/>
                </a:solidFill>
                <a:latin typeface="Arial"/>
                <a:ea typeface="Arial"/>
                <a:cs typeface="Arial"/>
                <a:sym typeface="Arial"/>
              </a:rPr>
              <a:t> como bases de datos, APIs y front-ends, que deben ejecutarse en conjunto.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grpSp>
        <p:nvGrpSpPr>
          <p:cNvPr id="356" name="Google Shape;356;p15"/>
          <p:cNvGrpSpPr/>
          <p:nvPr/>
        </p:nvGrpSpPr>
        <p:grpSpPr>
          <a:xfrm>
            <a:off x="16487775" y="8897057"/>
            <a:ext cx="1800225" cy="1389943"/>
            <a:chOff x="0" y="-38100"/>
            <a:chExt cx="474133" cy="366075"/>
          </a:xfrm>
        </p:grpSpPr>
        <p:sp>
          <p:nvSpPr>
            <p:cNvPr id="357" name="Google Shape;357;p15"/>
            <p:cNvSpPr/>
            <p:nvPr/>
          </p:nvSpPr>
          <p:spPr>
            <a:xfrm>
              <a:off x="0" y="0"/>
              <a:ext cx="474133" cy="327975"/>
            </a:xfrm>
            <a:custGeom>
              <a:rect b="b" l="l" r="r" t="t"/>
              <a:pathLst>
                <a:path extrusionOk="0" h="327975" w="474133">
                  <a:moveTo>
                    <a:pt x="0" y="0"/>
                  </a:moveTo>
                  <a:lnTo>
                    <a:pt x="474133" y="0"/>
                  </a:lnTo>
                  <a:lnTo>
                    <a:pt x="474133" y="327975"/>
                  </a:lnTo>
                  <a:lnTo>
                    <a:pt x="0" y="327975"/>
                  </a:lnTo>
                  <a:close/>
                </a:path>
              </a:pathLst>
            </a:custGeom>
            <a:solidFill>
              <a:srgbClr val="1E63ED"/>
            </a:solidFill>
            <a:ln>
              <a:noFill/>
            </a:ln>
          </p:spPr>
        </p:sp>
        <p:sp>
          <p:nvSpPr>
            <p:cNvPr id="358" name="Google Shape;358;p15"/>
            <p:cNvSpPr txBox="1"/>
            <p:nvPr/>
          </p:nvSpPr>
          <p:spPr>
            <a:xfrm>
              <a:off x="0" y="-38100"/>
              <a:ext cx="474133" cy="36607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59" name="Google Shape;359;p15"/>
          <p:cNvGrpSpPr/>
          <p:nvPr/>
        </p:nvGrpSpPr>
        <p:grpSpPr>
          <a:xfrm>
            <a:off x="0" y="9113639"/>
            <a:ext cx="18288000" cy="1173361"/>
            <a:chOff x="0" y="-38100"/>
            <a:chExt cx="4816593" cy="309033"/>
          </a:xfrm>
        </p:grpSpPr>
        <p:sp>
          <p:nvSpPr>
            <p:cNvPr id="360" name="Google Shape;360;p15"/>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29303C"/>
            </a:solidFill>
            <a:ln>
              <a:noFill/>
            </a:ln>
          </p:spPr>
        </p:sp>
        <p:sp>
          <p:nvSpPr>
            <p:cNvPr id="361" name="Google Shape;361;p15"/>
            <p:cNvSpPr txBox="1"/>
            <p:nvPr/>
          </p:nvSpPr>
          <p:spPr>
            <a:xfrm>
              <a:off x="0" y="-38100"/>
              <a:ext cx="4816593" cy="3090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2" name="Google Shape;362;p15"/>
          <p:cNvSpPr/>
          <p:nvPr/>
        </p:nvSpPr>
        <p:spPr>
          <a:xfrm>
            <a:off x="1080252" y="2902951"/>
            <a:ext cx="16127497" cy="5281755"/>
          </a:xfrm>
          <a:custGeom>
            <a:rect b="b" l="l" r="r" t="t"/>
            <a:pathLst>
              <a:path extrusionOk="0" h="5281755" w="16127497">
                <a:moveTo>
                  <a:pt x="0" y="0"/>
                </a:moveTo>
                <a:lnTo>
                  <a:pt x="16127496" y="0"/>
                </a:lnTo>
                <a:lnTo>
                  <a:pt x="16127496" y="5281755"/>
                </a:lnTo>
                <a:lnTo>
                  <a:pt x="0" y="5281755"/>
                </a:lnTo>
                <a:lnTo>
                  <a:pt x="0" y="0"/>
                </a:lnTo>
                <a:close/>
              </a:path>
            </a:pathLst>
          </a:custGeom>
          <a:blipFill rotWithShape="1">
            <a:blip r:embed="rId3">
              <a:alphaModFix/>
            </a:blip>
            <a:stretch>
              <a:fillRect b="0" l="0" r="0" t="0"/>
            </a:stretch>
          </a:blipFill>
          <a:ln>
            <a:noFill/>
          </a:ln>
        </p:spPr>
      </p:sp>
      <p:sp>
        <p:nvSpPr>
          <p:cNvPr id="363" name="Google Shape;363;p15"/>
          <p:cNvSpPr txBox="1"/>
          <p:nvPr/>
        </p:nvSpPr>
        <p:spPr>
          <a:xfrm>
            <a:off x="2334521" y="599507"/>
            <a:ext cx="13395714" cy="197167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6000"/>
              <a:buFont typeface="Arial"/>
              <a:buNone/>
            </a:pPr>
            <a:r>
              <a:rPr b="1" i="0" lang="en-US" sz="6000" u="none" cap="none" strike="noStrike">
                <a:solidFill>
                  <a:srgbClr val="29303C"/>
                </a:solidFill>
                <a:latin typeface="Arial"/>
                <a:ea typeface="Arial"/>
                <a:cs typeface="Arial"/>
                <a:sym typeface="Arial"/>
              </a:rPr>
              <a:t>FUNCIONAMIENTO DE DOCKER COMPOSE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grpSp>
        <p:nvGrpSpPr>
          <p:cNvPr id="368" name="Google Shape;368;p16"/>
          <p:cNvGrpSpPr/>
          <p:nvPr/>
        </p:nvGrpSpPr>
        <p:grpSpPr>
          <a:xfrm>
            <a:off x="0" y="8897057"/>
            <a:ext cx="1800225" cy="1389943"/>
            <a:chOff x="0" y="-38100"/>
            <a:chExt cx="474133" cy="366075"/>
          </a:xfrm>
        </p:grpSpPr>
        <p:sp>
          <p:nvSpPr>
            <p:cNvPr id="369" name="Google Shape;369;p16"/>
            <p:cNvSpPr/>
            <p:nvPr/>
          </p:nvSpPr>
          <p:spPr>
            <a:xfrm>
              <a:off x="0" y="0"/>
              <a:ext cx="474133" cy="327975"/>
            </a:xfrm>
            <a:custGeom>
              <a:rect b="b" l="l" r="r" t="t"/>
              <a:pathLst>
                <a:path extrusionOk="0" h="327975" w="474133">
                  <a:moveTo>
                    <a:pt x="0" y="0"/>
                  </a:moveTo>
                  <a:lnTo>
                    <a:pt x="474133" y="0"/>
                  </a:lnTo>
                  <a:lnTo>
                    <a:pt x="474133" y="327975"/>
                  </a:lnTo>
                  <a:lnTo>
                    <a:pt x="0" y="327975"/>
                  </a:lnTo>
                  <a:close/>
                </a:path>
              </a:pathLst>
            </a:custGeom>
            <a:solidFill>
              <a:srgbClr val="1E63ED"/>
            </a:solidFill>
            <a:ln>
              <a:noFill/>
            </a:ln>
          </p:spPr>
        </p:sp>
        <p:sp>
          <p:nvSpPr>
            <p:cNvPr id="370" name="Google Shape;370;p16"/>
            <p:cNvSpPr txBox="1"/>
            <p:nvPr/>
          </p:nvSpPr>
          <p:spPr>
            <a:xfrm>
              <a:off x="0" y="-38100"/>
              <a:ext cx="474133" cy="36607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1" name="Google Shape;371;p16"/>
          <p:cNvGrpSpPr/>
          <p:nvPr/>
        </p:nvGrpSpPr>
        <p:grpSpPr>
          <a:xfrm>
            <a:off x="0" y="9113639"/>
            <a:ext cx="18288000" cy="1173361"/>
            <a:chOff x="0" y="-38100"/>
            <a:chExt cx="4816593" cy="309033"/>
          </a:xfrm>
        </p:grpSpPr>
        <p:sp>
          <p:nvSpPr>
            <p:cNvPr id="372" name="Google Shape;372;p16"/>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29303C"/>
            </a:solidFill>
            <a:ln>
              <a:noFill/>
            </a:ln>
          </p:spPr>
        </p:sp>
        <p:sp>
          <p:nvSpPr>
            <p:cNvPr id="373" name="Google Shape;373;p16"/>
            <p:cNvSpPr txBox="1"/>
            <p:nvPr/>
          </p:nvSpPr>
          <p:spPr>
            <a:xfrm>
              <a:off x="0" y="-38100"/>
              <a:ext cx="4816593" cy="3090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4" name="Google Shape;374;p16"/>
          <p:cNvSpPr/>
          <p:nvPr/>
        </p:nvSpPr>
        <p:spPr>
          <a:xfrm>
            <a:off x="10886649" y="1552271"/>
            <a:ext cx="6102680" cy="6356958"/>
          </a:xfrm>
          <a:custGeom>
            <a:rect b="b" l="l" r="r" t="t"/>
            <a:pathLst>
              <a:path extrusionOk="0" h="6356958" w="6102680">
                <a:moveTo>
                  <a:pt x="0" y="0"/>
                </a:moveTo>
                <a:lnTo>
                  <a:pt x="6102680" y="0"/>
                </a:lnTo>
                <a:lnTo>
                  <a:pt x="6102680" y="6356958"/>
                </a:lnTo>
                <a:lnTo>
                  <a:pt x="0" y="6356958"/>
                </a:lnTo>
                <a:lnTo>
                  <a:pt x="0" y="0"/>
                </a:lnTo>
                <a:close/>
              </a:path>
            </a:pathLst>
          </a:custGeom>
          <a:blipFill rotWithShape="1">
            <a:blip r:embed="rId3">
              <a:alphaModFix/>
            </a:blip>
            <a:stretch>
              <a:fillRect b="0" l="0" r="0" t="0"/>
            </a:stretch>
          </a:blipFill>
          <a:ln>
            <a:noFill/>
          </a:ln>
        </p:spPr>
      </p:sp>
      <p:sp>
        <p:nvSpPr>
          <p:cNvPr id="375" name="Google Shape;375;p16"/>
          <p:cNvSpPr txBox="1"/>
          <p:nvPr/>
        </p:nvSpPr>
        <p:spPr>
          <a:xfrm>
            <a:off x="523600" y="298450"/>
            <a:ext cx="17355600" cy="8775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5700"/>
              <a:buFont typeface="Arial"/>
              <a:buNone/>
            </a:pPr>
            <a:r>
              <a:rPr b="1" i="0" lang="en-US" sz="5700" u="none" cap="none" strike="noStrike">
                <a:solidFill>
                  <a:srgbClr val="29303C"/>
                </a:solidFill>
                <a:latin typeface="Arial"/>
                <a:ea typeface="Arial"/>
                <a:cs typeface="Arial"/>
                <a:sym typeface="Arial"/>
              </a:rPr>
              <a:t>¿CÓMO SE RELACIONA DOCKER CON CLOUD?</a:t>
            </a:r>
            <a:endParaRPr b="0" i="0" sz="1100" u="none" cap="none" strike="noStrike">
              <a:solidFill>
                <a:srgbClr val="000000"/>
              </a:solidFill>
              <a:latin typeface="Arial"/>
              <a:ea typeface="Arial"/>
              <a:cs typeface="Arial"/>
              <a:sym typeface="Arial"/>
            </a:endParaRPr>
          </a:p>
        </p:txBody>
      </p:sp>
      <p:sp>
        <p:nvSpPr>
          <p:cNvPr id="376" name="Google Shape;376;p16"/>
          <p:cNvSpPr txBox="1"/>
          <p:nvPr/>
        </p:nvSpPr>
        <p:spPr>
          <a:xfrm>
            <a:off x="900113" y="1643063"/>
            <a:ext cx="9197975" cy="6429375"/>
          </a:xfrm>
          <a:prstGeom prst="rect">
            <a:avLst/>
          </a:prstGeom>
          <a:noFill/>
          <a:ln>
            <a:noFill/>
          </a:ln>
        </p:spPr>
        <p:txBody>
          <a:bodyPr anchorCtr="0" anchor="t" bIns="0" lIns="0" spcFirstLastPara="1" rIns="0" wrap="square" tIns="0">
            <a:spAutoFit/>
          </a:bodyPr>
          <a:lstStyle/>
          <a:p>
            <a:pPr indent="-323850" lvl="1" marL="647700" marR="0" rtl="0" algn="l">
              <a:lnSpc>
                <a:spcPct val="130000"/>
              </a:lnSpc>
              <a:spcBef>
                <a:spcPts val="0"/>
              </a:spcBef>
              <a:spcAft>
                <a:spcPts val="0"/>
              </a:spcAft>
              <a:buClr>
                <a:srgbClr val="29303C"/>
              </a:buClr>
              <a:buSzPts val="3000"/>
              <a:buFont typeface="Arial"/>
              <a:buChar char="•"/>
            </a:pPr>
            <a:r>
              <a:rPr b="0" i="0" lang="en-US" sz="3000" u="none" cap="none" strike="noStrike">
                <a:solidFill>
                  <a:srgbClr val="29303C"/>
                </a:solidFill>
                <a:latin typeface="Arial"/>
                <a:ea typeface="Arial"/>
                <a:cs typeface="Arial"/>
                <a:sym typeface="Arial"/>
              </a:rPr>
              <a:t>Docker y la nube están estrechamente relacionados,</a:t>
            </a:r>
            <a:r>
              <a:rPr b="1" i="0" lang="en-US" sz="3000" u="none" cap="none" strike="noStrike">
                <a:solidFill>
                  <a:srgbClr val="29303C"/>
                </a:solidFill>
                <a:latin typeface="Arial"/>
                <a:ea typeface="Arial"/>
                <a:cs typeface="Arial"/>
                <a:sym typeface="Arial"/>
              </a:rPr>
              <a:t> siendo Docker una herramienta fundamental para la implementación de aplicaciones</a:t>
            </a:r>
            <a:r>
              <a:rPr b="0" i="0" lang="en-US" sz="3000" u="none" cap="none" strike="noStrike">
                <a:solidFill>
                  <a:srgbClr val="29303C"/>
                </a:solidFill>
                <a:latin typeface="Arial"/>
                <a:ea typeface="Arial"/>
                <a:cs typeface="Arial"/>
                <a:sym typeface="Arial"/>
              </a:rPr>
              <a:t> en la nube.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t/>
            </a:r>
            <a:endParaRPr b="0" i="0" sz="3000" u="none" cap="none" strike="noStrike">
              <a:solidFill>
                <a:srgbClr val="29303C"/>
              </a:solidFill>
              <a:latin typeface="Arial"/>
              <a:ea typeface="Arial"/>
              <a:cs typeface="Arial"/>
              <a:sym typeface="Arial"/>
            </a:endParaRPr>
          </a:p>
          <a:p>
            <a:pPr indent="-323850" lvl="1" marL="647700" marR="0" rtl="0" algn="l">
              <a:lnSpc>
                <a:spcPct val="130000"/>
              </a:lnSpc>
              <a:spcBef>
                <a:spcPts val="0"/>
              </a:spcBef>
              <a:spcAft>
                <a:spcPts val="0"/>
              </a:spcAft>
              <a:buClr>
                <a:srgbClr val="29303C"/>
              </a:buClr>
              <a:buSzPts val="3000"/>
              <a:buFont typeface="Arial"/>
              <a:buChar char="•"/>
            </a:pPr>
            <a:r>
              <a:rPr b="1" i="0" lang="en-US" sz="3000" u="none" cap="none" strike="noStrike">
                <a:solidFill>
                  <a:srgbClr val="29303C"/>
                </a:solidFill>
                <a:latin typeface="Arial"/>
                <a:ea typeface="Arial"/>
                <a:cs typeface="Arial"/>
                <a:sym typeface="Arial"/>
              </a:rPr>
              <a:t>Docker </a:t>
            </a:r>
            <a:r>
              <a:rPr b="0" i="0" lang="en-US" sz="3000" u="none" cap="none" strike="noStrike">
                <a:solidFill>
                  <a:srgbClr val="29303C"/>
                </a:solidFill>
                <a:latin typeface="Arial"/>
                <a:ea typeface="Arial"/>
                <a:cs typeface="Arial"/>
                <a:sym typeface="Arial"/>
              </a:rPr>
              <a:t>permite empacar aplicaciones en contenedores, lo que f</a:t>
            </a:r>
            <a:r>
              <a:rPr b="1" i="0" lang="en-US" sz="3000" u="none" cap="none" strike="noStrike">
                <a:solidFill>
                  <a:srgbClr val="29303C"/>
                </a:solidFill>
                <a:latin typeface="Arial"/>
                <a:ea typeface="Arial"/>
                <a:cs typeface="Arial"/>
                <a:sym typeface="Arial"/>
              </a:rPr>
              <a:t>acilita su despliegue y ejecución en entornos de nube.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t/>
            </a:r>
            <a:endParaRPr b="1" i="0" sz="3000" u="none" cap="none" strike="noStrike">
              <a:solidFill>
                <a:srgbClr val="29303C"/>
              </a:solidFill>
              <a:latin typeface="Arial"/>
              <a:ea typeface="Arial"/>
              <a:cs typeface="Arial"/>
              <a:sym typeface="Arial"/>
            </a:endParaRPr>
          </a:p>
          <a:p>
            <a:pPr indent="-323850" lvl="1" marL="647700" marR="0" rtl="0" algn="l">
              <a:lnSpc>
                <a:spcPct val="130000"/>
              </a:lnSpc>
              <a:spcBef>
                <a:spcPts val="0"/>
              </a:spcBef>
              <a:spcAft>
                <a:spcPts val="0"/>
              </a:spcAft>
              <a:buClr>
                <a:srgbClr val="29303C"/>
              </a:buClr>
              <a:buSzPts val="3000"/>
              <a:buFont typeface="Arial"/>
              <a:buChar char="•"/>
            </a:pPr>
            <a:r>
              <a:rPr b="1" i="0" lang="en-US" sz="3000" u="none" cap="none" strike="noStrike">
                <a:solidFill>
                  <a:srgbClr val="29303C"/>
                </a:solidFill>
                <a:latin typeface="Arial"/>
                <a:ea typeface="Arial"/>
                <a:cs typeface="Arial"/>
                <a:sym typeface="Arial"/>
              </a:rPr>
              <a:t>Los contenedores Docker son ligeros y portátiles</a:t>
            </a:r>
            <a:r>
              <a:rPr b="0" i="0" lang="en-US" sz="3000" u="none" cap="none" strike="noStrike">
                <a:solidFill>
                  <a:srgbClr val="29303C"/>
                </a:solidFill>
                <a:latin typeface="Arial"/>
                <a:ea typeface="Arial"/>
                <a:cs typeface="Arial"/>
                <a:sym typeface="Arial"/>
              </a:rPr>
              <a:t>, lo que los convierte en una opción ideal para la nube, donde la flexibilidad y la escalabilidad son clave.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grpSp>
        <p:nvGrpSpPr>
          <p:cNvPr id="381" name="Google Shape;381;p17"/>
          <p:cNvGrpSpPr/>
          <p:nvPr/>
        </p:nvGrpSpPr>
        <p:grpSpPr>
          <a:xfrm>
            <a:off x="0" y="-171146"/>
            <a:ext cx="566738" cy="2834568"/>
            <a:chOff x="0" y="-38100"/>
            <a:chExt cx="149264" cy="746553"/>
          </a:xfrm>
        </p:grpSpPr>
        <p:sp>
          <p:nvSpPr>
            <p:cNvPr id="382" name="Google Shape;382;p17"/>
            <p:cNvSpPr/>
            <p:nvPr/>
          </p:nvSpPr>
          <p:spPr>
            <a:xfrm>
              <a:off x="0" y="0"/>
              <a:ext cx="149264" cy="708453"/>
            </a:xfrm>
            <a:custGeom>
              <a:rect b="b" l="l" r="r" t="t"/>
              <a:pathLst>
                <a:path extrusionOk="0" h="708453" w="149264">
                  <a:moveTo>
                    <a:pt x="0" y="0"/>
                  </a:moveTo>
                  <a:lnTo>
                    <a:pt x="149264" y="0"/>
                  </a:lnTo>
                  <a:lnTo>
                    <a:pt x="149264" y="708453"/>
                  </a:lnTo>
                  <a:lnTo>
                    <a:pt x="0" y="708453"/>
                  </a:lnTo>
                  <a:close/>
                </a:path>
              </a:pathLst>
            </a:custGeom>
            <a:solidFill>
              <a:srgbClr val="1E63ED"/>
            </a:solidFill>
            <a:ln>
              <a:noFill/>
            </a:ln>
          </p:spPr>
        </p:sp>
        <p:sp>
          <p:nvSpPr>
            <p:cNvPr id="383" name="Google Shape;383;p17"/>
            <p:cNvSpPr txBox="1"/>
            <p:nvPr/>
          </p:nvSpPr>
          <p:spPr>
            <a:xfrm>
              <a:off x="0" y="-38100"/>
              <a:ext cx="149264" cy="74655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84" name="Google Shape;384;p17"/>
          <p:cNvGrpSpPr/>
          <p:nvPr/>
        </p:nvGrpSpPr>
        <p:grpSpPr>
          <a:xfrm>
            <a:off x="0" y="-144661"/>
            <a:ext cx="1133475" cy="1463129"/>
            <a:chOff x="0" y="-38100"/>
            <a:chExt cx="298528" cy="385351"/>
          </a:xfrm>
        </p:grpSpPr>
        <p:sp>
          <p:nvSpPr>
            <p:cNvPr id="385" name="Google Shape;385;p17"/>
            <p:cNvSpPr/>
            <p:nvPr/>
          </p:nvSpPr>
          <p:spPr>
            <a:xfrm>
              <a:off x="0" y="0"/>
              <a:ext cx="298528" cy="347251"/>
            </a:xfrm>
            <a:custGeom>
              <a:rect b="b" l="l" r="r" t="t"/>
              <a:pathLst>
                <a:path extrusionOk="0" h="347251" w="298528">
                  <a:moveTo>
                    <a:pt x="0" y="0"/>
                  </a:moveTo>
                  <a:lnTo>
                    <a:pt x="298528" y="0"/>
                  </a:lnTo>
                  <a:lnTo>
                    <a:pt x="298528" y="347251"/>
                  </a:lnTo>
                  <a:lnTo>
                    <a:pt x="0" y="347251"/>
                  </a:lnTo>
                  <a:close/>
                </a:path>
              </a:pathLst>
            </a:custGeom>
            <a:solidFill>
              <a:srgbClr val="29303C"/>
            </a:solidFill>
            <a:ln>
              <a:noFill/>
            </a:ln>
          </p:spPr>
        </p:sp>
        <p:sp>
          <p:nvSpPr>
            <p:cNvPr id="386" name="Google Shape;386;p17"/>
            <p:cNvSpPr txBox="1"/>
            <p:nvPr/>
          </p:nvSpPr>
          <p:spPr>
            <a:xfrm>
              <a:off x="0" y="-38100"/>
              <a:ext cx="298528" cy="3853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87" name="Google Shape;387;p17"/>
          <p:cNvSpPr txBox="1"/>
          <p:nvPr/>
        </p:nvSpPr>
        <p:spPr>
          <a:xfrm>
            <a:off x="1416982" y="845518"/>
            <a:ext cx="16073400" cy="2478000"/>
          </a:xfrm>
          <a:prstGeom prst="rect">
            <a:avLst/>
          </a:prstGeom>
          <a:noFill/>
          <a:ln>
            <a:noFill/>
          </a:ln>
        </p:spPr>
        <p:txBody>
          <a:bodyPr anchorCtr="0" anchor="t" bIns="0" lIns="0" spcFirstLastPara="1" rIns="0" wrap="square" tIns="0">
            <a:spAutoFit/>
          </a:bodyPr>
          <a:lstStyle/>
          <a:p>
            <a:pPr indent="0" lvl="0" marL="0" marR="0" rtl="0" algn="ctr">
              <a:lnSpc>
                <a:spcPct val="130004"/>
              </a:lnSpc>
              <a:spcBef>
                <a:spcPts val="0"/>
              </a:spcBef>
              <a:spcAft>
                <a:spcPts val="0"/>
              </a:spcAft>
              <a:buClr>
                <a:srgbClr val="000000"/>
              </a:buClr>
              <a:buSzPts val="6999"/>
              <a:buFont typeface="Arial"/>
              <a:buNone/>
            </a:pPr>
            <a:r>
              <a:rPr b="1" i="0" lang="en-US" sz="6999" u="none" cap="none" strike="noStrike">
                <a:solidFill>
                  <a:srgbClr val="29303C"/>
                </a:solidFill>
                <a:latin typeface="Arial"/>
                <a:ea typeface="Arial"/>
                <a:cs typeface="Arial"/>
                <a:sym typeface="Arial"/>
              </a:rPr>
              <a:t>OPCIONES EN LA NUBE PARA EL USO DE DOCKER</a:t>
            </a:r>
            <a:endParaRPr b="0" i="0" sz="1400" u="none" cap="none" strike="noStrike">
              <a:solidFill>
                <a:srgbClr val="000000"/>
              </a:solidFill>
              <a:latin typeface="Arial"/>
              <a:ea typeface="Arial"/>
              <a:cs typeface="Arial"/>
              <a:sym typeface="Arial"/>
            </a:endParaRPr>
          </a:p>
        </p:txBody>
      </p:sp>
      <p:grpSp>
        <p:nvGrpSpPr>
          <p:cNvPr id="388" name="Google Shape;388;p17"/>
          <p:cNvGrpSpPr/>
          <p:nvPr/>
        </p:nvGrpSpPr>
        <p:grpSpPr>
          <a:xfrm>
            <a:off x="797719" y="3802853"/>
            <a:ext cx="5149850" cy="5785681"/>
            <a:chOff x="0" y="-47625"/>
            <a:chExt cx="1356339" cy="1523801"/>
          </a:xfrm>
        </p:grpSpPr>
        <p:sp>
          <p:nvSpPr>
            <p:cNvPr id="389" name="Google Shape;389;p17"/>
            <p:cNvSpPr/>
            <p:nvPr/>
          </p:nvSpPr>
          <p:spPr>
            <a:xfrm>
              <a:off x="0" y="0"/>
              <a:ext cx="1356339" cy="1476176"/>
            </a:xfrm>
            <a:custGeom>
              <a:rect b="b" l="l" r="r" t="t"/>
              <a:pathLst>
                <a:path extrusionOk="0" h="1476176" w="1356339">
                  <a:moveTo>
                    <a:pt x="76670" y="0"/>
                  </a:moveTo>
                  <a:lnTo>
                    <a:pt x="1279669" y="0"/>
                  </a:lnTo>
                  <a:cubicBezTo>
                    <a:pt x="1322013" y="0"/>
                    <a:pt x="1356339" y="34326"/>
                    <a:pt x="1356339" y="76670"/>
                  </a:cubicBezTo>
                  <a:lnTo>
                    <a:pt x="1356339" y="1399506"/>
                  </a:lnTo>
                  <a:cubicBezTo>
                    <a:pt x="1356339" y="1419840"/>
                    <a:pt x="1348261" y="1439341"/>
                    <a:pt x="1333883" y="1453720"/>
                  </a:cubicBezTo>
                  <a:cubicBezTo>
                    <a:pt x="1319505" y="1468098"/>
                    <a:pt x="1300003" y="1476176"/>
                    <a:pt x="1279669" y="1476176"/>
                  </a:cubicBezTo>
                  <a:lnTo>
                    <a:pt x="76670" y="1476176"/>
                  </a:lnTo>
                  <a:cubicBezTo>
                    <a:pt x="34326" y="1476176"/>
                    <a:pt x="0" y="1441849"/>
                    <a:pt x="0" y="1399506"/>
                  </a:cubicBezTo>
                  <a:lnTo>
                    <a:pt x="0" y="76670"/>
                  </a:lnTo>
                  <a:cubicBezTo>
                    <a:pt x="0" y="34326"/>
                    <a:pt x="34326" y="0"/>
                    <a:pt x="76670" y="0"/>
                  </a:cubicBezTo>
                  <a:close/>
                </a:path>
              </a:pathLst>
            </a:custGeom>
            <a:solidFill>
              <a:srgbClr val="2930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17"/>
            <p:cNvSpPr txBox="1"/>
            <p:nvPr/>
          </p:nvSpPr>
          <p:spPr>
            <a:xfrm>
              <a:off x="0" y="-47625"/>
              <a:ext cx="1356339" cy="1523801"/>
            </a:xfrm>
            <a:prstGeom prst="rect">
              <a:avLst/>
            </a:prstGeom>
            <a:noFill/>
            <a:ln>
              <a:noFill/>
            </a:ln>
          </p:spPr>
          <p:txBody>
            <a:bodyPr anchorCtr="0" anchor="ctr" bIns="50800" lIns="50800" spcFirstLastPara="1" rIns="50800" wrap="square" tIns="50800">
              <a:no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Arial"/>
                  <a:ea typeface="Arial"/>
                  <a:cs typeface="Arial"/>
                  <a:sym typeface="Arial"/>
                </a:rPr>
                <a:t>AMAZON WEB SERVICES</a:t>
              </a:r>
              <a:endParaRPr b="0" i="0" sz="1400" u="none" cap="none" strike="noStrike">
                <a:solidFill>
                  <a:srgbClr val="000000"/>
                </a:solidFill>
                <a:latin typeface="Arial"/>
                <a:ea typeface="Arial"/>
                <a:cs typeface="Arial"/>
                <a:sym typeface="Arial"/>
              </a:endParaRPr>
            </a:p>
            <a:p>
              <a:pPr indent="0" lvl="0" marL="0" marR="0" rtl="0" algn="ctr">
                <a:lnSpc>
                  <a:spcPct val="140016"/>
                </a:lnSpc>
                <a:spcBef>
                  <a:spcPts val="0"/>
                </a:spcBef>
                <a:spcAft>
                  <a:spcPts val="0"/>
                </a:spcAft>
                <a:buClr>
                  <a:srgbClr val="000000"/>
                </a:buClr>
                <a:buSzPts val="2499"/>
                <a:buFont typeface="Arial"/>
                <a:buNone/>
              </a:pPr>
              <a:r>
                <a:rPr b="0" i="0" lang="en-US" sz="2499" u="none" cap="none" strike="noStrike">
                  <a:solidFill>
                    <a:srgbClr val="FFFFFF"/>
                  </a:solidFill>
                  <a:latin typeface="Arial"/>
                  <a:ea typeface="Arial"/>
                  <a:cs typeface="Arial"/>
                  <a:sym typeface="Arial"/>
                </a:rPr>
                <a:t>Ofrece Amazon ECS (Elastic Container Service) y Amazon EKS (Elastic Kubernetes Service), ambos servicios especializados en la gestión de contenedores Docker.</a:t>
              </a:r>
              <a:endParaRPr b="0" i="0" sz="1400" u="none" cap="none" strike="noStrike">
                <a:solidFill>
                  <a:srgbClr val="000000"/>
                </a:solidFill>
                <a:latin typeface="Arial"/>
                <a:ea typeface="Arial"/>
                <a:cs typeface="Arial"/>
                <a:sym typeface="Arial"/>
              </a:endParaRPr>
            </a:p>
            <a:p>
              <a:pPr indent="0" lvl="0" marL="0" marR="0" rtl="0" algn="ctr">
                <a:lnSpc>
                  <a:spcPct val="140016"/>
                </a:lnSpc>
                <a:spcBef>
                  <a:spcPts val="0"/>
                </a:spcBef>
                <a:spcAft>
                  <a:spcPts val="0"/>
                </a:spcAft>
                <a:buClr>
                  <a:srgbClr val="000000"/>
                </a:buClr>
                <a:buSzPts val="2499"/>
                <a:buFont typeface="Arial"/>
                <a:buNone/>
              </a:pPr>
              <a:r>
                <a:t/>
              </a:r>
              <a:endParaRPr b="0" i="0" sz="2499" u="none" cap="none" strike="noStrike">
                <a:solidFill>
                  <a:srgbClr val="FFFFFF"/>
                </a:solidFill>
                <a:latin typeface="Arial"/>
                <a:ea typeface="Arial"/>
                <a:cs typeface="Arial"/>
                <a:sym typeface="Arial"/>
              </a:endParaRPr>
            </a:p>
          </p:txBody>
        </p:sp>
      </p:grpSp>
      <p:grpSp>
        <p:nvGrpSpPr>
          <p:cNvPr id="391" name="Google Shape;391;p17"/>
          <p:cNvGrpSpPr/>
          <p:nvPr/>
        </p:nvGrpSpPr>
        <p:grpSpPr>
          <a:xfrm>
            <a:off x="6265069" y="3707603"/>
            <a:ext cx="5292725" cy="5880931"/>
            <a:chOff x="0" y="-47625"/>
            <a:chExt cx="1393969" cy="1548887"/>
          </a:xfrm>
        </p:grpSpPr>
        <p:sp>
          <p:nvSpPr>
            <p:cNvPr id="392" name="Google Shape;392;p17"/>
            <p:cNvSpPr/>
            <p:nvPr/>
          </p:nvSpPr>
          <p:spPr>
            <a:xfrm>
              <a:off x="0" y="0"/>
              <a:ext cx="1393969" cy="1501262"/>
            </a:xfrm>
            <a:custGeom>
              <a:rect b="b" l="l" r="r" t="t"/>
              <a:pathLst>
                <a:path extrusionOk="0" h="1501262" w="1393969">
                  <a:moveTo>
                    <a:pt x="74600" y="0"/>
                  </a:moveTo>
                  <a:lnTo>
                    <a:pt x="1319369" y="0"/>
                  </a:lnTo>
                  <a:cubicBezTo>
                    <a:pt x="1339154" y="0"/>
                    <a:pt x="1358129" y="7860"/>
                    <a:pt x="1372119" y="21850"/>
                  </a:cubicBezTo>
                  <a:cubicBezTo>
                    <a:pt x="1386109" y="35840"/>
                    <a:pt x="1393969" y="54815"/>
                    <a:pt x="1393969" y="74600"/>
                  </a:cubicBezTo>
                  <a:lnTo>
                    <a:pt x="1393969" y="1426662"/>
                  </a:lnTo>
                  <a:cubicBezTo>
                    <a:pt x="1393969" y="1446447"/>
                    <a:pt x="1386109" y="1465422"/>
                    <a:pt x="1372119" y="1479412"/>
                  </a:cubicBezTo>
                  <a:cubicBezTo>
                    <a:pt x="1358129" y="1493403"/>
                    <a:pt x="1339154" y="1501262"/>
                    <a:pt x="1319369" y="1501262"/>
                  </a:cubicBezTo>
                  <a:lnTo>
                    <a:pt x="74600" y="1501262"/>
                  </a:lnTo>
                  <a:cubicBezTo>
                    <a:pt x="54815" y="1501262"/>
                    <a:pt x="35840" y="1493403"/>
                    <a:pt x="21850" y="1479412"/>
                  </a:cubicBezTo>
                  <a:cubicBezTo>
                    <a:pt x="7860" y="1465422"/>
                    <a:pt x="0" y="1446447"/>
                    <a:pt x="0" y="1426662"/>
                  </a:cubicBezTo>
                  <a:lnTo>
                    <a:pt x="0" y="74600"/>
                  </a:lnTo>
                  <a:cubicBezTo>
                    <a:pt x="0" y="54815"/>
                    <a:pt x="7860" y="35840"/>
                    <a:pt x="21850" y="21850"/>
                  </a:cubicBezTo>
                  <a:cubicBezTo>
                    <a:pt x="35840" y="7860"/>
                    <a:pt x="54815" y="0"/>
                    <a:pt x="74600" y="0"/>
                  </a:cubicBezTo>
                  <a:close/>
                </a:path>
              </a:pathLst>
            </a:custGeom>
            <a:solidFill>
              <a:srgbClr val="1E63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17"/>
            <p:cNvSpPr txBox="1"/>
            <p:nvPr/>
          </p:nvSpPr>
          <p:spPr>
            <a:xfrm>
              <a:off x="0" y="-47625"/>
              <a:ext cx="1393969" cy="1548887"/>
            </a:xfrm>
            <a:prstGeom prst="rect">
              <a:avLst/>
            </a:prstGeom>
            <a:noFill/>
            <a:ln>
              <a:noFill/>
            </a:ln>
          </p:spPr>
          <p:txBody>
            <a:bodyPr anchorCtr="0" anchor="ctr" bIns="50800" lIns="50800" spcFirstLastPara="1" rIns="50800" wrap="square" tIns="50800">
              <a:no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Arial"/>
                  <a:ea typeface="Arial"/>
                  <a:cs typeface="Arial"/>
                  <a:sym typeface="Arial"/>
                </a:rPr>
                <a:t>GOOGLE CLOUD PLATFORM</a:t>
              </a:r>
              <a:endParaRPr b="0" i="0" sz="1400" u="none" cap="none" strike="noStrike">
                <a:solidFill>
                  <a:srgbClr val="000000"/>
                </a:solidFill>
                <a:latin typeface="Arial"/>
                <a:ea typeface="Arial"/>
                <a:cs typeface="Arial"/>
                <a:sym typeface="Arial"/>
              </a:endParaRPr>
            </a:p>
            <a:p>
              <a:pPr indent="0" lvl="0" marL="0" marR="0" rtl="0" algn="ctr">
                <a:lnSpc>
                  <a:spcPct val="140016"/>
                </a:lnSpc>
                <a:spcBef>
                  <a:spcPts val="0"/>
                </a:spcBef>
                <a:spcAft>
                  <a:spcPts val="0"/>
                </a:spcAft>
                <a:buClr>
                  <a:srgbClr val="000000"/>
                </a:buClr>
                <a:buSzPts val="2499"/>
                <a:buFont typeface="Arial"/>
                <a:buNone/>
              </a:pPr>
              <a:r>
                <a:rPr b="0" i="0" lang="en-US" sz="2499" u="none" cap="none" strike="noStrike">
                  <a:solidFill>
                    <a:srgbClr val="FFFFFF"/>
                  </a:solidFill>
                  <a:latin typeface="Arial"/>
                  <a:ea typeface="Arial"/>
                  <a:cs typeface="Arial"/>
                  <a:sym typeface="Arial"/>
                </a:rPr>
                <a:t>Proporciona Google Kubernetes Engine (GKE) para la gestión de contenedores con Kubernetes, facilitando la orquestación de aplicaciones a gran escala.</a:t>
              </a:r>
              <a:endParaRPr b="0" i="0" sz="1400" u="none" cap="none" strike="noStrike">
                <a:solidFill>
                  <a:srgbClr val="000000"/>
                </a:solidFill>
                <a:latin typeface="Arial"/>
                <a:ea typeface="Arial"/>
                <a:cs typeface="Arial"/>
                <a:sym typeface="Arial"/>
              </a:endParaRPr>
            </a:p>
            <a:p>
              <a:pPr indent="0" lvl="0" marL="0" marR="0" rtl="0" algn="ctr">
                <a:lnSpc>
                  <a:spcPct val="140016"/>
                </a:lnSpc>
                <a:spcBef>
                  <a:spcPts val="0"/>
                </a:spcBef>
                <a:spcAft>
                  <a:spcPts val="0"/>
                </a:spcAft>
                <a:buClr>
                  <a:srgbClr val="000000"/>
                </a:buClr>
                <a:buSzPts val="2499"/>
                <a:buFont typeface="Arial"/>
                <a:buNone/>
              </a:pPr>
              <a:r>
                <a:t/>
              </a:r>
              <a:endParaRPr b="0" i="0" sz="2499" u="none" cap="none" strike="noStrike">
                <a:solidFill>
                  <a:srgbClr val="FFFFFF"/>
                </a:solidFill>
                <a:latin typeface="Arial"/>
                <a:ea typeface="Arial"/>
                <a:cs typeface="Arial"/>
                <a:sym typeface="Arial"/>
              </a:endParaRPr>
            </a:p>
          </p:txBody>
        </p:sp>
      </p:grpSp>
      <p:grpSp>
        <p:nvGrpSpPr>
          <p:cNvPr id="394" name="Google Shape;394;p17"/>
          <p:cNvGrpSpPr/>
          <p:nvPr/>
        </p:nvGrpSpPr>
        <p:grpSpPr>
          <a:xfrm>
            <a:off x="11872119" y="3707603"/>
            <a:ext cx="5618162" cy="5785681"/>
            <a:chOff x="0" y="-47625"/>
            <a:chExt cx="1479681" cy="1523801"/>
          </a:xfrm>
        </p:grpSpPr>
        <p:sp>
          <p:nvSpPr>
            <p:cNvPr id="395" name="Google Shape;395;p17"/>
            <p:cNvSpPr/>
            <p:nvPr/>
          </p:nvSpPr>
          <p:spPr>
            <a:xfrm>
              <a:off x="0" y="0"/>
              <a:ext cx="1479681" cy="1476176"/>
            </a:xfrm>
            <a:custGeom>
              <a:rect b="b" l="l" r="r" t="t"/>
              <a:pathLst>
                <a:path extrusionOk="0" h="1476176" w="1479681">
                  <a:moveTo>
                    <a:pt x="70279" y="0"/>
                  </a:moveTo>
                  <a:lnTo>
                    <a:pt x="1409402" y="0"/>
                  </a:lnTo>
                  <a:cubicBezTo>
                    <a:pt x="1448216" y="0"/>
                    <a:pt x="1479681" y="31465"/>
                    <a:pt x="1479681" y="70279"/>
                  </a:cubicBezTo>
                  <a:lnTo>
                    <a:pt x="1479681" y="1405897"/>
                  </a:lnTo>
                  <a:cubicBezTo>
                    <a:pt x="1479681" y="1424536"/>
                    <a:pt x="1472276" y="1442412"/>
                    <a:pt x="1459097" y="1455591"/>
                  </a:cubicBezTo>
                  <a:cubicBezTo>
                    <a:pt x="1445917" y="1468771"/>
                    <a:pt x="1428041" y="1476176"/>
                    <a:pt x="1409402" y="1476176"/>
                  </a:cubicBezTo>
                  <a:lnTo>
                    <a:pt x="70279" y="1476176"/>
                  </a:lnTo>
                  <a:cubicBezTo>
                    <a:pt x="51640" y="1476176"/>
                    <a:pt x="33764" y="1468771"/>
                    <a:pt x="20584" y="1455591"/>
                  </a:cubicBezTo>
                  <a:cubicBezTo>
                    <a:pt x="7404" y="1442412"/>
                    <a:pt x="0" y="1424536"/>
                    <a:pt x="0" y="1405897"/>
                  </a:cubicBezTo>
                  <a:lnTo>
                    <a:pt x="0" y="70279"/>
                  </a:lnTo>
                  <a:cubicBezTo>
                    <a:pt x="0" y="51640"/>
                    <a:pt x="7404" y="33764"/>
                    <a:pt x="20584" y="20584"/>
                  </a:cubicBezTo>
                  <a:cubicBezTo>
                    <a:pt x="33764" y="7404"/>
                    <a:pt x="51640" y="0"/>
                    <a:pt x="70279" y="0"/>
                  </a:cubicBezTo>
                  <a:close/>
                </a:path>
              </a:pathLst>
            </a:custGeom>
            <a:solidFill>
              <a:srgbClr val="2930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17"/>
            <p:cNvSpPr txBox="1"/>
            <p:nvPr/>
          </p:nvSpPr>
          <p:spPr>
            <a:xfrm>
              <a:off x="0" y="-47625"/>
              <a:ext cx="1479681" cy="1523801"/>
            </a:xfrm>
            <a:prstGeom prst="rect">
              <a:avLst/>
            </a:prstGeom>
            <a:noFill/>
            <a:ln>
              <a:noFill/>
            </a:ln>
          </p:spPr>
          <p:txBody>
            <a:bodyPr anchorCtr="0" anchor="ctr" bIns="50800" lIns="50800" spcFirstLastPara="1" rIns="50800" wrap="square" tIns="50800">
              <a:no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Arial"/>
                  <a:ea typeface="Arial"/>
                  <a:cs typeface="Arial"/>
                  <a:sym typeface="Arial"/>
                </a:rPr>
                <a:t>MICROSOFT AZURE</a:t>
              </a:r>
              <a:endParaRPr b="0" i="0" sz="1400" u="none" cap="none" strike="noStrike">
                <a:solidFill>
                  <a:srgbClr val="000000"/>
                </a:solidFill>
                <a:latin typeface="Arial"/>
                <a:ea typeface="Arial"/>
                <a:cs typeface="Arial"/>
                <a:sym typeface="Arial"/>
              </a:endParaRPr>
            </a:p>
            <a:p>
              <a:pPr indent="0" lvl="0" marL="0" marR="0" rtl="0" algn="ctr">
                <a:lnSpc>
                  <a:spcPct val="140016"/>
                </a:lnSpc>
                <a:spcBef>
                  <a:spcPts val="0"/>
                </a:spcBef>
                <a:spcAft>
                  <a:spcPts val="0"/>
                </a:spcAft>
                <a:buClr>
                  <a:srgbClr val="000000"/>
                </a:buClr>
                <a:buSzPts val="2499"/>
                <a:buFont typeface="Arial"/>
                <a:buNone/>
              </a:pPr>
              <a:r>
                <a:rPr b="0" i="0" lang="en-US" sz="2499" u="none" cap="none" strike="noStrike">
                  <a:solidFill>
                    <a:srgbClr val="FFFFFF"/>
                  </a:solidFill>
                  <a:latin typeface="Arial"/>
                  <a:ea typeface="Arial"/>
                  <a:cs typeface="Arial"/>
                  <a:sym typeface="Arial"/>
                </a:rPr>
                <a:t>Cuenta con Azure Kubernetes Service (AKS) para desplegar y gestionar contenedores Docker y aplicaciones en la nube de manera eficiente.</a:t>
              </a:r>
              <a:endParaRPr b="0" i="0" sz="1400" u="none" cap="none" strike="noStrike">
                <a:solidFill>
                  <a:srgbClr val="000000"/>
                </a:solidFill>
                <a:latin typeface="Arial"/>
                <a:ea typeface="Arial"/>
                <a:cs typeface="Arial"/>
                <a:sym typeface="Arial"/>
              </a:endParaRPr>
            </a:p>
            <a:p>
              <a:pPr indent="0" lvl="0" marL="0" marR="0" rtl="0" algn="ctr">
                <a:lnSpc>
                  <a:spcPct val="140016"/>
                </a:lnSpc>
                <a:spcBef>
                  <a:spcPts val="0"/>
                </a:spcBef>
                <a:spcAft>
                  <a:spcPts val="0"/>
                </a:spcAft>
                <a:buClr>
                  <a:srgbClr val="000000"/>
                </a:buClr>
                <a:buSzPts val="2499"/>
                <a:buFont typeface="Arial"/>
                <a:buNone/>
              </a:pPr>
              <a:r>
                <a:t/>
              </a:r>
              <a:endParaRPr b="0" i="0" sz="2499" u="none" cap="none" strike="noStrike">
                <a:solidFill>
                  <a:srgbClr val="FFFFFF"/>
                </a:solidFill>
                <a:latin typeface="Arial"/>
                <a:ea typeface="Arial"/>
                <a:cs typeface="Arial"/>
                <a:sym typeface="Aria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18"/>
          <p:cNvSpPr txBox="1"/>
          <p:nvPr/>
        </p:nvSpPr>
        <p:spPr>
          <a:xfrm>
            <a:off x="6420085" y="2861681"/>
            <a:ext cx="6860705" cy="1120775"/>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Clr>
                <a:srgbClr val="000000"/>
              </a:buClr>
              <a:buSzPts val="6999"/>
              <a:buFont typeface="Arial"/>
              <a:buNone/>
            </a:pPr>
            <a:r>
              <a:rPr b="0" i="0" lang="en-US" sz="6999" u="none" cap="none" strike="noStrike">
                <a:solidFill>
                  <a:srgbClr val="29303C"/>
                </a:solidFill>
                <a:latin typeface="Hammersmith One"/>
                <a:ea typeface="Hammersmith One"/>
                <a:cs typeface="Hammersmith One"/>
                <a:sym typeface="Hammersmith One"/>
              </a:rPr>
              <a:t>PARTE PRÁTICA</a:t>
            </a:r>
            <a:endParaRPr b="0" i="0" sz="1400" u="none" cap="none" strike="noStrike">
              <a:solidFill>
                <a:srgbClr val="000000"/>
              </a:solidFill>
              <a:latin typeface="Arial"/>
              <a:ea typeface="Arial"/>
              <a:cs typeface="Arial"/>
              <a:sym typeface="Arial"/>
            </a:endParaRPr>
          </a:p>
        </p:txBody>
      </p:sp>
      <p:sp>
        <p:nvSpPr>
          <p:cNvPr id="402" name="Google Shape;402;p18"/>
          <p:cNvSpPr txBox="1"/>
          <p:nvPr/>
        </p:nvSpPr>
        <p:spPr>
          <a:xfrm>
            <a:off x="2162609" y="3925306"/>
            <a:ext cx="14581906" cy="1120775"/>
          </a:xfrm>
          <a:prstGeom prst="rect">
            <a:avLst/>
          </a:prstGeom>
          <a:noFill/>
          <a:ln>
            <a:noFill/>
          </a:ln>
        </p:spPr>
        <p:txBody>
          <a:bodyPr anchorCtr="0" anchor="t" bIns="0" lIns="0" spcFirstLastPara="1" rIns="0" wrap="square" tIns="0">
            <a:spAutoFit/>
          </a:bodyPr>
          <a:lstStyle/>
          <a:p>
            <a:pPr indent="0" lvl="0" marL="0" marR="0" rtl="0" algn="ctr">
              <a:lnSpc>
                <a:spcPct val="130004"/>
              </a:lnSpc>
              <a:spcBef>
                <a:spcPts val="0"/>
              </a:spcBef>
              <a:spcAft>
                <a:spcPts val="0"/>
              </a:spcAft>
              <a:buClr>
                <a:srgbClr val="000000"/>
              </a:buClr>
              <a:buSzPts val="6999"/>
              <a:buFont typeface="Arial"/>
              <a:buNone/>
            </a:pPr>
            <a:r>
              <a:rPr b="0" i="0" lang="en-US" sz="6999" u="none" cap="none" strike="noStrike">
                <a:solidFill>
                  <a:srgbClr val="29303C"/>
                </a:solidFill>
                <a:latin typeface="Arial"/>
                <a:ea typeface="Arial"/>
                <a:cs typeface="Arial"/>
                <a:sym typeface="Arial"/>
              </a:rPr>
              <a:t>USO DE YAML Y DOCKER COMPOSE</a:t>
            </a:r>
            <a:endParaRPr b="0" i="0" sz="1400" u="none" cap="none" strike="noStrike">
              <a:solidFill>
                <a:srgbClr val="000000"/>
              </a:solidFill>
              <a:latin typeface="Arial"/>
              <a:ea typeface="Arial"/>
              <a:cs typeface="Arial"/>
              <a:sym typeface="Arial"/>
            </a:endParaRPr>
          </a:p>
        </p:txBody>
      </p:sp>
      <p:sp>
        <p:nvSpPr>
          <p:cNvPr id="403" name="Google Shape;403;p18"/>
          <p:cNvSpPr/>
          <p:nvPr/>
        </p:nvSpPr>
        <p:spPr>
          <a:xfrm flipH="1" rot="5679621">
            <a:off x="7672969" y="926401"/>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3">
              <a:alphaModFix/>
            </a:blip>
            <a:stretch>
              <a:fillRect b="0" l="0" r="0" t="0"/>
            </a:stretch>
          </a:blipFill>
          <a:ln>
            <a:noFill/>
          </a:ln>
        </p:spPr>
      </p:sp>
      <p:sp>
        <p:nvSpPr>
          <p:cNvPr id="404" name="Google Shape;404;p18"/>
          <p:cNvSpPr/>
          <p:nvPr/>
        </p:nvSpPr>
        <p:spPr>
          <a:xfrm flipH="1" rot="5679621">
            <a:off x="7856925" y="1104639"/>
            <a:ext cx="3138698" cy="18364721"/>
          </a:xfrm>
          <a:custGeom>
            <a:rect b="b" l="l" r="r" t="t"/>
            <a:pathLst>
              <a:path extrusionOk="0" h="18364721" w="3138698">
                <a:moveTo>
                  <a:pt x="0" y="18364722"/>
                </a:moveTo>
                <a:lnTo>
                  <a:pt x="3138697" y="18364722"/>
                </a:lnTo>
                <a:lnTo>
                  <a:pt x="3138697" y="0"/>
                </a:lnTo>
                <a:lnTo>
                  <a:pt x="0" y="0"/>
                </a:lnTo>
                <a:lnTo>
                  <a:pt x="0" y="18364722"/>
                </a:lnTo>
                <a:close/>
              </a:path>
            </a:pathLst>
          </a:custGeom>
          <a:blipFill rotWithShape="1">
            <a:blip r:embed="rId4">
              <a:alphaModFix/>
            </a:blip>
            <a:stretch>
              <a:fillRect b="0" l="0" r="0" t="0"/>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19"/>
          <p:cNvSpPr txBox="1"/>
          <p:nvPr/>
        </p:nvSpPr>
        <p:spPr>
          <a:xfrm>
            <a:off x="5542868" y="644847"/>
            <a:ext cx="7454705" cy="1120775"/>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Clr>
                <a:srgbClr val="000000"/>
              </a:buClr>
              <a:buSzPts val="6999"/>
              <a:buFont typeface="Arial"/>
              <a:buNone/>
            </a:pPr>
            <a:r>
              <a:rPr b="0" i="0" lang="en-US" sz="6999" u="none" cap="none" strike="noStrike">
                <a:solidFill>
                  <a:srgbClr val="29303C"/>
                </a:solidFill>
                <a:latin typeface="Hammersmith One"/>
                <a:ea typeface="Hammersmith One"/>
                <a:cs typeface="Hammersmith One"/>
                <a:sym typeface="Hammersmith One"/>
              </a:rPr>
              <a:t>VALOR O ACTITUD</a:t>
            </a:r>
            <a:endParaRPr b="0" i="0" sz="1400" u="none" cap="none" strike="noStrike">
              <a:solidFill>
                <a:srgbClr val="000000"/>
              </a:solidFill>
              <a:latin typeface="Arial"/>
              <a:ea typeface="Arial"/>
              <a:cs typeface="Arial"/>
              <a:sym typeface="Arial"/>
            </a:endParaRPr>
          </a:p>
        </p:txBody>
      </p:sp>
      <p:sp>
        <p:nvSpPr>
          <p:cNvPr id="410" name="Google Shape;410;p19"/>
          <p:cNvSpPr txBox="1"/>
          <p:nvPr/>
        </p:nvSpPr>
        <p:spPr>
          <a:xfrm>
            <a:off x="1129863" y="2251397"/>
            <a:ext cx="15593010" cy="5169682"/>
          </a:xfrm>
          <a:prstGeom prst="rect">
            <a:avLst/>
          </a:prstGeom>
          <a:noFill/>
          <a:ln>
            <a:noFill/>
          </a:ln>
        </p:spPr>
        <p:txBody>
          <a:bodyPr anchorCtr="0" anchor="t" bIns="0" lIns="0" spcFirstLastPara="1" rIns="0" wrap="square" tIns="0">
            <a:spAutoFit/>
          </a:bodyPr>
          <a:lstStyle/>
          <a:p>
            <a:pPr indent="0" lvl="0" marL="0" marR="0" rtl="0" algn="ctr">
              <a:lnSpc>
                <a:spcPct val="129989"/>
              </a:lnSpc>
              <a:spcBef>
                <a:spcPts val="0"/>
              </a:spcBef>
              <a:spcAft>
                <a:spcPts val="0"/>
              </a:spcAft>
              <a:buClr>
                <a:srgbClr val="000000"/>
              </a:buClr>
              <a:buSzPts val="3938"/>
              <a:buFont typeface="Arial"/>
              <a:buNone/>
            </a:pPr>
            <a:r>
              <a:rPr b="1" i="0" lang="en-US" sz="3938" u="none" cap="none" strike="noStrike">
                <a:solidFill>
                  <a:srgbClr val="1E63ED"/>
                </a:solidFill>
                <a:latin typeface="Arial"/>
                <a:ea typeface="Arial"/>
                <a:cs typeface="Arial"/>
                <a:sym typeface="Arial"/>
              </a:rPr>
              <a:t>Liderazgo</a:t>
            </a:r>
            <a:endParaRPr b="0" i="0" sz="1400" u="none" cap="none" strike="noStrike">
              <a:solidFill>
                <a:srgbClr val="000000"/>
              </a:solidFill>
              <a:latin typeface="Arial"/>
              <a:ea typeface="Arial"/>
              <a:cs typeface="Arial"/>
              <a:sym typeface="Arial"/>
            </a:endParaRPr>
          </a:p>
          <a:p>
            <a:pPr indent="-425154" lvl="1" marL="850307" marR="0" rtl="0" algn="l">
              <a:lnSpc>
                <a:spcPct val="129989"/>
              </a:lnSpc>
              <a:spcBef>
                <a:spcPts val="0"/>
              </a:spcBef>
              <a:spcAft>
                <a:spcPts val="0"/>
              </a:spcAft>
              <a:buClr>
                <a:srgbClr val="29303C"/>
              </a:buClr>
              <a:buSzPts val="3938"/>
              <a:buFont typeface="Arial"/>
              <a:buChar char="•"/>
            </a:pPr>
            <a:r>
              <a:rPr b="0" i="0" lang="en-US" sz="3938" u="none" cap="none" strike="noStrike">
                <a:solidFill>
                  <a:srgbClr val="29303C"/>
                </a:solidFill>
                <a:latin typeface="Arial"/>
                <a:ea typeface="Arial"/>
                <a:cs typeface="Arial"/>
                <a:sym typeface="Arial"/>
              </a:rPr>
              <a:t>Como líder cloud, en un proyecto esto puede traducirse en asignar roles para la gestión de recursos, arquitectura de soluciones o revisión de código, permitiendo que cada integrante aporte sus ideas y tome responsabilidad sobre áreas específicas.</a:t>
            </a:r>
            <a:endParaRPr b="0" i="0" sz="1400" u="none" cap="none" strike="noStrike">
              <a:solidFill>
                <a:srgbClr val="000000"/>
              </a:solidFill>
              <a:latin typeface="Arial"/>
              <a:ea typeface="Arial"/>
              <a:cs typeface="Arial"/>
              <a:sym typeface="Arial"/>
            </a:endParaRPr>
          </a:p>
          <a:p>
            <a:pPr indent="-425154" lvl="1" marL="850307" marR="0" rtl="0" algn="l">
              <a:lnSpc>
                <a:spcPct val="129989"/>
              </a:lnSpc>
              <a:spcBef>
                <a:spcPts val="0"/>
              </a:spcBef>
              <a:spcAft>
                <a:spcPts val="0"/>
              </a:spcAft>
              <a:buClr>
                <a:srgbClr val="29303C"/>
              </a:buClr>
              <a:buSzPts val="3938"/>
              <a:buFont typeface="Arial"/>
              <a:buChar char="•"/>
            </a:pPr>
            <a:r>
              <a:rPr b="0" i="0" lang="en-US" sz="3938" u="none" cap="none" strike="noStrike">
                <a:solidFill>
                  <a:srgbClr val="29303C"/>
                </a:solidFill>
                <a:latin typeface="Arial"/>
                <a:ea typeface="Arial"/>
                <a:cs typeface="Arial"/>
                <a:sym typeface="Arial"/>
              </a:rPr>
              <a:t>El liderazgo también se demuestra al inspirar a otros a proponer nuevas ideas o soluciones, en la universidad esto puede significar incentivar proyectos extracurriculares o competencias tecnológicas. </a:t>
            </a:r>
            <a:endParaRPr b="0" i="0" sz="1400" u="none" cap="none" strike="noStrike">
              <a:solidFill>
                <a:srgbClr val="000000"/>
              </a:solidFill>
              <a:latin typeface="Arial"/>
              <a:ea typeface="Arial"/>
              <a:cs typeface="Arial"/>
              <a:sym typeface="Arial"/>
            </a:endParaRPr>
          </a:p>
        </p:txBody>
      </p:sp>
      <p:sp>
        <p:nvSpPr>
          <p:cNvPr id="411" name="Google Shape;411;p19"/>
          <p:cNvSpPr/>
          <p:nvPr/>
        </p:nvSpPr>
        <p:spPr>
          <a:xfrm flipH="1" rot="-5252869">
            <a:off x="7166333" y="2041017"/>
            <a:ext cx="3138698" cy="18364721"/>
          </a:xfrm>
          <a:custGeom>
            <a:rect b="b" l="l" r="r" t="t"/>
            <a:pathLst>
              <a:path extrusionOk="0" h="18364721" w="3138698">
                <a:moveTo>
                  <a:pt x="3138698" y="0"/>
                </a:moveTo>
                <a:lnTo>
                  <a:pt x="0" y="0"/>
                </a:lnTo>
                <a:lnTo>
                  <a:pt x="0" y="18364721"/>
                </a:lnTo>
                <a:lnTo>
                  <a:pt x="3138698" y="18364721"/>
                </a:lnTo>
                <a:lnTo>
                  <a:pt x="3138698" y="0"/>
                </a:lnTo>
                <a:close/>
              </a:path>
            </a:pathLst>
          </a:custGeom>
          <a:blipFill rotWithShape="1">
            <a:blip r:embed="rId3">
              <a:alphaModFix/>
            </a:blip>
            <a:stretch>
              <a:fillRect b="0" l="0" r="0" t="0"/>
            </a:stretch>
          </a:blipFill>
          <a:ln>
            <a:noFill/>
          </a:ln>
        </p:spPr>
      </p:sp>
      <p:sp>
        <p:nvSpPr>
          <p:cNvPr id="412" name="Google Shape;412;p19"/>
          <p:cNvSpPr/>
          <p:nvPr/>
        </p:nvSpPr>
        <p:spPr>
          <a:xfrm flipH="1" rot="-5252869">
            <a:off x="7357019" y="2212036"/>
            <a:ext cx="3138698" cy="18364721"/>
          </a:xfrm>
          <a:custGeom>
            <a:rect b="b" l="l" r="r" t="t"/>
            <a:pathLst>
              <a:path extrusionOk="0" h="18364721" w="3138698">
                <a:moveTo>
                  <a:pt x="3138698" y="0"/>
                </a:moveTo>
                <a:lnTo>
                  <a:pt x="0" y="0"/>
                </a:lnTo>
                <a:lnTo>
                  <a:pt x="0" y="18364721"/>
                </a:lnTo>
                <a:lnTo>
                  <a:pt x="3138698" y="18364721"/>
                </a:lnTo>
                <a:lnTo>
                  <a:pt x="3138698" y="0"/>
                </a:lnTo>
                <a:close/>
              </a:path>
            </a:pathLst>
          </a:custGeom>
          <a:blipFill rotWithShape="1">
            <a:blip r:embed="rId4">
              <a:alphaModFix/>
            </a:blip>
            <a:stretch>
              <a:fillRect b="0" l="0"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20"/>
          <p:cNvSpPr/>
          <p:nvPr/>
        </p:nvSpPr>
        <p:spPr>
          <a:xfrm rot="5400000">
            <a:off x="1035086" y="1228236"/>
            <a:ext cx="689712" cy="702485"/>
          </a:xfrm>
          <a:custGeom>
            <a:rect b="b" l="l" r="r" t="t"/>
            <a:pathLst>
              <a:path extrusionOk="0" h="702485" w="689712">
                <a:moveTo>
                  <a:pt x="0" y="0"/>
                </a:moveTo>
                <a:lnTo>
                  <a:pt x="689713" y="0"/>
                </a:lnTo>
                <a:lnTo>
                  <a:pt x="689713" y="702485"/>
                </a:lnTo>
                <a:lnTo>
                  <a:pt x="0" y="702485"/>
                </a:lnTo>
                <a:lnTo>
                  <a:pt x="0" y="0"/>
                </a:lnTo>
                <a:close/>
              </a:path>
            </a:pathLst>
          </a:custGeom>
          <a:blipFill rotWithShape="1">
            <a:blip r:embed="rId3">
              <a:alphaModFix/>
            </a:blip>
            <a:stretch>
              <a:fillRect b="0" l="0" r="0" t="0"/>
            </a:stretch>
          </a:blipFill>
          <a:ln>
            <a:noFill/>
          </a:ln>
        </p:spPr>
      </p:sp>
      <p:sp>
        <p:nvSpPr>
          <p:cNvPr id="418" name="Google Shape;418;p20"/>
          <p:cNvSpPr/>
          <p:nvPr/>
        </p:nvSpPr>
        <p:spPr>
          <a:xfrm flipH="1" rot="5679621">
            <a:off x="7672969" y="926401"/>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4">
              <a:alphaModFix/>
            </a:blip>
            <a:stretch>
              <a:fillRect b="0" l="0" r="0" t="0"/>
            </a:stretch>
          </a:blipFill>
          <a:ln>
            <a:noFill/>
          </a:ln>
        </p:spPr>
      </p:sp>
      <p:sp>
        <p:nvSpPr>
          <p:cNvPr id="419" name="Google Shape;419;p20"/>
          <p:cNvSpPr/>
          <p:nvPr/>
        </p:nvSpPr>
        <p:spPr>
          <a:xfrm flipH="1" rot="5679621">
            <a:off x="7856925" y="1104639"/>
            <a:ext cx="3138698" cy="18364721"/>
          </a:xfrm>
          <a:custGeom>
            <a:rect b="b" l="l" r="r" t="t"/>
            <a:pathLst>
              <a:path extrusionOk="0" h="18364721" w="3138698">
                <a:moveTo>
                  <a:pt x="0" y="18364722"/>
                </a:moveTo>
                <a:lnTo>
                  <a:pt x="3138697" y="18364722"/>
                </a:lnTo>
                <a:lnTo>
                  <a:pt x="3138697" y="0"/>
                </a:lnTo>
                <a:lnTo>
                  <a:pt x="0" y="0"/>
                </a:lnTo>
                <a:lnTo>
                  <a:pt x="0" y="18364722"/>
                </a:lnTo>
                <a:close/>
              </a:path>
            </a:pathLst>
          </a:custGeom>
          <a:blipFill rotWithShape="1">
            <a:blip r:embed="rId5">
              <a:alphaModFix/>
            </a:blip>
            <a:stretch>
              <a:fillRect b="0" l="0" r="0" t="0"/>
            </a:stretch>
          </a:blipFill>
          <a:ln>
            <a:noFill/>
          </a:ln>
        </p:spPr>
      </p:sp>
      <p:sp>
        <p:nvSpPr>
          <p:cNvPr id="420" name="Google Shape;420;p20"/>
          <p:cNvSpPr txBox="1"/>
          <p:nvPr/>
        </p:nvSpPr>
        <p:spPr>
          <a:xfrm>
            <a:off x="3865129" y="1230119"/>
            <a:ext cx="10557741" cy="755869"/>
          </a:xfrm>
          <a:prstGeom prst="rect">
            <a:avLst/>
          </a:prstGeom>
          <a:noFill/>
          <a:ln>
            <a:noFill/>
          </a:ln>
        </p:spPr>
        <p:txBody>
          <a:bodyPr anchorCtr="0" anchor="t" bIns="0" lIns="0" spcFirstLastPara="1" rIns="0" wrap="square" tIns="0">
            <a:spAutoFit/>
          </a:bodyPr>
          <a:lstStyle/>
          <a:p>
            <a:pPr indent="0" lvl="0" marL="0" marR="0" rtl="0" algn="l">
              <a:lnSpc>
                <a:spcPct val="109998"/>
              </a:lnSpc>
              <a:spcBef>
                <a:spcPts val="0"/>
              </a:spcBef>
              <a:spcAft>
                <a:spcPts val="0"/>
              </a:spcAft>
              <a:buClr>
                <a:srgbClr val="000000"/>
              </a:buClr>
              <a:buSzPts val="5361"/>
              <a:buFont typeface="Arial"/>
              <a:buNone/>
            </a:pPr>
            <a:r>
              <a:rPr b="0" i="0" lang="en-US" sz="5361" u="none" cap="none" strike="noStrike">
                <a:solidFill>
                  <a:srgbClr val="29303C"/>
                </a:solidFill>
                <a:latin typeface="Hammersmith One"/>
                <a:ea typeface="Hammersmith One"/>
                <a:cs typeface="Hammersmith One"/>
                <a:sym typeface="Hammersmith One"/>
              </a:rPr>
              <a:t>CONCEPTOS CLAVES APRENDIDOS</a:t>
            </a:r>
            <a:endParaRPr b="0" i="0" sz="1400" u="none" cap="none" strike="noStrike">
              <a:solidFill>
                <a:srgbClr val="000000"/>
              </a:solidFill>
              <a:latin typeface="Arial"/>
              <a:ea typeface="Arial"/>
              <a:cs typeface="Arial"/>
              <a:sym typeface="Arial"/>
            </a:endParaRPr>
          </a:p>
        </p:txBody>
      </p:sp>
      <p:sp>
        <p:nvSpPr>
          <p:cNvPr id="421" name="Google Shape;421;p20"/>
          <p:cNvSpPr txBox="1"/>
          <p:nvPr/>
        </p:nvSpPr>
        <p:spPr>
          <a:xfrm>
            <a:off x="3865124" y="2307400"/>
            <a:ext cx="1817400" cy="538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500"/>
              <a:buFont typeface="Arial"/>
              <a:buNone/>
            </a:pPr>
            <a:r>
              <a:rPr b="1" i="0" lang="en-US" sz="3500" u="none" cap="none" strike="noStrike">
                <a:solidFill>
                  <a:srgbClr val="29303C"/>
                </a:solidFill>
                <a:latin typeface="Arial"/>
                <a:ea typeface="Arial"/>
                <a:cs typeface="Arial"/>
                <a:sym typeface="Arial"/>
              </a:rPr>
              <a:t>Docker</a:t>
            </a:r>
            <a:endParaRPr b="0" i="0" sz="1400" u="none" cap="none" strike="noStrike">
              <a:solidFill>
                <a:srgbClr val="000000"/>
              </a:solidFill>
              <a:latin typeface="Arial"/>
              <a:ea typeface="Arial"/>
              <a:cs typeface="Arial"/>
              <a:sym typeface="Arial"/>
            </a:endParaRPr>
          </a:p>
        </p:txBody>
      </p:sp>
      <p:grpSp>
        <p:nvGrpSpPr>
          <p:cNvPr id="422" name="Google Shape;422;p20"/>
          <p:cNvGrpSpPr/>
          <p:nvPr/>
        </p:nvGrpSpPr>
        <p:grpSpPr>
          <a:xfrm>
            <a:off x="2905062" y="2228850"/>
            <a:ext cx="731003" cy="760368"/>
            <a:chOff x="0" y="0"/>
            <a:chExt cx="974670" cy="1013824"/>
          </a:xfrm>
        </p:grpSpPr>
        <p:sp>
          <p:nvSpPr>
            <p:cNvPr id="423" name="Google Shape;423;p20"/>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20"/>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grpSp>
      <p:grpSp>
        <p:nvGrpSpPr>
          <p:cNvPr id="425" name="Google Shape;425;p20"/>
          <p:cNvGrpSpPr/>
          <p:nvPr/>
        </p:nvGrpSpPr>
        <p:grpSpPr>
          <a:xfrm>
            <a:off x="2905062" y="3296353"/>
            <a:ext cx="731003" cy="760368"/>
            <a:chOff x="0" y="0"/>
            <a:chExt cx="974670" cy="1013824"/>
          </a:xfrm>
        </p:grpSpPr>
        <p:sp>
          <p:nvSpPr>
            <p:cNvPr id="426" name="Google Shape;426;p20"/>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20"/>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FFFFFF"/>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grpSp>
      <p:grpSp>
        <p:nvGrpSpPr>
          <p:cNvPr id="428" name="Google Shape;428;p20"/>
          <p:cNvGrpSpPr/>
          <p:nvPr/>
        </p:nvGrpSpPr>
        <p:grpSpPr>
          <a:xfrm>
            <a:off x="2905062" y="4459911"/>
            <a:ext cx="731003" cy="760368"/>
            <a:chOff x="0" y="0"/>
            <a:chExt cx="974670" cy="1013824"/>
          </a:xfrm>
        </p:grpSpPr>
        <p:sp>
          <p:nvSpPr>
            <p:cNvPr id="429" name="Google Shape;429;p20"/>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20"/>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FF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grpSp>
      <p:grpSp>
        <p:nvGrpSpPr>
          <p:cNvPr id="431" name="Google Shape;431;p20"/>
          <p:cNvGrpSpPr/>
          <p:nvPr/>
        </p:nvGrpSpPr>
        <p:grpSpPr>
          <a:xfrm>
            <a:off x="2905062" y="5623470"/>
            <a:ext cx="731003" cy="760368"/>
            <a:chOff x="0" y="0"/>
            <a:chExt cx="974670" cy="1013824"/>
          </a:xfrm>
        </p:grpSpPr>
        <p:sp>
          <p:nvSpPr>
            <p:cNvPr id="432" name="Google Shape;432;p20"/>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20"/>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FFFFFF"/>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grpSp>
      <p:sp>
        <p:nvSpPr>
          <p:cNvPr id="434" name="Google Shape;434;p20"/>
          <p:cNvSpPr txBox="1"/>
          <p:nvPr/>
        </p:nvSpPr>
        <p:spPr>
          <a:xfrm>
            <a:off x="3865124" y="4476750"/>
            <a:ext cx="2987700" cy="538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500"/>
              <a:buFont typeface="Arial"/>
              <a:buNone/>
            </a:pPr>
            <a:r>
              <a:rPr b="1" i="0" lang="en-US" sz="3500" u="none" cap="none" strike="noStrike">
                <a:solidFill>
                  <a:srgbClr val="29303C"/>
                </a:solidFill>
                <a:latin typeface="Arial"/>
                <a:ea typeface="Arial"/>
                <a:cs typeface="Arial"/>
                <a:sym typeface="Arial"/>
              </a:rPr>
              <a:t>Volúmenes</a:t>
            </a:r>
            <a:endParaRPr b="0" i="0" sz="1400" u="none" cap="none" strike="noStrike">
              <a:solidFill>
                <a:srgbClr val="000000"/>
              </a:solidFill>
              <a:latin typeface="Arial"/>
              <a:ea typeface="Arial"/>
              <a:cs typeface="Arial"/>
              <a:sym typeface="Arial"/>
            </a:endParaRPr>
          </a:p>
        </p:txBody>
      </p:sp>
      <p:sp>
        <p:nvSpPr>
          <p:cNvPr id="435" name="Google Shape;435;p20"/>
          <p:cNvSpPr txBox="1"/>
          <p:nvPr/>
        </p:nvSpPr>
        <p:spPr>
          <a:xfrm>
            <a:off x="3865129" y="5702029"/>
            <a:ext cx="4153793" cy="56515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500"/>
              <a:buFont typeface="Arial"/>
              <a:buNone/>
            </a:pPr>
            <a:r>
              <a:rPr b="1" i="0" lang="en-US" sz="3500" u="none" cap="none" strike="noStrike">
                <a:solidFill>
                  <a:srgbClr val="29303C"/>
                </a:solidFill>
                <a:latin typeface="Arial"/>
                <a:ea typeface="Arial"/>
                <a:cs typeface="Arial"/>
                <a:sym typeface="Arial"/>
              </a:rPr>
              <a:t>Docker Networks</a:t>
            </a:r>
            <a:endParaRPr b="0" i="0" sz="1400" u="none" cap="none" strike="noStrike">
              <a:solidFill>
                <a:srgbClr val="000000"/>
              </a:solidFill>
              <a:latin typeface="Arial"/>
              <a:ea typeface="Arial"/>
              <a:cs typeface="Arial"/>
              <a:sym typeface="Arial"/>
            </a:endParaRPr>
          </a:p>
        </p:txBody>
      </p:sp>
      <p:sp>
        <p:nvSpPr>
          <p:cNvPr id="436" name="Google Shape;436;p20"/>
          <p:cNvSpPr txBox="1"/>
          <p:nvPr/>
        </p:nvSpPr>
        <p:spPr>
          <a:xfrm>
            <a:off x="3865124" y="3374900"/>
            <a:ext cx="6822300" cy="538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500"/>
              <a:buFont typeface="Arial"/>
              <a:buNone/>
            </a:pPr>
            <a:r>
              <a:rPr b="1" i="0" lang="en-US" sz="3500" u="none" cap="none" strike="noStrike">
                <a:solidFill>
                  <a:srgbClr val="29303C"/>
                </a:solidFill>
                <a:latin typeface="Arial"/>
                <a:ea typeface="Arial"/>
                <a:cs typeface="Arial"/>
                <a:sym typeface="Arial"/>
              </a:rPr>
              <a:t>Imágenes y Contenedores</a:t>
            </a:r>
            <a:endParaRPr b="0" i="0" sz="1400" u="none" cap="none" strike="noStrike">
              <a:solidFill>
                <a:srgbClr val="000000"/>
              </a:solidFill>
              <a:latin typeface="Arial"/>
              <a:ea typeface="Arial"/>
              <a:cs typeface="Arial"/>
              <a:sym typeface="Arial"/>
            </a:endParaRPr>
          </a:p>
        </p:txBody>
      </p:sp>
      <p:grpSp>
        <p:nvGrpSpPr>
          <p:cNvPr id="437" name="Google Shape;437;p20"/>
          <p:cNvGrpSpPr/>
          <p:nvPr/>
        </p:nvGrpSpPr>
        <p:grpSpPr>
          <a:xfrm>
            <a:off x="2905062" y="6802938"/>
            <a:ext cx="731003" cy="760368"/>
            <a:chOff x="0" y="0"/>
            <a:chExt cx="974670" cy="1013824"/>
          </a:xfrm>
        </p:grpSpPr>
        <p:sp>
          <p:nvSpPr>
            <p:cNvPr id="438" name="Google Shape;438;p20"/>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20"/>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FFFFFF"/>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grpSp>
      <p:sp>
        <p:nvSpPr>
          <p:cNvPr id="440" name="Google Shape;440;p20"/>
          <p:cNvSpPr txBox="1"/>
          <p:nvPr/>
        </p:nvSpPr>
        <p:spPr>
          <a:xfrm>
            <a:off x="3865129" y="6881497"/>
            <a:ext cx="4153793" cy="56515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500"/>
              <a:buFont typeface="Arial"/>
              <a:buNone/>
            </a:pPr>
            <a:r>
              <a:rPr b="1" i="0" lang="en-US" sz="3500" u="none" cap="none" strike="noStrike">
                <a:solidFill>
                  <a:srgbClr val="29303C"/>
                </a:solidFill>
                <a:latin typeface="Arial"/>
                <a:ea typeface="Arial"/>
                <a:cs typeface="Arial"/>
                <a:sym typeface="Arial"/>
              </a:rPr>
              <a:t>Docker Compose</a:t>
            </a:r>
            <a:endParaRPr b="0" i="0" sz="1400" u="none" cap="none" strike="noStrike">
              <a:solidFill>
                <a:srgbClr val="000000"/>
              </a:solidFill>
              <a:latin typeface="Arial"/>
              <a:ea typeface="Arial"/>
              <a:cs typeface="Arial"/>
              <a:sym typeface="Arial"/>
            </a:endParaRPr>
          </a:p>
        </p:txBody>
      </p:sp>
      <p:grpSp>
        <p:nvGrpSpPr>
          <p:cNvPr id="441" name="Google Shape;441;p20"/>
          <p:cNvGrpSpPr/>
          <p:nvPr/>
        </p:nvGrpSpPr>
        <p:grpSpPr>
          <a:xfrm>
            <a:off x="2905062" y="7833997"/>
            <a:ext cx="731003" cy="760368"/>
            <a:chOff x="0" y="0"/>
            <a:chExt cx="974670" cy="1013824"/>
          </a:xfrm>
        </p:grpSpPr>
        <p:sp>
          <p:nvSpPr>
            <p:cNvPr id="442" name="Google Shape;442;p20"/>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20"/>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FFFFFF"/>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grpSp>
      <p:sp>
        <p:nvSpPr>
          <p:cNvPr id="444" name="Google Shape;444;p20"/>
          <p:cNvSpPr txBox="1"/>
          <p:nvPr/>
        </p:nvSpPr>
        <p:spPr>
          <a:xfrm>
            <a:off x="3865129" y="7912556"/>
            <a:ext cx="4153793" cy="56515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500"/>
              <a:buFont typeface="Arial"/>
              <a:buNone/>
            </a:pPr>
            <a:r>
              <a:rPr b="1" i="0" lang="en-US" sz="3500" u="none" cap="none" strike="noStrike">
                <a:solidFill>
                  <a:srgbClr val="29303C"/>
                </a:solidFill>
                <a:latin typeface="Arial"/>
                <a:ea typeface="Arial"/>
                <a:cs typeface="Arial"/>
                <a:sym typeface="Arial"/>
              </a:rPr>
              <a:t>Cloud + Docker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21"/>
          <p:cNvSpPr/>
          <p:nvPr/>
        </p:nvSpPr>
        <p:spPr>
          <a:xfrm>
            <a:off x="-242146" y="-201788"/>
            <a:ext cx="7408840" cy="10690576"/>
          </a:xfrm>
          <a:prstGeom prst="rect">
            <a:avLst/>
          </a:prstGeom>
          <a:solidFill>
            <a:srgbClr val="1E63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21"/>
          <p:cNvSpPr/>
          <p:nvPr/>
        </p:nvSpPr>
        <p:spPr>
          <a:xfrm rot="5400000">
            <a:off x="1035086" y="8288411"/>
            <a:ext cx="689712" cy="702485"/>
          </a:xfrm>
          <a:custGeom>
            <a:rect b="b" l="l" r="r" t="t"/>
            <a:pathLst>
              <a:path extrusionOk="0" h="702485" w="689712">
                <a:moveTo>
                  <a:pt x="0" y="0"/>
                </a:moveTo>
                <a:lnTo>
                  <a:pt x="689713" y="0"/>
                </a:lnTo>
                <a:lnTo>
                  <a:pt x="689713" y="702485"/>
                </a:lnTo>
                <a:lnTo>
                  <a:pt x="0" y="702485"/>
                </a:lnTo>
                <a:lnTo>
                  <a:pt x="0" y="0"/>
                </a:lnTo>
                <a:close/>
              </a:path>
            </a:pathLst>
          </a:custGeom>
          <a:blipFill rotWithShape="1">
            <a:blip r:embed="rId3">
              <a:alphaModFix/>
            </a:blip>
            <a:stretch>
              <a:fillRect b="0" l="0" r="0" t="0"/>
            </a:stretch>
          </a:blipFill>
          <a:ln>
            <a:noFill/>
          </a:ln>
        </p:spPr>
      </p:sp>
      <p:sp>
        <p:nvSpPr>
          <p:cNvPr id="451" name="Google Shape;451;p21"/>
          <p:cNvSpPr txBox="1"/>
          <p:nvPr/>
        </p:nvSpPr>
        <p:spPr>
          <a:xfrm>
            <a:off x="935917" y="1369165"/>
            <a:ext cx="5294859" cy="941387"/>
          </a:xfrm>
          <a:prstGeom prst="rect">
            <a:avLst/>
          </a:prstGeom>
          <a:noFill/>
          <a:ln>
            <a:noFill/>
          </a:ln>
        </p:spPr>
        <p:txBody>
          <a:bodyPr anchorCtr="0" anchor="t" bIns="0" lIns="0" spcFirstLastPara="1" rIns="0" wrap="square" tIns="0">
            <a:spAutoFit/>
          </a:bodyPr>
          <a:lstStyle/>
          <a:p>
            <a:pPr indent="0" lvl="0" marL="0" marR="0" rtl="0" algn="l">
              <a:lnSpc>
                <a:spcPct val="110009"/>
              </a:lnSpc>
              <a:spcBef>
                <a:spcPts val="0"/>
              </a:spcBef>
              <a:spcAft>
                <a:spcPts val="0"/>
              </a:spcAft>
              <a:buClr>
                <a:srgbClr val="000000"/>
              </a:buClr>
              <a:buSzPts val="6624"/>
              <a:buFont typeface="Arial"/>
              <a:buNone/>
            </a:pPr>
            <a:r>
              <a:rPr b="0" i="0" lang="en-US" sz="6624" u="none" cap="none" strike="noStrike">
                <a:solidFill>
                  <a:srgbClr val="FFFFFF"/>
                </a:solidFill>
                <a:latin typeface="Hammersmith One"/>
                <a:ea typeface="Hammersmith One"/>
                <a:cs typeface="Hammersmith One"/>
                <a:sym typeface="Hammersmith One"/>
              </a:rPr>
              <a:t>REFERENCIAS</a:t>
            </a:r>
            <a:endParaRPr b="0" i="0" sz="1400" u="none" cap="none" strike="noStrike">
              <a:solidFill>
                <a:srgbClr val="000000"/>
              </a:solidFill>
              <a:latin typeface="Arial"/>
              <a:ea typeface="Arial"/>
              <a:cs typeface="Arial"/>
              <a:sym typeface="Arial"/>
            </a:endParaRPr>
          </a:p>
        </p:txBody>
      </p:sp>
      <p:sp>
        <p:nvSpPr>
          <p:cNvPr id="452" name="Google Shape;452;p21"/>
          <p:cNvSpPr/>
          <p:nvPr/>
        </p:nvSpPr>
        <p:spPr>
          <a:xfrm>
            <a:off x="935917" y="2310552"/>
            <a:ext cx="3863467" cy="285524"/>
          </a:xfrm>
          <a:custGeom>
            <a:rect b="b" l="l" r="r" t="t"/>
            <a:pathLst>
              <a:path extrusionOk="0" h="285524" w="3863467">
                <a:moveTo>
                  <a:pt x="0" y="0"/>
                </a:moveTo>
                <a:lnTo>
                  <a:pt x="3863468" y="0"/>
                </a:lnTo>
                <a:lnTo>
                  <a:pt x="3863468" y="285524"/>
                </a:lnTo>
                <a:lnTo>
                  <a:pt x="0" y="285524"/>
                </a:lnTo>
                <a:lnTo>
                  <a:pt x="0" y="0"/>
                </a:lnTo>
                <a:close/>
              </a:path>
            </a:pathLst>
          </a:custGeom>
          <a:blipFill rotWithShape="1">
            <a:blip r:embed="rId4">
              <a:alphaModFix/>
            </a:blip>
            <a:stretch>
              <a:fillRect b="-1042441" l="-169" r="-7085" t="-308517"/>
            </a:stretch>
          </a:blipFill>
          <a:ln>
            <a:noFill/>
          </a:ln>
        </p:spPr>
      </p:sp>
      <p:sp>
        <p:nvSpPr>
          <p:cNvPr id="453" name="Google Shape;453;p21"/>
          <p:cNvSpPr txBox="1"/>
          <p:nvPr/>
        </p:nvSpPr>
        <p:spPr>
          <a:xfrm>
            <a:off x="7744891" y="417359"/>
            <a:ext cx="9514409" cy="3650295"/>
          </a:xfrm>
          <a:prstGeom prst="rect">
            <a:avLst/>
          </a:prstGeom>
          <a:noFill/>
          <a:ln>
            <a:noFill/>
          </a:ln>
        </p:spPr>
        <p:txBody>
          <a:bodyPr anchorCtr="0" anchor="t" bIns="0" lIns="0" spcFirstLastPara="1" rIns="0" wrap="square" tIns="0">
            <a:spAutoFit/>
          </a:bodyPr>
          <a:lstStyle/>
          <a:p>
            <a:pPr indent="-304982" lvl="1" marL="609967" marR="0" rtl="0" algn="l">
              <a:lnSpc>
                <a:spcPct val="129981"/>
              </a:lnSpc>
              <a:spcBef>
                <a:spcPts val="0"/>
              </a:spcBef>
              <a:spcAft>
                <a:spcPts val="0"/>
              </a:spcAft>
              <a:buClr>
                <a:srgbClr val="29303C"/>
              </a:buClr>
              <a:buSzPts val="2825"/>
              <a:buFont typeface="Arial"/>
              <a:buChar char="•"/>
            </a:pPr>
            <a:r>
              <a:rPr b="1" i="0" lang="en-US" sz="2825" u="none" cap="none" strike="noStrike">
                <a:solidFill>
                  <a:srgbClr val="29303C"/>
                </a:solidFill>
                <a:latin typeface="Arial"/>
                <a:ea typeface="Arial"/>
                <a:cs typeface="Arial"/>
                <a:sym typeface="Arial"/>
              </a:rPr>
              <a:t>Docker, Inc. (n.d.). What is Docker?. Docker Docs.  </a:t>
            </a:r>
            <a:r>
              <a:rPr b="0" i="0" lang="en-US" sz="2825" u="none" cap="none" strike="noStrike">
                <a:solidFill>
                  <a:srgbClr val="29303C"/>
                </a:solidFill>
                <a:latin typeface="Arial"/>
                <a:ea typeface="Arial"/>
                <a:cs typeface="Arial"/>
                <a:sym typeface="Arial"/>
              </a:rPr>
              <a:t>https://learn.microsoft.com/en-us/power-platform/</a:t>
            </a:r>
            <a:endParaRPr b="0" i="0" sz="1400" u="none" cap="none" strike="noStrike">
              <a:solidFill>
                <a:srgbClr val="000000"/>
              </a:solidFill>
              <a:latin typeface="Arial"/>
              <a:ea typeface="Arial"/>
              <a:cs typeface="Arial"/>
              <a:sym typeface="Arial"/>
            </a:endParaRPr>
          </a:p>
          <a:p>
            <a:pPr indent="-304982" lvl="1" marL="609967" marR="0" rtl="0" algn="l">
              <a:lnSpc>
                <a:spcPct val="129981"/>
              </a:lnSpc>
              <a:spcBef>
                <a:spcPts val="0"/>
              </a:spcBef>
              <a:spcAft>
                <a:spcPts val="0"/>
              </a:spcAft>
              <a:buClr>
                <a:srgbClr val="29303C"/>
              </a:buClr>
              <a:buSzPts val="2825"/>
              <a:buFont typeface="Arial"/>
              <a:buChar char="•"/>
            </a:pPr>
            <a:r>
              <a:rPr b="1" i="0" lang="en-US" sz="2825" u="none" cap="none" strike="noStrike">
                <a:solidFill>
                  <a:srgbClr val="29303C"/>
                </a:solidFill>
                <a:latin typeface="Arial"/>
                <a:ea typeface="Arial"/>
                <a:cs typeface="Arial"/>
                <a:sym typeface="Arial"/>
              </a:rPr>
              <a:t>Docker, Inc. (n.d.). Use volumes. Docker Docs. </a:t>
            </a:r>
            <a:r>
              <a:rPr b="0" i="0" lang="en-US" sz="2825" u="none" cap="none" strike="noStrike">
                <a:solidFill>
                  <a:srgbClr val="29303C"/>
                </a:solidFill>
                <a:latin typeface="Arial"/>
                <a:ea typeface="Arial"/>
                <a:cs typeface="Arial"/>
                <a:sym typeface="Arial"/>
              </a:rPr>
              <a:t>https://docs.docker.com/storage/volumes/</a:t>
            </a:r>
            <a:endParaRPr b="0" i="0" sz="1400" u="none" cap="none" strike="noStrike">
              <a:solidFill>
                <a:srgbClr val="000000"/>
              </a:solidFill>
              <a:latin typeface="Arial"/>
              <a:ea typeface="Arial"/>
              <a:cs typeface="Arial"/>
              <a:sym typeface="Arial"/>
            </a:endParaRPr>
          </a:p>
          <a:p>
            <a:pPr indent="-304982" lvl="1" marL="609967" marR="0" rtl="0" algn="l">
              <a:lnSpc>
                <a:spcPct val="129981"/>
              </a:lnSpc>
              <a:spcBef>
                <a:spcPts val="0"/>
              </a:spcBef>
              <a:spcAft>
                <a:spcPts val="0"/>
              </a:spcAft>
              <a:buClr>
                <a:srgbClr val="29303C"/>
              </a:buClr>
              <a:buSzPts val="2825"/>
              <a:buFont typeface="Arial"/>
              <a:buChar char="•"/>
            </a:pPr>
            <a:r>
              <a:rPr b="1" i="0" lang="en-US" sz="2825" u="none" cap="none" strike="noStrike">
                <a:solidFill>
                  <a:srgbClr val="29303C"/>
                </a:solidFill>
                <a:latin typeface="Arial"/>
                <a:ea typeface="Arial"/>
                <a:cs typeface="Arial"/>
                <a:sym typeface="Arial"/>
              </a:rPr>
              <a:t>Docker, Inc. (n.d.). Networking overview. Docker Docs.</a:t>
            </a:r>
            <a:r>
              <a:rPr b="0" i="0" lang="en-US" sz="2825" u="none" cap="none" strike="noStrike">
                <a:solidFill>
                  <a:srgbClr val="29303C"/>
                </a:solidFill>
                <a:latin typeface="Arial"/>
                <a:ea typeface="Arial"/>
                <a:cs typeface="Arial"/>
                <a:sym typeface="Arial"/>
              </a:rPr>
              <a:t> https://learn.microsoft.com/en-us/power-apps/</a:t>
            </a:r>
            <a:endParaRPr b="0" i="0" sz="1400" u="none" cap="none" strike="noStrike">
              <a:solidFill>
                <a:srgbClr val="000000"/>
              </a:solidFill>
              <a:latin typeface="Arial"/>
              <a:ea typeface="Arial"/>
              <a:cs typeface="Arial"/>
              <a:sym typeface="Arial"/>
            </a:endParaRPr>
          </a:p>
          <a:p>
            <a:pPr indent="-304982" lvl="1" marL="609967" marR="0" rtl="0" algn="l">
              <a:lnSpc>
                <a:spcPct val="129981"/>
              </a:lnSpc>
              <a:spcBef>
                <a:spcPts val="0"/>
              </a:spcBef>
              <a:spcAft>
                <a:spcPts val="0"/>
              </a:spcAft>
              <a:buClr>
                <a:srgbClr val="29303C"/>
              </a:buClr>
              <a:buSzPts val="2825"/>
              <a:buFont typeface="Arial"/>
              <a:buChar char="•"/>
            </a:pPr>
            <a:r>
              <a:rPr b="1" i="0" lang="en-US" sz="2825" u="none" cap="none" strike="noStrike">
                <a:solidFill>
                  <a:srgbClr val="29303C"/>
                </a:solidFill>
                <a:latin typeface="Arial"/>
                <a:ea typeface="Arial"/>
                <a:cs typeface="Arial"/>
                <a:sym typeface="Arial"/>
              </a:rPr>
              <a:t> Docker, Inc. (n.d.). Overview of Docker Compose. Docker Docs </a:t>
            </a:r>
            <a:r>
              <a:rPr b="0" i="0" lang="en-US" sz="2825" u="none" cap="none" strike="noStrike">
                <a:solidFill>
                  <a:srgbClr val="29303C"/>
                </a:solidFill>
                <a:latin typeface="Arial"/>
                <a:ea typeface="Arial"/>
                <a:cs typeface="Arial"/>
                <a:sym typeface="Arial"/>
              </a:rPr>
              <a:t>https://docs.docker.com/compose/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22"/>
          <p:cNvSpPr txBox="1"/>
          <p:nvPr/>
        </p:nvSpPr>
        <p:spPr>
          <a:xfrm>
            <a:off x="3207779" y="4022725"/>
            <a:ext cx="11872442" cy="1120775"/>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Clr>
                <a:srgbClr val="000000"/>
              </a:buClr>
              <a:buSzPts val="6999"/>
              <a:buFont typeface="Arial"/>
              <a:buNone/>
            </a:pPr>
            <a:r>
              <a:rPr b="0" i="0" lang="en-US" sz="6999" u="none" cap="none" strike="noStrike">
                <a:solidFill>
                  <a:srgbClr val="29303C"/>
                </a:solidFill>
                <a:latin typeface="Hammersmith One"/>
                <a:ea typeface="Hammersmith One"/>
                <a:cs typeface="Hammersmith One"/>
                <a:sym typeface="Hammersmith One"/>
              </a:rPr>
              <a:t>¡GRACIAS POR SU ATENCIÓN!</a:t>
            </a:r>
            <a:endParaRPr b="0" i="0" sz="1400" u="none" cap="none" strike="noStrike">
              <a:solidFill>
                <a:srgbClr val="000000"/>
              </a:solidFill>
              <a:latin typeface="Arial"/>
              <a:ea typeface="Arial"/>
              <a:cs typeface="Arial"/>
              <a:sym typeface="Arial"/>
            </a:endParaRPr>
          </a:p>
        </p:txBody>
      </p:sp>
      <p:sp>
        <p:nvSpPr>
          <p:cNvPr id="459" name="Google Shape;459;p22"/>
          <p:cNvSpPr/>
          <p:nvPr/>
        </p:nvSpPr>
        <p:spPr>
          <a:xfrm flipH="1" rot="5679621">
            <a:off x="7672969" y="926401"/>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3">
              <a:alphaModFix/>
            </a:blip>
            <a:stretch>
              <a:fillRect b="0" l="0" r="0" t="0"/>
            </a:stretch>
          </a:blipFill>
          <a:ln>
            <a:noFill/>
          </a:ln>
        </p:spPr>
      </p:sp>
      <p:sp>
        <p:nvSpPr>
          <p:cNvPr id="460" name="Google Shape;460;p22"/>
          <p:cNvSpPr/>
          <p:nvPr/>
        </p:nvSpPr>
        <p:spPr>
          <a:xfrm flipH="1" rot="5679621">
            <a:off x="7856925" y="1104639"/>
            <a:ext cx="3138698" cy="18364721"/>
          </a:xfrm>
          <a:custGeom>
            <a:rect b="b" l="l" r="r" t="t"/>
            <a:pathLst>
              <a:path extrusionOk="0" h="18364721" w="3138698">
                <a:moveTo>
                  <a:pt x="0" y="18364722"/>
                </a:moveTo>
                <a:lnTo>
                  <a:pt x="3138697" y="18364722"/>
                </a:lnTo>
                <a:lnTo>
                  <a:pt x="3138697" y="0"/>
                </a:lnTo>
                <a:lnTo>
                  <a:pt x="0" y="0"/>
                </a:lnTo>
                <a:lnTo>
                  <a:pt x="0" y="18364722"/>
                </a:lnTo>
                <a:close/>
              </a:path>
            </a:pathLst>
          </a:custGeom>
          <a:blipFill rotWithShape="1">
            <a:blip r:embed="rId4">
              <a:alphaModFix/>
            </a:blip>
            <a:stretch>
              <a:fillRect b="0" l="0" r="0" t="0"/>
            </a:stretch>
          </a:blipFill>
          <a:ln>
            <a:noFill/>
          </a:ln>
        </p:spPr>
      </p:sp>
      <p:sp>
        <p:nvSpPr>
          <p:cNvPr id="461" name="Google Shape;461;p22"/>
          <p:cNvSpPr txBox="1"/>
          <p:nvPr/>
        </p:nvSpPr>
        <p:spPr>
          <a:xfrm>
            <a:off x="6949660" y="5086350"/>
            <a:ext cx="4341055" cy="1120775"/>
          </a:xfrm>
          <a:prstGeom prst="rect">
            <a:avLst/>
          </a:prstGeom>
          <a:noFill/>
          <a:ln>
            <a:noFill/>
          </a:ln>
        </p:spPr>
        <p:txBody>
          <a:bodyPr anchorCtr="0" anchor="t" bIns="0" lIns="0" spcFirstLastPara="1" rIns="0" wrap="square" tIns="0">
            <a:spAutoFit/>
          </a:bodyPr>
          <a:lstStyle/>
          <a:p>
            <a:pPr indent="0" lvl="0" marL="0" marR="0" rtl="0" algn="ctr">
              <a:lnSpc>
                <a:spcPct val="130004"/>
              </a:lnSpc>
              <a:spcBef>
                <a:spcPts val="0"/>
              </a:spcBef>
              <a:spcAft>
                <a:spcPts val="0"/>
              </a:spcAft>
              <a:buClr>
                <a:srgbClr val="000000"/>
              </a:buClr>
              <a:buSzPts val="6999"/>
              <a:buFont typeface="Arial"/>
              <a:buNone/>
            </a:pPr>
            <a:r>
              <a:rPr b="0" i="0" lang="en-US" sz="6999" u="none" cap="none" strike="noStrike">
                <a:solidFill>
                  <a:srgbClr val="29303C"/>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