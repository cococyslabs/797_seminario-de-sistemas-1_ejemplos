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10287000" cx="18288000"/>
  <p:notesSz cx="6858000" cy="9144000"/>
  <p:embeddedFontLst>
    <p:embeddedFont>
      <p:font typeface="Hammersmith One"/>
      <p:regular r:id="rId27"/>
    </p:embeddedFont>
    <p:embeddedFont>
      <p:font typeface="Open Sans"/>
      <p:bold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0" roundtripDataSignature="AMtx7mjOfOnfdrfN8lYbAgXRTmDjnh2S6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131906-C12E-4C13-A3AF-62A2048EAD3B}">
  <a:tblStyle styleId="{93131906-C12E-4C13-A3AF-62A2048EAD3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OpenSans-bold.fntdata"/><Relationship Id="rId27" Type="http://schemas.openxmlformats.org/officeDocument/2006/relationships/font" Target="fonts/HammersmithOn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type="title"/>
          </p:nvPr>
        </p:nvSpPr>
        <p:spPr>
          <a:xfrm>
            <a:off x="623400" y="890050"/>
            <a:ext cx="17041200" cy="114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" type="body"/>
          </p:nvPr>
        </p:nvSpPr>
        <p:spPr>
          <a:xfrm>
            <a:off x="623400" y="2304950"/>
            <a:ext cx="17041200" cy="68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indent="-317500" lvl="1" marL="914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indent="-317500" lvl="2" marL="1371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indent="-317500" lvl="3" marL="1828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indent="-317500" lvl="4" marL="22860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indent="-317500" lvl="5" marL="27432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indent="-317500" lvl="6" marL="32004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indent="-317500" lvl="7" marL="36576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indent="-317500" lvl="8" marL="411480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16944916" y="9326434"/>
            <a:ext cx="1097400" cy="78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4" name="Google Shape;44;p2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5" name="Google Shape;4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2" name="Google Shape;52;p2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4" name="Google Shape;54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3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3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6" name="Google Shape;66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2" name="Google Shape;72;p3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73" name="Google Shape;73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3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image" Target="../media/image19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png"/><Relationship Id="rId4" Type="http://schemas.openxmlformats.org/officeDocument/2006/relationships/image" Target="../media/image2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"/>
          <p:cNvPicPr preferRelativeResize="0"/>
          <p:nvPr/>
        </p:nvPicPr>
        <p:blipFill rotWithShape="1">
          <a:blip r:embed="rId3">
            <a:alphaModFix amt="62000"/>
          </a:blip>
          <a:srcRect b="0" l="0" r="0" t="0"/>
          <a:stretch/>
        </p:blipFill>
        <p:spPr>
          <a:xfrm>
            <a:off x="16903" y="1"/>
            <a:ext cx="18254198" cy="10287002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3" name="Google Shape;93;p1"/>
          <p:cNvGraphicFramePr/>
          <p:nvPr/>
        </p:nvGraphicFramePr>
        <p:xfrm>
          <a:off x="10656401" y="1940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{93131906-C12E-4C13-A3AF-62A2048EAD3B}</a:tableStyleId>
              </a:tblPr>
              <a:tblGrid>
                <a:gridCol w="3036400"/>
                <a:gridCol w="4344750"/>
              </a:tblGrid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Día, Fecha: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Martes, 22/07/2025</a:t>
                      </a:r>
                      <a:endParaRPr/>
                    </a:p>
                  </a:txBody>
                  <a:tcPr marT="182850" marB="182850" marR="182850" marL="182850"/>
                </a:tc>
              </a:tr>
              <a:tr h="798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b="1" lang="en-US" sz="2800" u="none" cap="none" strike="noStrike">
                          <a:solidFill>
                            <a:schemeClr val="dk1"/>
                          </a:solidFill>
                        </a:rPr>
                        <a:t>Hora de inicio:</a:t>
                      </a:r>
                      <a:endParaRPr/>
                    </a:p>
                  </a:txBody>
                  <a:tcPr marT="182850" marB="182850" marR="182850" marL="1828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19:00</a:t>
                      </a:r>
                      <a:endParaRPr/>
                    </a:p>
                  </a:txBody>
                  <a:tcPr marT="182850" marB="182850" marR="182850" marL="182850"/>
                </a:tc>
              </a:tr>
            </a:tbl>
          </a:graphicData>
        </a:graphic>
      </p:graphicFrame>
      <p:sp>
        <p:nvSpPr>
          <p:cNvPr id="94" name="Google Shape;94;p1"/>
          <p:cNvSpPr txBox="1"/>
          <p:nvPr/>
        </p:nvSpPr>
        <p:spPr>
          <a:xfrm>
            <a:off x="2880350" y="4516600"/>
            <a:ext cx="135840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0"/>
              <a:buFont typeface="Arial"/>
              <a:buNone/>
            </a:pPr>
            <a:r>
              <a:rPr b="0" i="0" lang="en-US" sz="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Seminario de Sistemas 1 [A]</a:t>
            </a:r>
            <a:endParaRPr b="0" i="0" sz="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2880350" y="5816015"/>
            <a:ext cx="11173200" cy="984824"/>
          </a:xfrm>
          <a:prstGeom prst="rect">
            <a:avLst/>
          </a:prstGeom>
          <a:noFill/>
          <a:ln>
            <a:noFill/>
          </a:ln>
        </p:spPr>
        <p:txBody>
          <a:bodyPr anchorCtr="0" anchor="t" bIns="182850" lIns="182850" spcFirstLastPara="1" rIns="182850" wrap="square" tIns="1828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Nombre Del Tutor.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/>
          <p:nvPr/>
        </p:nvSpPr>
        <p:spPr>
          <a:xfrm>
            <a:off x="13252288" y="201103"/>
            <a:ext cx="4684163" cy="1457826"/>
          </a:xfrm>
          <a:custGeom>
            <a:rect b="b" l="l" r="r" t="t"/>
            <a:pathLst>
              <a:path extrusionOk="0" h="1457826" w="4684163">
                <a:moveTo>
                  <a:pt x="0" y="0"/>
                </a:moveTo>
                <a:lnTo>
                  <a:pt x="4684163" y="0"/>
                </a:lnTo>
                <a:lnTo>
                  <a:pt x="4684163" y="1457827"/>
                </a:lnTo>
                <a:lnTo>
                  <a:pt x="0" y="14578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1" name="Google Shape;101;p2"/>
          <p:cNvCxnSpPr/>
          <p:nvPr/>
        </p:nvCxnSpPr>
        <p:spPr>
          <a:xfrm>
            <a:off x="507314" y="8149956"/>
            <a:ext cx="6492240" cy="0"/>
          </a:xfrm>
          <a:prstGeom prst="straightConnector1">
            <a:avLst/>
          </a:prstGeom>
          <a:noFill/>
          <a:ln cap="flat" cmpd="sng" w="38100">
            <a:solidFill>
              <a:srgbClr val="121F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" name="Google Shape;102;p2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1669741" y="2766935"/>
            <a:ext cx="15132474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UNIDAD 7</a:t>
            </a:r>
            <a:endParaRPr/>
          </a:p>
          <a:p>
            <a:pPr indent="0" lvl="0" marL="0" marR="0" rtl="0" algn="ctr">
              <a:lnSpc>
                <a:spcPct val="139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“Configuración de Arquitecturas Serverless”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507314" y="8207106"/>
            <a:ext cx="4887216" cy="13139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Escuela de Ingenieria de Ciencias y Sistemas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Facultad de Ingenieria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94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Universidad de San Carlos de Guatemala</a:t>
            </a:r>
            <a:endParaRPr/>
          </a:p>
          <a:p>
            <a:pPr indent="0" lvl="0" marL="0" marR="0" rtl="0" algn="l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94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507314" y="7380141"/>
            <a:ext cx="6186876" cy="679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Seminario de Sistemas 1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7" name="Google Shape;107;p2"/>
          <p:cNvCxnSpPr/>
          <p:nvPr/>
        </p:nvCxnSpPr>
        <p:spPr>
          <a:xfrm>
            <a:off x="6360815" y="3853064"/>
            <a:ext cx="5861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3"/>
          <p:cNvGrpSpPr/>
          <p:nvPr/>
        </p:nvGrpSpPr>
        <p:grpSpPr>
          <a:xfrm>
            <a:off x="1421964" y="2747250"/>
            <a:ext cx="731003" cy="760368"/>
            <a:chOff x="0" y="0"/>
            <a:chExt cx="974670" cy="1013824"/>
          </a:xfrm>
        </p:grpSpPr>
        <p:sp>
          <p:nvSpPr>
            <p:cNvPr id="113" name="Google Shape;113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4" name="Google Shape;114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115" name="Google Shape;115;p3"/>
          <p:cNvSpPr/>
          <p:nvPr/>
        </p:nvSpPr>
        <p:spPr>
          <a:xfrm rot="5400000">
            <a:off x="12857023" y="4742132"/>
            <a:ext cx="10861953" cy="802736"/>
          </a:xfrm>
          <a:custGeom>
            <a:rect b="b" l="l" r="r" t="t"/>
            <a:pathLst>
              <a:path extrusionOk="0" h="802736" w="10861953">
                <a:moveTo>
                  <a:pt x="0" y="0"/>
                </a:moveTo>
                <a:lnTo>
                  <a:pt x="10861954" y="0"/>
                </a:lnTo>
                <a:lnTo>
                  <a:pt x="10861954" y="802736"/>
                </a:lnTo>
                <a:lnTo>
                  <a:pt x="0" y="8027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6" name="Google Shape;116;p3"/>
          <p:cNvGrpSpPr/>
          <p:nvPr/>
        </p:nvGrpSpPr>
        <p:grpSpPr>
          <a:xfrm>
            <a:off x="1421964" y="5820388"/>
            <a:ext cx="731003" cy="760368"/>
            <a:chOff x="0" y="0"/>
            <a:chExt cx="974670" cy="1013824"/>
          </a:xfrm>
        </p:grpSpPr>
        <p:sp>
          <p:nvSpPr>
            <p:cNvPr id="117" name="Google Shape;117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119" name="Google Shape;119;p3"/>
          <p:cNvGrpSpPr/>
          <p:nvPr/>
        </p:nvGrpSpPr>
        <p:grpSpPr>
          <a:xfrm>
            <a:off x="1421964" y="6990935"/>
            <a:ext cx="731003" cy="760368"/>
            <a:chOff x="0" y="0"/>
            <a:chExt cx="974670" cy="1013824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cxnSp>
        <p:nvCxnSpPr>
          <p:cNvPr id="122" name="Google Shape;122;p3"/>
          <p:cNvCxnSpPr/>
          <p:nvPr/>
        </p:nvCxnSpPr>
        <p:spPr>
          <a:xfrm>
            <a:off x="1211924" y="2318625"/>
            <a:ext cx="4643555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" name="Google Shape;123;p3"/>
          <p:cNvCxnSpPr/>
          <p:nvPr/>
        </p:nvCxnSpPr>
        <p:spPr>
          <a:xfrm>
            <a:off x="1211924" y="5296513"/>
            <a:ext cx="2129220" cy="0"/>
          </a:xfrm>
          <a:prstGeom prst="straightConnector1">
            <a:avLst/>
          </a:prstGeom>
          <a:noFill/>
          <a:ln cap="flat" cmpd="sng" w="38100">
            <a:solidFill>
              <a:srgbClr val="29303C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" name="Google Shape;124;p3"/>
          <p:cNvSpPr txBox="1"/>
          <p:nvPr/>
        </p:nvSpPr>
        <p:spPr>
          <a:xfrm>
            <a:off x="7337346" y="274507"/>
            <a:ext cx="347502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AGENDA</a:t>
            </a:r>
            <a:endParaRPr/>
          </a:p>
        </p:txBody>
      </p:sp>
      <p:sp>
        <p:nvSpPr>
          <p:cNvPr id="125" name="Google Shape;125;p3"/>
          <p:cNvSpPr txBox="1"/>
          <p:nvPr/>
        </p:nvSpPr>
        <p:spPr>
          <a:xfrm>
            <a:off x="2640377" y="2830096"/>
            <a:ext cx="140153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Foro 5</a:t>
            </a:r>
            <a:endParaRPr/>
          </a:p>
        </p:txBody>
      </p:sp>
      <p:sp>
        <p:nvSpPr>
          <p:cNvPr id="126" name="Google Shape;126;p3"/>
          <p:cNvSpPr txBox="1"/>
          <p:nvPr/>
        </p:nvSpPr>
        <p:spPr>
          <a:xfrm>
            <a:off x="2335952" y="5933228"/>
            <a:ext cx="9942352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AWS Lambda: Ejecución de código sin servidores.</a:t>
            </a:r>
            <a:endParaRPr/>
          </a:p>
        </p:txBody>
      </p:sp>
      <p:sp>
        <p:nvSpPr>
          <p:cNvPr id="127" name="Google Shape;127;p3"/>
          <p:cNvSpPr txBox="1"/>
          <p:nvPr/>
        </p:nvSpPr>
        <p:spPr>
          <a:xfrm>
            <a:off x="2335952" y="7073780"/>
            <a:ext cx="7995369" cy="5565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25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Amazon API Gateway: Gestión de APIs.</a:t>
            </a:r>
            <a:endParaRPr/>
          </a:p>
        </p:txBody>
      </p:sp>
      <p:sp>
        <p:nvSpPr>
          <p:cNvPr id="128" name="Google Shape;128;p3"/>
          <p:cNvSpPr txBox="1"/>
          <p:nvPr/>
        </p:nvSpPr>
        <p:spPr>
          <a:xfrm>
            <a:off x="1211924" y="1300032"/>
            <a:ext cx="4643555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Recordatorios</a:t>
            </a:r>
            <a:endParaRPr/>
          </a:p>
        </p:txBody>
      </p:sp>
      <p:sp>
        <p:nvSpPr>
          <p:cNvPr id="129" name="Google Shape;129;p3"/>
          <p:cNvSpPr txBox="1"/>
          <p:nvPr/>
        </p:nvSpPr>
        <p:spPr>
          <a:xfrm>
            <a:off x="1211924" y="4208720"/>
            <a:ext cx="2248057" cy="8870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199">
                <a:solidFill>
                  <a:srgbClr val="29303C"/>
                </a:solidFill>
                <a:latin typeface="Open Sans"/>
                <a:ea typeface="Open Sans"/>
                <a:cs typeface="Open Sans"/>
                <a:sym typeface="Open Sans"/>
              </a:rPr>
              <a:t>Temas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4" name="Google Shape;134;p4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35" name="Google Shape;135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7" name="Google Shape;137;p4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38" name="Google Shape;138;p4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9" name="Google Shape;139;p4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4"/>
          <p:cNvGrpSpPr/>
          <p:nvPr/>
        </p:nvGrpSpPr>
        <p:grpSpPr>
          <a:xfrm>
            <a:off x="11812774" y="9645946"/>
            <a:ext cx="1419225" cy="641054"/>
            <a:chOff x="0" y="-38100"/>
            <a:chExt cx="373788" cy="168838"/>
          </a:xfrm>
        </p:grpSpPr>
        <p:sp>
          <p:nvSpPr>
            <p:cNvPr id="141" name="Google Shape;141;p4"/>
            <p:cNvSpPr/>
            <p:nvPr/>
          </p:nvSpPr>
          <p:spPr>
            <a:xfrm>
              <a:off x="0" y="0"/>
              <a:ext cx="373788" cy="130738"/>
            </a:xfrm>
            <a:custGeom>
              <a:rect b="b" l="l" r="r" t="t"/>
              <a:pathLst>
                <a:path extrusionOk="0" h="130738" w="373788">
                  <a:moveTo>
                    <a:pt x="0" y="0"/>
                  </a:moveTo>
                  <a:lnTo>
                    <a:pt x="373788" y="0"/>
                  </a:lnTo>
                  <a:lnTo>
                    <a:pt x="373788" y="130738"/>
                  </a:lnTo>
                  <a:lnTo>
                    <a:pt x="0" y="13073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0" y="-38100"/>
              <a:ext cx="373788" cy="1688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3" name="Google Shape;143;p4"/>
          <p:cNvGrpSpPr/>
          <p:nvPr/>
        </p:nvGrpSpPr>
        <p:grpSpPr>
          <a:xfrm>
            <a:off x="12038199" y="9467051"/>
            <a:ext cx="6249801" cy="819949"/>
            <a:chOff x="0" y="-38100"/>
            <a:chExt cx="1646038" cy="215954"/>
          </a:xfrm>
        </p:grpSpPr>
        <p:sp>
          <p:nvSpPr>
            <p:cNvPr id="144" name="Google Shape;144;p4"/>
            <p:cNvSpPr/>
            <p:nvPr/>
          </p:nvSpPr>
          <p:spPr>
            <a:xfrm>
              <a:off x="0" y="0"/>
              <a:ext cx="1646038" cy="177854"/>
            </a:xfrm>
            <a:custGeom>
              <a:rect b="b" l="l" r="r" t="t"/>
              <a:pathLst>
                <a:path extrusionOk="0" h="177854" w="1646038">
                  <a:moveTo>
                    <a:pt x="0" y="0"/>
                  </a:moveTo>
                  <a:lnTo>
                    <a:pt x="1646038" y="0"/>
                  </a:lnTo>
                  <a:lnTo>
                    <a:pt x="1646038" y="177854"/>
                  </a:lnTo>
                  <a:lnTo>
                    <a:pt x="0" y="177854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5" name="Google Shape;145;p4"/>
            <p:cNvSpPr txBox="1"/>
            <p:nvPr/>
          </p:nvSpPr>
          <p:spPr>
            <a:xfrm>
              <a:off x="0" y="-38100"/>
              <a:ext cx="1646038" cy="2159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p4"/>
          <p:cNvSpPr/>
          <p:nvPr/>
        </p:nvSpPr>
        <p:spPr>
          <a:xfrm>
            <a:off x="7074009" y="5257800"/>
            <a:ext cx="4139981" cy="4139981"/>
          </a:xfrm>
          <a:custGeom>
            <a:rect b="b" l="l" r="r" t="t"/>
            <a:pathLst>
              <a:path extrusionOk="0" h="4139981" w="4139981">
                <a:moveTo>
                  <a:pt x="0" y="0"/>
                </a:moveTo>
                <a:lnTo>
                  <a:pt x="4139982" y="0"/>
                </a:lnTo>
                <a:lnTo>
                  <a:pt x="4139982" y="4139981"/>
                </a:lnTo>
                <a:lnTo>
                  <a:pt x="0" y="413998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 txBox="1"/>
          <p:nvPr/>
        </p:nvSpPr>
        <p:spPr>
          <a:xfrm>
            <a:off x="4572004" y="-279073"/>
            <a:ext cx="8755500" cy="247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Serverless?</a:t>
            </a:r>
            <a:endParaRPr/>
          </a:p>
        </p:txBody>
      </p:sp>
      <p:sp>
        <p:nvSpPr>
          <p:cNvPr id="148" name="Google Shape;148;p4"/>
          <p:cNvSpPr txBox="1"/>
          <p:nvPr/>
        </p:nvSpPr>
        <p:spPr>
          <a:xfrm>
            <a:off x="1474698" y="2181225"/>
            <a:ext cx="15338604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 computing es un modelo de ejecución de computación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en la nube en el que los desarrolladores ya no tienen que gestionar servidores, solo despliegan 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código.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 no significa que no haya servidores,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significa que simplemente no se gestionan, provisionan o ven.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0" y="8824911"/>
            <a:ext cx="7251395" cy="1479444"/>
            <a:chOff x="0" y="-38100"/>
            <a:chExt cx="1909832" cy="389648"/>
          </a:xfrm>
        </p:grpSpPr>
        <p:sp>
          <p:nvSpPr>
            <p:cNvPr id="154" name="Google Shape;154;p5"/>
            <p:cNvSpPr/>
            <p:nvPr/>
          </p:nvSpPr>
          <p:spPr>
            <a:xfrm>
              <a:off x="0" y="0"/>
              <a:ext cx="1909832" cy="351548"/>
            </a:xfrm>
            <a:custGeom>
              <a:rect b="b" l="l" r="r" t="t"/>
              <a:pathLst>
                <a:path extrusionOk="0" h="351548" w="1909832">
                  <a:moveTo>
                    <a:pt x="0" y="0"/>
                  </a:moveTo>
                  <a:lnTo>
                    <a:pt x="1909832" y="0"/>
                  </a:lnTo>
                  <a:lnTo>
                    <a:pt x="1909832" y="351548"/>
                  </a:lnTo>
                  <a:lnTo>
                    <a:pt x="0" y="35154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5"/>
            <p:cNvSpPr txBox="1"/>
            <p:nvPr/>
          </p:nvSpPr>
          <p:spPr>
            <a:xfrm>
              <a:off x="0" y="-38100"/>
              <a:ext cx="1909832" cy="3896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6" name="Google Shape;156;p5"/>
          <p:cNvGrpSpPr/>
          <p:nvPr/>
        </p:nvGrpSpPr>
        <p:grpSpPr>
          <a:xfrm>
            <a:off x="0" y="9233552"/>
            <a:ext cx="18288000" cy="1053448"/>
            <a:chOff x="0" y="-38100"/>
            <a:chExt cx="4816593" cy="277451"/>
          </a:xfrm>
        </p:grpSpPr>
        <p:sp>
          <p:nvSpPr>
            <p:cNvPr id="157" name="Google Shape;157;p5"/>
            <p:cNvSpPr/>
            <p:nvPr/>
          </p:nvSpPr>
          <p:spPr>
            <a:xfrm>
              <a:off x="0" y="0"/>
              <a:ext cx="4816592" cy="239351"/>
            </a:xfrm>
            <a:custGeom>
              <a:rect b="b" l="l" r="r" t="t"/>
              <a:pathLst>
                <a:path extrusionOk="0" h="23935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39351"/>
                  </a:lnTo>
                  <a:lnTo>
                    <a:pt x="0" y="23935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p5"/>
            <p:cNvSpPr txBox="1"/>
            <p:nvPr/>
          </p:nvSpPr>
          <p:spPr>
            <a:xfrm>
              <a:off x="0" y="-38100"/>
              <a:ext cx="4816593" cy="2774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p5"/>
          <p:cNvSpPr/>
          <p:nvPr/>
        </p:nvSpPr>
        <p:spPr>
          <a:xfrm>
            <a:off x="11299652" y="1790396"/>
            <a:ext cx="5959648" cy="6356958"/>
          </a:xfrm>
          <a:custGeom>
            <a:rect b="b" l="l" r="r" t="t"/>
            <a:pathLst>
              <a:path extrusionOk="0" h="6356958" w="5959648">
                <a:moveTo>
                  <a:pt x="0" y="0"/>
                </a:moveTo>
                <a:lnTo>
                  <a:pt x="5959648" y="0"/>
                </a:lnTo>
                <a:lnTo>
                  <a:pt x="5959648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 txBox="1"/>
          <p:nvPr/>
        </p:nvSpPr>
        <p:spPr>
          <a:xfrm>
            <a:off x="1028700" y="1812925"/>
            <a:ext cx="8046378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 en AWS</a:t>
            </a:r>
            <a:endParaRPr/>
          </a:p>
        </p:txBody>
      </p:sp>
      <p:sp>
        <p:nvSpPr>
          <p:cNvPr id="161" name="Google Shape;161;p5"/>
          <p:cNvSpPr txBox="1"/>
          <p:nvPr/>
        </p:nvSpPr>
        <p:spPr>
          <a:xfrm>
            <a:off x="1028700" y="2905125"/>
            <a:ext cx="9337854" cy="444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 esta arquitectura</a:t>
            </a: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podemos trasladar más responsabilidades operativas a AWS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y se aumenta la agilidad y la innovación.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Nos permite eliminar las tareas de administración de infraestructura,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como el aprovisionamiento de servidores, clústeres, parches, el mantenimiento de sistemas operativos y la capacidad de aprovisionamiento.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6" name="Google Shape;166;p6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67" name="Google Shape;167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6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70" name="Google Shape;170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6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73" name="Google Shape;173;p6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6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76" name="Google Shape;176;p6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8" name="Google Shape;178;p6"/>
          <p:cNvSpPr/>
          <p:nvPr/>
        </p:nvSpPr>
        <p:spPr>
          <a:xfrm>
            <a:off x="2261035" y="2734462"/>
            <a:ext cx="13765929" cy="4818075"/>
          </a:xfrm>
          <a:custGeom>
            <a:rect b="b" l="l" r="r" t="t"/>
            <a:pathLst>
              <a:path extrusionOk="0" h="4818075" w="13765929">
                <a:moveTo>
                  <a:pt x="0" y="0"/>
                </a:moveTo>
                <a:lnTo>
                  <a:pt x="13765930" y="0"/>
                </a:lnTo>
                <a:lnTo>
                  <a:pt x="13765930" y="4818076"/>
                </a:lnTo>
                <a:lnTo>
                  <a:pt x="0" y="48180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3" name="Google Shape;183;p7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184" name="Google Shape;184;p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7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187" name="Google Shape;187;p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9" name="Google Shape;189;p7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190" name="Google Shape;190;p7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7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" name="Google Shape;192;p7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193" name="Google Shape;193;p7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7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p7"/>
          <p:cNvSpPr/>
          <p:nvPr/>
        </p:nvSpPr>
        <p:spPr>
          <a:xfrm>
            <a:off x="7210621" y="5570739"/>
            <a:ext cx="3687829" cy="4325899"/>
          </a:xfrm>
          <a:custGeom>
            <a:rect b="b" l="l" r="r" t="t"/>
            <a:pathLst>
              <a:path extrusionOk="0" h="4325899" w="3687829">
                <a:moveTo>
                  <a:pt x="0" y="0"/>
                </a:moveTo>
                <a:lnTo>
                  <a:pt x="3687828" y="0"/>
                </a:lnTo>
                <a:lnTo>
                  <a:pt x="3687828" y="4325899"/>
                </a:lnTo>
                <a:lnTo>
                  <a:pt x="0" y="432589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7"/>
          <p:cNvSpPr txBox="1"/>
          <p:nvPr/>
        </p:nvSpPr>
        <p:spPr>
          <a:xfrm>
            <a:off x="4356347" y="729505"/>
            <a:ext cx="953241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Lambda, ¿Qué es?</a:t>
            </a:r>
            <a:endParaRPr/>
          </a:p>
        </p:txBody>
      </p:sp>
      <p:sp>
        <p:nvSpPr>
          <p:cNvPr id="197" name="Google Shape;197;p7"/>
          <p:cNvSpPr txBox="1"/>
          <p:nvPr/>
        </p:nvSpPr>
        <p:spPr>
          <a:xfrm>
            <a:off x="1821795" y="2113164"/>
            <a:ext cx="14465479" cy="34575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Lambda es un servicio sin servidor de Amazon Web Services que permite a los desarrolladores ejecutar código sin preocuparse por la gestión de la infraestructura subyacente.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Las funciones en Lambda son invocadas en respuesta a eventos específicos, como cambios en datos de almacenamiento en S3 o actualizaciones en bases de datos en DynamoDB.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"/>
          <p:cNvSpPr/>
          <p:nvPr/>
        </p:nvSpPr>
        <p:spPr>
          <a:xfrm flipH="1" rot="10800000">
            <a:off x="-742919" y="1131592"/>
            <a:ext cx="2235888" cy="13082323"/>
          </a:xfrm>
          <a:custGeom>
            <a:rect b="b" l="l" r="r" t="t"/>
            <a:pathLst>
              <a:path extrusionOk="0" h="13082323" w="2235888">
                <a:moveTo>
                  <a:pt x="0" y="13082322"/>
                </a:moveTo>
                <a:lnTo>
                  <a:pt x="2235888" y="13082322"/>
                </a:lnTo>
                <a:lnTo>
                  <a:pt x="2235888" y="0"/>
                </a:lnTo>
                <a:lnTo>
                  <a:pt x="0" y="0"/>
                </a:lnTo>
                <a:lnTo>
                  <a:pt x="0" y="13082322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8"/>
          <p:cNvSpPr/>
          <p:nvPr/>
        </p:nvSpPr>
        <p:spPr>
          <a:xfrm flipH="1" rot="5679621">
            <a:off x="13549610" y="-9711175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8"/>
          <p:cNvSpPr txBox="1"/>
          <p:nvPr/>
        </p:nvSpPr>
        <p:spPr>
          <a:xfrm>
            <a:off x="1127476" y="887925"/>
            <a:ext cx="132144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AWS Lambda</a:t>
            </a:r>
            <a:endParaRPr/>
          </a:p>
        </p:txBody>
      </p:sp>
      <p:grpSp>
        <p:nvGrpSpPr>
          <p:cNvPr id="205" name="Google Shape;205;p8"/>
          <p:cNvGrpSpPr/>
          <p:nvPr/>
        </p:nvGrpSpPr>
        <p:grpSpPr>
          <a:xfrm>
            <a:off x="1127467" y="2492925"/>
            <a:ext cx="731003" cy="760368"/>
            <a:chOff x="0" y="0"/>
            <a:chExt cx="974670" cy="1013824"/>
          </a:xfrm>
        </p:grpSpPr>
        <p:sp>
          <p:nvSpPr>
            <p:cNvPr id="206" name="Google Shape;20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sp>
        <p:nvSpPr>
          <p:cNvPr id="208" name="Google Shape;208;p8"/>
          <p:cNvSpPr txBox="1"/>
          <p:nvPr/>
        </p:nvSpPr>
        <p:spPr>
          <a:xfrm>
            <a:off x="2031400" y="2615934"/>
            <a:ext cx="8614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Admite varios lenguajes de programación</a:t>
            </a:r>
            <a:endParaRPr/>
          </a:p>
        </p:txBody>
      </p:sp>
      <p:grpSp>
        <p:nvGrpSpPr>
          <p:cNvPr id="209" name="Google Shape;209;p8"/>
          <p:cNvGrpSpPr/>
          <p:nvPr/>
        </p:nvGrpSpPr>
        <p:grpSpPr>
          <a:xfrm>
            <a:off x="1127467" y="3736709"/>
            <a:ext cx="731003" cy="760368"/>
            <a:chOff x="0" y="0"/>
            <a:chExt cx="974670" cy="1013824"/>
          </a:xfrm>
        </p:grpSpPr>
        <p:sp>
          <p:nvSpPr>
            <p:cNvPr id="210" name="Google Shape;210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sp>
        <p:nvSpPr>
          <p:cNvPr id="212" name="Google Shape;212;p8"/>
          <p:cNvSpPr txBox="1"/>
          <p:nvPr/>
        </p:nvSpPr>
        <p:spPr>
          <a:xfrm>
            <a:off x="2031400" y="3612068"/>
            <a:ext cx="1353577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 automáticamente según la carga de trabajo y factura solo por el tiempo de ejecución y los recursos utilizados.</a:t>
            </a:r>
            <a:endParaRPr/>
          </a:p>
        </p:txBody>
      </p:sp>
      <p:grpSp>
        <p:nvGrpSpPr>
          <p:cNvPr id="213" name="Google Shape;213;p8"/>
          <p:cNvGrpSpPr/>
          <p:nvPr/>
        </p:nvGrpSpPr>
        <p:grpSpPr>
          <a:xfrm>
            <a:off x="1127467" y="5079734"/>
            <a:ext cx="731003" cy="760368"/>
            <a:chOff x="0" y="0"/>
            <a:chExt cx="974670" cy="1013824"/>
          </a:xfrm>
        </p:grpSpPr>
        <p:sp>
          <p:nvSpPr>
            <p:cNvPr id="214" name="Google Shape;214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216" name="Google Shape;216;p8"/>
          <p:cNvSpPr txBox="1"/>
          <p:nvPr/>
        </p:nvSpPr>
        <p:spPr>
          <a:xfrm>
            <a:off x="2031400" y="4955093"/>
            <a:ext cx="15043904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Su integración con otros servicios de AWS facilita la construcción de aplicaciones escalables y ágiles</a:t>
            </a:r>
            <a:endParaRPr/>
          </a:p>
        </p:txBody>
      </p:sp>
      <p:grpSp>
        <p:nvGrpSpPr>
          <p:cNvPr id="217" name="Google Shape;217;p8"/>
          <p:cNvGrpSpPr/>
          <p:nvPr/>
        </p:nvGrpSpPr>
        <p:grpSpPr>
          <a:xfrm>
            <a:off x="1127467" y="6326693"/>
            <a:ext cx="731003" cy="760368"/>
            <a:chOff x="0" y="0"/>
            <a:chExt cx="974670" cy="1013824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sp>
        <p:nvSpPr>
          <p:cNvPr id="220" name="Google Shape;220;p8"/>
          <p:cNvSpPr txBox="1"/>
          <p:nvPr/>
        </p:nvSpPr>
        <p:spPr>
          <a:xfrm>
            <a:off x="2031400" y="6451334"/>
            <a:ext cx="91860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Fácil monitorización a través de AWS CloudWatch</a:t>
            </a:r>
            <a:endParaRPr/>
          </a:p>
        </p:txBody>
      </p:sp>
      <p:grpSp>
        <p:nvGrpSpPr>
          <p:cNvPr id="221" name="Google Shape;221;p8"/>
          <p:cNvGrpSpPr/>
          <p:nvPr/>
        </p:nvGrpSpPr>
        <p:grpSpPr>
          <a:xfrm>
            <a:off x="1127467" y="7552970"/>
            <a:ext cx="731003" cy="760368"/>
            <a:chOff x="0" y="0"/>
            <a:chExt cx="974670" cy="1013824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224" name="Google Shape;224;p8"/>
          <p:cNvSpPr txBox="1"/>
          <p:nvPr/>
        </p:nvSpPr>
        <p:spPr>
          <a:xfrm>
            <a:off x="2031400" y="7449011"/>
            <a:ext cx="13087559" cy="9810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Dirigido por eventos</a:t>
            </a: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: Las funciones son invocadas por AWS cuando se necesitan</a:t>
            </a:r>
            <a:endParaRPr/>
          </a:p>
        </p:txBody>
      </p:sp>
      <p:grpSp>
        <p:nvGrpSpPr>
          <p:cNvPr id="225" name="Google Shape;225;p8"/>
          <p:cNvGrpSpPr/>
          <p:nvPr/>
        </p:nvGrpSpPr>
        <p:grpSpPr>
          <a:xfrm>
            <a:off x="1127467" y="8799113"/>
            <a:ext cx="731003" cy="760368"/>
            <a:chOff x="0" y="0"/>
            <a:chExt cx="974670" cy="1013824"/>
          </a:xfrm>
        </p:grpSpPr>
        <p:sp>
          <p:nvSpPr>
            <p:cNvPr id="226" name="Google Shape;226;p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228" name="Google Shape;228;p8"/>
          <p:cNvSpPr txBox="1"/>
          <p:nvPr/>
        </p:nvSpPr>
        <p:spPr>
          <a:xfrm>
            <a:off x="2031400" y="8922122"/>
            <a:ext cx="8614529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Medicion de tiempos inferiores a 1 segundo.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3" name="Google Shape;233;p9"/>
          <p:cNvGrpSpPr/>
          <p:nvPr/>
        </p:nvGrpSpPr>
        <p:grpSpPr>
          <a:xfrm>
            <a:off x="8759401" y="1892857"/>
            <a:ext cx="63924" cy="6491544"/>
            <a:chOff x="0" y="-38100"/>
            <a:chExt cx="16836" cy="1709707"/>
          </a:xfrm>
        </p:grpSpPr>
        <p:sp>
          <p:nvSpPr>
            <p:cNvPr id="234" name="Google Shape;234;p9"/>
            <p:cNvSpPr/>
            <p:nvPr/>
          </p:nvSpPr>
          <p:spPr>
            <a:xfrm>
              <a:off x="0" y="0"/>
              <a:ext cx="16836" cy="1671607"/>
            </a:xfrm>
            <a:custGeom>
              <a:rect b="b" l="l" r="r" t="t"/>
              <a:pathLst>
                <a:path extrusionOk="0" h="1671607" w="16836">
                  <a:moveTo>
                    <a:pt x="0" y="0"/>
                  </a:moveTo>
                  <a:lnTo>
                    <a:pt x="16836" y="0"/>
                  </a:lnTo>
                  <a:lnTo>
                    <a:pt x="16836" y="1671607"/>
                  </a:lnTo>
                  <a:lnTo>
                    <a:pt x="0" y="1671607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9"/>
            <p:cNvSpPr txBox="1"/>
            <p:nvPr/>
          </p:nvSpPr>
          <p:spPr>
            <a:xfrm>
              <a:off x="0" y="-38100"/>
              <a:ext cx="16836" cy="17097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6" name="Google Shape;236;p9"/>
          <p:cNvGrpSpPr/>
          <p:nvPr/>
        </p:nvGrpSpPr>
        <p:grpSpPr>
          <a:xfrm>
            <a:off x="0" y="9113639"/>
            <a:ext cx="18288000" cy="1173361"/>
            <a:chOff x="0" y="-38100"/>
            <a:chExt cx="4816593" cy="309033"/>
          </a:xfrm>
        </p:grpSpPr>
        <p:sp>
          <p:nvSpPr>
            <p:cNvPr id="237" name="Google Shape;237;p9"/>
            <p:cNvSpPr/>
            <p:nvPr/>
          </p:nvSpPr>
          <p:spPr>
            <a:xfrm>
              <a:off x="0" y="0"/>
              <a:ext cx="4816592" cy="270933"/>
            </a:xfrm>
            <a:custGeom>
              <a:rect b="b" l="l" r="r" t="t"/>
              <a:pathLst>
                <a:path extrusionOk="0"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9"/>
            <p:cNvSpPr txBox="1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9" name="Google Shape;239;p9"/>
          <p:cNvSpPr/>
          <p:nvPr/>
        </p:nvSpPr>
        <p:spPr>
          <a:xfrm>
            <a:off x="11995293" y="2158971"/>
            <a:ext cx="2095214" cy="2179677"/>
          </a:xfrm>
          <a:custGeom>
            <a:rect b="b" l="l" r="r" t="t"/>
            <a:pathLst>
              <a:path extrusionOk="0" h="2179677" w="2095214">
                <a:moveTo>
                  <a:pt x="0" y="0"/>
                </a:moveTo>
                <a:lnTo>
                  <a:pt x="2095214" y="0"/>
                </a:lnTo>
                <a:lnTo>
                  <a:pt x="2095214" y="2179677"/>
                </a:lnTo>
                <a:lnTo>
                  <a:pt x="0" y="2179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3505362" y="2037518"/>
            <a:ext cx="2101527" cy="2422583"/>
          </a:xfrm>
          <a:custGeom>
            <a:rect b="b" l="l" r="r" t="t"/>
            <a:pathLst>
              <a:path extrusionOk="0" h="2422583" w="2101527">
                <a:moveTo>
                  <a:pt x="0" y="0"/>
                </a:moveTo>
                <a:lnTo>
                  <a:pt x="2101526" y="0"/>
                </a:lnTo>
                <a:lnTo>
                  <a:pt x="2101526" y="2422583"/>
                </a:lnTo>
                <a:lnTo>
                  <a:pt x="0" y="242258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55694" l="-99707" r="-98951" t="-9827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 txBox="1"/>
          <p:nvPr/>
        </p:nvSpPr>
        <p:spPr>
          <a:xfrm>
            <a:off x="1677073" y="4431526"/>
            <a:ext cx="5758104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Servidores virtuales en el Cloud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Limitado por la RAM y la CPU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Funcionamiento continuo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Escalar significa intervenir para añadir/quitar servidores</a:t>
            </a:r>
            <a:endParaRPr/>
          </a:p>
        </p:txBody>
      </p:sp>
      <p:sp>
        <p:nvSpPr>
          <p:cNvPr id="242" name="Google Shape;242;p9"/>
          <p:cNvSpPr txBox="1"/>
          <p:nvPr/>
        </p:nvSpPr>
        <p:spPr>
          <a:xfrm>
            <a:off x="1472870" y="593725"/>
            <a:ext cx="15342260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¿Por qué AWS Lambda en lugar de funciones en EC2?</a:t>
            </a:r>
            <a:endParaRPr/>
          </a:p>
        </p:txBody>
      </p:sp>
      <p:sp>
        <p:nvSpPr>
          <p:cNvPr id="243" name="Google Shape;243;p9"/>
          <p:cNvSpPr txBox="1"/>
          <p:nvPr/>
        </p:nvSpPr>
        <p:spPr>
          <a:xfrm>
            <a:off x="10163848" y="4431526"/>
            <a:ext cx="5758104" cy="2962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No hay servidores que gestionar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Limitado por ejecuciones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Ejecución bajo demanda</a:t>
            </a:r>
            <a:endParaRPr/>
          </a:p>
          <a:p>
            <a:pPr indent="-323850" lvl="1" marL="6477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El escalamiento está automatizado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0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0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0"/>
          <p:cNvSpPr/>
          <p:nvPr/>
        </p:nvSpPr>
        <p:spPr>
          <a:xfrm>
            <a:off x="10422668" y="1134573"/>
            <a:ext cx="5392007" cy="8017855"/>
          </a:xfrm>
          <a:custGeom>
            <a:rect b="b" l="l" r="r" t="t"/>
            <a:pathLst>
              <a:path extrusionOk="0" h="8017855" w="5392007">
                <a:moveTo>
                  <a:pt x="0" y="0"/>
                </a:moveTo>
                <a:lnTo>
                  <a:pt x="5392007" y="0"/>
                </a:lnTo>
                <a:lnTo>
                  <a:pt x="5392007" y="8017854"/>
                </a:lnTo>
                <a:lnTo>
                  <a:pt x="0" y="801785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2235200" y="3978275"/>
            <a:ext cx="6449203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 la capa Gratuita?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6" name="Google Shape;256;p11"/>
          <p:cNvGrpSpPr/>
          <p:nvPr/>
        </p:nvGrpSpPr>
        <p:grpSpPr>
          <a:xfrm>
            <a:off x="-1543050" y="8931406"/>
            <a:ext cx="3086100" cy="3120318"/>
            <a:chOff x="0" y="-38100"/>
            <a:chExt cx="812800" cy="821812"/>
          </a:xfrm>
        </p:grpSpPr>
        <p:sp>
          <p:nvSpPr>
            <p:cNvPr id="257" name="Google Shape;257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" name="Google Shape;259;p11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60" name="Google Shape;260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2" name="Google Shape;262;p11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63" name="Google Shape;263;p11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11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5" name="Google Shape;265;p11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66" name="Google Shape;266;p11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11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8" name="Google Shape;268;p11"/>
          <p:cNvSpPr/>
          <p:nvPr/>
        </p:nvSpPr>
        <p:spPr>
          <a:xfrm>
            <a:off x="1763188" y="1367343"/>
            <a:ext cx="14420251" cy="8171476"/>
          </a:xfrm>
          <a:custGeom>
            <a:rect b="b" l="l" r="r" t="t"/>
            <a:pathLst>
              <a:path extrusionOk="0" h="8171476" w="14420251">
                <a:moveTo>
                  <a:pt x="0" y="0"/>
                </a:moveTo>
                <a:lnTo>
                  <a:pt x="14420251" y="0"/>
                </a:lnTo>
                <a:lnTo>
                  <a:pt x="14420251" y="8171476"/>
                </a:lnTo>
                <a:lnTo>
                  <a:pt x="0" y="817147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 cap="sq" cmpd="sng" w="38100">
            <a:solidFill>
              <a:srgbClr val="29303C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1"/>
          <p:cNvSpPr txBox="1"/>
          <p:nvPr/>
        </p:nvSpPr>
        <p:spPr>
          <a:xfrm>
            <a:off x="3948586" y="351680"/>
            <a:ext cx="1004945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Ejemplo de arquitectura de Lambda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4" name="Google Shape;274;p12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75" name="Google Shape;275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7" name="Google Shape;277;p12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78" name="Google Shape;278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0" name="Google Shape;280;p12"/>
          <p:cNvGrpSpPr/>
          <p:nvPr/>
        </p:nvGrpSpPr>
        <p:grpSpPr>
          <a:xfrm>
            <a:off x="16776087" y="-539578"/>
            <a:ext cx="2344551" cy="2157882"/>
            <a:chOff x="0" y="-38100"/>
            <a:chExt cx="617495" cy="568331"/>
          </a:xfrm>
        </p:grpSpPr>
        <p:sp>
          <p:nvSpPr>
            <p:cNvPr id="281" name="Google Shape;281;p12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12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3" name="Google Shape;283;p12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284" name="Google Shape;284;p12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12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6" name="Google Shape;286;p12"/>
          <p:cNvSpPr/>
          <p:nvPr/>
        </p:nvSpPr>
        <p:spPr>
          <a:xfrm>
            <a:off x="5235000" y="1234500"/>
            <a:ext cx="7818000" cy="7818000"/>
          </a:xfrm>
          <a:custGeom>
            <a:rect b="b" l="l" r="r" t="t"/>
            <a:pathLst>
              <a:path extrusionOk="0" h="7818000" w="7818000">
                <a:moveTo>
                  <a:pt x="0" y="0"/>
                </a:moveTo>
                <a:lnTo>
                  <a:pt x="7818000" y="0"/>
                </a:lnTo>
                <a:lnTo>
                  <a:pt x="7818000" y="7818000"/>
                </a:lnTo>
                <a:lnTo>
                  <a:pt x="0" y="7818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13"/>
          <p:cNvGrpSpPr/>
          <p:nvPr/>
        </p:nvGrpSpPr>
        <p:grpSpPr>
          <a:xfrm>
            <a:off x="-1242857" y="8804406"/>
            <a:ext cx="3086100" cy="3120318"/>
            <a:chOff x="0" y="-38100"/>
            <a:chExt cx="812800" cy="821812"/>
          </a:xfrm>
        </p:grpSpPr>
        <p:sp>
          <p:nvSpPr>
            <p:cNvPr id="292" name="Google Shape;292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3" name="Google Shape;293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4" name="Google Shape;294;p13"/>
          <p:cNvGrpSpPr/>
          <p:nvPr/>
        </p:nvGrpSpPr>
        <p:grpSpPr>
          <a:xfrm>
            <a:off x="-1753117" y="7316578"/>
            <a:ext cx="3086100" cy="3120318"/>
            <a:chOff x="0" y="-38100"/>
            <a:chExt cx="812800" cy="821812"/>
          </a:xfrm>
        </p:grpSpPr>
        <p:sp>
          <p:nvSpPr>
            <p:cNvPr id="295" name="Google Shape;295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6" name="Google Shape;296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97" name="Google Shape;297;p13"/>
          <p:cNvGrpSpPr/>
          <p:nvPr/>
        </p:nvGrpSpPr>
        <p:grpSpPr>
          <a:xfrm>
            <a:off x="16970593" y="-539578"/>
            <a:ext cx="2344551" cy="2157882"/>
            <a:chOff x="0" y="-38100"/>
            <a:chExt cx="617495" cy="568331"/>
          </a:xfrm>
        </p:grpSpPr>
        <p:sp>
          <p:nvSpPr>
            <p:cNvPr id="298" name="Google Shape;298;p13"/>
            <p:cNvSpPr/>
            <p:nvPr/>
          </p:nvSpPr>
          <p:spPr>
            <a:xfrm>
              <a:off x="0" y="0"/>
              <a:ext cx="617495" cy="530231"/>
            </a:xfrm>
            <a:custGeom>
              <a:rect b="b" l="l" r="r" t="t"/>
              <a:pathLst>
                <a:path extrusionOk="0" h="530231" w="617495">
                  <a:moveTo>
                    <a:pt x="0" y="0"/>
                  </a:moveTo>
                  <a:lnTo>
                    <a:pt x="617495" y="0"/>
                  </a:lnTo>
                  <a:lnTo>
                    <a:pt x="617495" y="530231"/>
                  </a:lnTo>
                  <a:lnTo>
                    <a:pt x="0" y="530231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13"/>
            <p:cNvSpPr txBox="1"/>
            <p:nvPr/>
          </p:nvSpPr>
          <p:spPr>
            <a:xfrm>
              <a:off x="0" y="-38100"/>
              <a:ext cx="617495" cy="568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13"/>
          <p:cNvGrpSpPr/>
          <p:nvPr/>
        </p:nvGrpSpPr>
        <p:grpSpPr>
          <a:xfrm>
            <a:off x="17259300" y="641994"/>
            <a:ext cx="3086100" cy="3120318"/>
            <a:chOff x="0" y="-38100"/>
            <a:chExt cx="812800" cy="821812"/>
          </a:xfrm>
        </p:grpSpPr>
        <p:sp>
          <p:nvSpPr>
            <p:cNvPr id="301" name="Google Shape;301;p13"/>
            <p:cNvSpPr/>
            <p:nvPr/>
          </p:nvSpPr>
          <p:spPr>
            <a:xfrm>
              <a:off x="0" y="0"/>
              <a:ext cx="812800" cy="783712"/>
            </a:xfrm>
            <a:custGeom>
              <a:rect b="b" l="l" r="r" t="t"/>
              <a:pathLst>
                <a:path extrusionOk="0" h="78371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783712"/>
                  </a:lnTo>
                  <a:lnTo>
                    <a:pt x="0" y="783712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2" name="Google Shape;302;p13"/>
            <p:cNvSpPr txBox="1"/>
            <p:nvPr/>
          </p:nvSpPr>
          <p:spPr>
            <a:xfrm>
              <a:off x="0" y="-38100"/>
              <a:ext cx="812800" cy="8218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3" name="Google Shape;303;p13"/>
          <p:cNvSpPr txBox="1"/>
          <p:nvPr/>
        </p:nvSpPr>
        <p:spPr>
          <a:xfrm>
            <a:off x="1911260" y="1771587"/>
            <a:ext cx="14465479" cy="3952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Es un servicio completamente administrado que facilita a los desarrolladores la creación, la publicación, el mantenimiento, el monitorio y la protección de API a cualquier escala.</a:t>
            </a:r>
            <a:endParaRPr/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29303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Los desarrolladores pueden usar API Gateway para definir y gestionar versiones, políticas de acceso y autenticación, transformaciones de solicitud y respuesta, así como para implementar escenarios de integración y orquestación de servicios.</a:t>
            </a:r>
            <a:endParaRPr/>
          </a:p>
        </p:txBody>
      </p:sp>
      <p:sp>
        <p:nvSpPr>
          <p:cNvPr id="304" name="Google Shape;304;p13"/>
          <p:cNvSpPr/>
          <p:nvPr/>
        </p:nvSpPr>
        <p:spPr>
          <a:xfrm>
            <a:off x="2105767" y="6470587"/>
            <a:ext cx="14076466" cy="2586551"/>
          </a:xfrm>
          <a:custGeom>
            <a:rect b="b" l="l" r="r" t="t"/>
            <a:pathLst>
              <a:path extrusionOk="0" h="2586551" w="14076466">
                <a:moveTo>
                  <a:pt x="0" y="0"/>
                </a:moveTo>
                <a:lnTo>
                  <a:pt x="14076466" y="0"/>
                </a:lnTo>
                <a:lnTo>
                  <a:pt x="14076466" y="2586551"/>
                </a:lnTo>
                <a:lnTo>
                  <a:pt x="0" y="25865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 txBox="1"/>
          <p:nvPr/>
        </p:nvSpPr>
        <p:spPr>
          <a:xfrm>
            <a:off x="5604914" y="554543"/>
            <a:ext cx="7382455" cy="81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es API Gateway?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0" name="Google Shape;310;p14"/>
          <p:cNvGrpSpPr/>
          <p:nvPr/>
        </p:nvGrpSpPr>
        <p:grpSpPr>
          <a:xfrm>
            <a:off x="311307" y="-144661"/>
            <a:ext cx="388125" cy="8565666"/>
            <a:chOff x="0" y="-38100"/>
            <a:chExt cx="102222" cy="2255978"/>
          </a:xfrm>
        </p:grpSpPr>
        <p:sp>
          <p:nvSpPr>
            <p:cNvPr id="311" name="Google Shape;311;p14"/>
            <p:cNvSpPr/>
            <p:nvPr/>
          </p:nvSpPr>
          <p:spPr>
            <a:xfrm>
              <a:off x="0" y="0"/>
              <a:ext cx="102222" cy="2217878"/>
            </a:xfrm>
            <a:custGeom>
              <a:rect b="b" l="l" r="r" t="t"/>
              <a:pathLst>
                <a:path extrusionOk="0" h="2217878" w="102222">
                  <a:moveTo>
                    <a:pt x="0" y="0"/>
                  </a:moveTo>
                  <a:lnTo>
                    <a:pt x="102222" y="0"/>
                  </a:lnTo>
                  <a:lnTo>
                    <a:pt x="102222" y="2217878"/>
                  </a:lnTo>
                  <a:lnTo>
                    <a:pt x="0" y="2217878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14"/>
            <p:cNvSpPr txBox="1"/>
            <p:nvPr/>
          </p:nvSpPr>
          <p:spPr>
            <a:xfrm>
              <a:off x="0" y="-38100"/>
              <a:ext cx="102222" cy="2255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3" name="Google Shape;313;p14"/>
          <p:cNvGrpSpPr/>
          <p:nvPr/>
        </p:nvGrpSpPr>
        <p:grpSpPr>
          <a:xfrm>
            <a:off x="0" y="-144661"/>
            <a:ext cx="505369" cy="10431661"/>
            <a:chOff x="0" y="-38100"/>
            <a:chExt cx="133101" cy="2747433"/>
          </a:xfrm>
        </p:grpSpPr>
        <p:sp>
          <p:nvSpPr>
            <p:cNvPr id="314" name="Google Shape;314;p14"/>
            <p:cNvSpPr/>
            <p:nvPr/>
          </p:nvSpPr>
          <p:spPr>
            <a:xfrm>
              <a:off x="0" y="0"/>
              <a:ext cx="133101" cy="2709333"/>
            </a:xfrm>
            <a:custGeom>
              <a:rect b="b" l="l" r="r" t="t"/>
              <a:pathLst>
                <a:path extrusionOk="0" h="2709333" w="133101">
                  <a:moveTo>
                    <a:pt x="0" y="0"/>
                  </a:moveTo>
                  <a:lnTo>
                    <a:pt x="133101" y="0"/>
                  </a:lnTo>
                  <a:lnTo>
                    <a:pt x="13310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14"/>
            <p:cNvSpPr txBox="1"/>
            <p:nvPr/>
          </p:nvSpPr>
          <p:spPr>
            <a:xfrm>
              <a:off x="0" y="-38100"/>
              <a:ext cx="13310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14"/>
          <p:cNvGrpSpPr/>
          <p:nvPr/>
        </p:nvGrpSpPr>
        <p:grpSpPr>
          <a:xfrm>
            <a:off x="17660541" y="8602991"/>
            <a:ext cx="1066563" cy="1165957"/>
            <a:chOff x="0" y="-38100"/>
            <a:chExt cx="280906" cy="307083"/>
          </a:xfrm>
        </p:grpSpPr>
        <p:sp>
          <p:nvSpPr>
            <p:cNvPr id="317" name="Google Shape;317;p14"/>
            <p:cNvSpPr/>
            <p:nvPr/>
          </p:nvSpPr>
          <p:spPr>
            <a:xfrm>
              <a:off x="0" y="0"/>
              <a:ext cx="280906" cy="268983"/>
            </a:xfrm>
            <a:custGeom>
              <a:rect b="b" l="l" r="r" t="t"/>
              <a:pathLst>
                <a:path extrusionOk="0" h="268983" w="280906">
                  <a:moveTo>
                    <a:pt x="0" y="0"/>
                  </a:moveTo>
                  <a:lnTo>
                    <a:pt x="280906" y="0"/>
                  </a:lnTo>
                  <a:lnTo>
                    <a:pt x="280906" y="268983"/>
                  </a:lnTo>
                  <a:lnTo>
                    <a:pt x="0" y="268983"/>
                  </a:lnTo>
                  <a:close/>
                </a:path>
              </a:pathLst>
            </a:cu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8" name="Google Shape;318;p14"/>
            <p:cNvSpPr txBox="1"/>
            <p:nvPr/>
          </p:nvSpPr>
          <p:spPr>
            <a:xfrm>
              <a:off x="0" y="-38100"/>
              <a:ext cx="280906" cy="3070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9" name="Google Shape;319;p14"/>
          <p:cNvGrpSpPr/>
          <p:nvPr/>
        </p:nvGrpSpPr>
        <p:grpSpPr>
          <a:xfrm>
            <a:off x="17259300" y="9113639"/>
            <a:ext cx="1467805" cy="1435160"/>
            <a:chOff x="0" y="-38100"/>
            <a:chExt cx="386582" cy="377985"/>
          </a:xfrm>
        </p:grpSpPr>
        <p:sp>
          <p:nvSpPr>
            <p:cNvPr id="320" name="Google Shape;320;p14"/>
            <p:cNvSpPr/>
            <p:nvPr/>
          </p:nvSpPr>
          <p:spPr>
            <a:xfrm>
              <a:off x="0" y="0"/>
              <a:ext cx="386582" cy="339885"/>
            </a:xfrm>
            <a:custGeom>
              <a:rect b="b" l="l" r="r" t="t"/>
              <a:pathLst>
                <a:path extrusionOk="0" h="339885" w="386582">
                  <a:moveTo>
                    <a:pt x="0" y="0"/>
                  </a:moveTo>
                  <a:lnTo>
                    <a:pt x="386582" y="0"/>
                  </a:lnTo>
                  <a:lnTo>
                    <a:pt x="386582" y="339885"/>
                  </a:lnTo>
                  <a:lnTo>
                    <a:pt x="0" y="339885"/>
                  </a:lnTo>
                  <a:close/>
                </a:path>
              </a:pathLst>
            </a:custGeom>
            <a:solidFill>
              <a:srgbClr val="29303C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14"/>
            <p:cNvSpPr txBox="1"/>
            <p:nvPr/>
          </p:nvSpPr>
          <p:spPr>
            <a:xfrm>
              <a:off x="0" y="-38100"/>
              <a:ext cx="386582" cy="3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4"/>
          <p:cNvSpPr txBox="1"/>
          <p:nvPr/>
        </p:nvSpPr>
        <p:spPr>
          <a:xfrm>
            <a:off x="4314321" y="439737"/>
            <a:ext cx="1086591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API Gateway</a:t>
            </a:r>
            <a:endParaRPr/>
          </a:p>
        </p:txBody>
      </p:sp>
      <p:grpSp>
        <p:nvGrpSpPr>
          <p:cNvPr id="323" name="Google Shape;323;p14"/>
          <p:cNvGrpSpPr/>
          <p:nvPr/>
        </p:nvGrpSpPr>
        <p:grpSpPr>
          <a:xfrm>
            <a:off x="6089594" y="1992313"/>
            <a:ext cx="731003" cy="760368"/>
            <a:chOff x="0" y="0"/>
            <a:chExt cx="974670" cy="1013824"/>
          </a:xfrm>
        </p:grpSpPr>
        <p:sp>
          <p:nvSpPr>
            <p:cNvPr id="324" name="Google Shape;324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5" name="Google Shape;325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26" name="Google Shape;326;p14"/>
          <p:cNvGrpSpPr/>
          <p:nvPr/>
        </p:nvGrpSpPr>
        <p:grpSpPr>
          <a:xfrm>
            <a:off x="6089594" y="3124156"/>
            <a:ext cx="731003" cy="760368"/>
            <a:chOff x="0" y="0"/>
            <a:chExt cx="974670" cy="1013824"/>
          </a:xfrm>
        </p:grpSpPr>
        <p:sp>
          <p:nvSpPr>
            <p:cNvPr id="327" name="Google Shape;327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29" name="Google Shape;329;p14"/>
          <p:cNvGrpSpPr/>
          <p:nvPr/>
        </p:nvGrpSpPr>
        <p:grpSpPr>
          <a:xfrm>
            <a:off x="6089594" y="4286107"/>
            <a:ext cx="731003" cy="760368"/>
            <a:chOff x="0" y="0"/>
            <a:chExt cx="974670" cy="1013824"/>
          </a:xfrm>
        </p:grpSpPr>
        <p:sp>
          <p:nvSpPr>
            <p:cNvPr id="330" name="Google Shape;330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sp>
        <p:nvSpPr>
          <p:cNvPr id="332" name="Google Shape;332;p14"/>
          <p:cNvSpPr txBox="1"/>
          <p:nvPr/>
        </p:nvSpPr>
        <p:spPr>
          <a:xfrm>
            <a:off x="7013330" y="2115322"/>
            <a:ext cx="5637904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Desarrollo de APIs eficientes</a:t>
            </a:r>
            <a:endParaRPr/>
          </a:p>
        </p:txBody>
      </p:sp>
      <p:sp>
        <p:nvSpPr>
          <p:cNvPr id="333" name="Google Shape;333;p14"/>
          <p:cNvSpPr txBox="1"/>
          <p:nvPr/>
        </p:nvSpPr>
        <p:spPr>
          <a:xfrm>
            <a:off x="7013330" y="3247165"/>
            <a:ext cx="643584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Rendimiento a cualquier escala</a:t>
            </a:r>
            <a:endParaRPr/>
          </a:p>
        </p:txBody>
      </p:sp>
      <p:sp>
        <p:nvSpPr>
          <p:cNvPr id="334" name="Google Shape;334;p14"/>
          <p:cNvSpPr txBox="1"/>
          <p:nvPr/>
        </p:nvSpPr>
        <p:spPr>
          <a:xfrm>
            <a:off x="7013330" y="4409116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Ahorro de costos a escala</a:t>
            </a:r>
            <a:endParaRPr/>
          </a:p>
        </p:txBody>
      </p:sp>
      <p:grpSp>
        <p:nvGrpSpPr>
          <p:cNvPr id="335" name="Google Shape;335;p14"/>
          <p:cNvGrpSpPr/>
          <p:nvPr/>
        </p:nvGrpSpPr>
        <p:grpSpPr>
          <a:xfrm>
            <a:off x="6089594" y="5366173"/>
            <a:ext cx="731003" cy="760368"/>
            <a:chOff x="0" y="0"/>
            <a:chExt cx="974670" cy="1013824"/>
          </a:xfrm>
        </p:grpSpPr>
        <p:sp>
          <p:nvSpPr>
            <p:cNvPr id="336" name="Google Shape;336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38" name="Google Shape;338;p14"/>
          <p:cNvGrpSpPr/>
          <p:nvPr/>
        </p:nvGrpSpPr>
        <p:grpSpPr>
          <a:xfrm>
            <a:off x="6089594" y="6498016"/>
            <a:ext cx="731003" cy="760368"/>
            <a:chOff x="0" y="0"/>
            <a:chExt cx="974670" cy="1013824"/>
          </a:xfrm>
        </p:grpSpPr>
        <p:sp>
          <p:nvSpPr>
            <p:cNvPr id="339" name="Google Shape;339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41" name="Google Shape;341;p14"/>
          <p:cNvSpPr txBox="1"/>
          <p:nvPr/>
        </p:nvSpPr>
        <p:spPr>
          <a:xfrm>
            <a:off x="7013330" y="5489182"/>
            <a:ext cx="3117970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Fácil monitoreo</a:t>
            </a:r>
            <a:endParaRPr/>
          </a:p>
        </p:txBody>
      </p:sp>
      <p:sp>
        <p:nvSpPr>
          <p:cNvPr id="342" name="Google Shape;342;p14"/>
          <p:cNvSpPr txBox="1"/>
          <p:nvPr/>
        </p:nvSpPr>
        <p:spPr>
          <a:xfrm>
            <a:off x="7013330" y="6622657"/>
            <a:ext cx="8166902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Controles de seguridad flexibles.</a:t>
            </a:r>
            <a:endParaRPr/>
          </a:p>
        </p:txBody>
      </p:sp>
      <p:grpSp>
        <p:nvGrpSpPr>
          <p:cNvPr id="343" name="Google Shape;343;p14"/>
          <p:cNvGrpSpPr/>
          <p:nvPr/>
        </p:nvGrpSpPr>
        <p:grpSpPr>
          <a:xfrm>
            <a:off x="6089594" y="7660637"/>
            <a:ext cx="731003" cy="760368"/>
            <a:chOff x="0" y="0"/>
            <a:chExt cx="974670" cy="1013824"/>
          </a:xfrm>
        </p:grpSpPr>
        <p:sp>
          <p:nvSpPr>
            <p:cNvPr id="344" name="Google Shape;344;p14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14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/>
            </a:p>
          </p:txBody>
        </p:sp>
      </p:grpSp>
      <p:sp>
        <p:nvSpPr>
          <p:cNvPr id="346" name="Google Shape;346;p14"/>
          <p:cNvSpPr txBox="1"/>
          <p:nvPr/>
        </p:nvSpPr>
        <p:spPr>
          <a:xfrm>
            <a:off x="7013330" y="7784707"/>
            <a:ext cx="5261777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Operaciones de API Restful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15"/>
          <p:cNvSpPr/>
          <p:nvPr/>
        </p:nvSpPr>
        <p:spPr>
          <a:xfrm flipH="1" rot="5679621">
            <a:off x="7710161" y="1015520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 flipH="1" rot="5679621">
            <a:off x="7894116" y="119375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9622215" y="1028700"/>
            <a:ext cx="7248095" cy="8075872"/>
          </a:xfrm>
          <a:custGeom>
            <a:rect b="b" l="l" r="r" t="t"/>
            <a:pathLst>
              <a:path extrusionOk="0" h="8075872" w="7248095">
                <a:moveTo>
                  <a:pt x="0" y="0"/>
                </a:moveTo>
                <a:lnTo>
                  <a:pt x="7248095" y="0"/>
                </a:lnTo>
                <a:lnTo>
                  <a:pt x="7248095" y="8075872"/>
                </a:lnTo>
                <a:lnTo>
                  <a:pt x="0" y="80758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 txBox="1"/>
          <p:nvPr/>
        </p:nvSpPr>
        <p:spPr>
          <a:xfrm>
            <a:off x="2235200" y="3978275"/>
            <a:ext cx="6449203" cy="22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¿Qué ofrece la capa Gratuita?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16"/>
          <p:cNvSpPr txBox="1"/>
          <p:nvPr/>
        </p:nvSpPr>
        <p:spPr>
          <a:xfrm>
            <a:off x="6166085" y="2878719"/>
            <a:ext cx="59558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PARTE PRÁTICA</a:t>
            </a:r>
            <a:endParaRPr/>
          </a:p>
        </p:txBody>
      </p:sp>
      <p:sp>
        <p:nvSpPr>
          <p:cNvPr id="360" name="Google Shape;360;p16"/>
          <p:cNvSpPr txBox="1"/>
          <p:nvPr/>
        </p:nvSpPr>
        <p:spPr>
          <a:xfrm>
            <a:off x="2162609" y="3925306"/>
            <a:ext cx="13962781" cy="3425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CONFIGURACIÓN E IMPLEMENTACIÓN DE LAMBDA Y API GATEWAY</a:t>
            </a:r>
            <a:endParaRPr/>
          </a:p>
        </p:txBody>
      </p:sp>
      <p:sp>
        <p:nvSpPr>
          <p:cNvPr id="361" name="Google Shape;361;p16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6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7"/>
          <p:cNvSpPr txBox="1"/>
          <p:nvPr/>
        </p:nvSpPr>
        <p:spPr>
          <a:xfrm>
            <a:off x="5542868" y="644847"/>
            <a:ext cx="7454705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VALOR O ACTITUD</a:t>
            </a:r>
            <a:endParaRPr/>
          </a:p>
        </p:txBody>
      </p:sp>
      <p:sp>
        <p:nvSpPr>
          <p:cNvPr id="368" name="Google Shape;368;p17"/>
          <p:cNvSpPr txBox="1"/>
          <p:nvPr/>
        </p:nvSpPr>
        <p:spPr>
          <a:xfrm>
            <a:off x="906729" y="1727522"/>
            <a:ext cx="16474542" cy="592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FFB923"/>
                </a:solidFill>
                <a:latin typeface="Arial"/>
                <a:ea typeface="Arial"/>
                <a:cs typeface="Arial"/>
                <a:sym typeface="Arial"/>
              </a:rPr>
              <a:t>Creatividad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Encontrar nuevas formas de desarrollar soluciones de aplicaciones web.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Aplicar servicios como AWS Lambda, Azure Functions o Google Cloud Functions de manera innovadora para automatizar procesos complejos o integrar APIs inusuales.</a:t>
            </a:r>
            <a:endParaRPr/>
          </a:p>
          <a:p>
            <a:pPr indent="-485775" lvl="1" marL="97155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4500"/>
              <a:buFont typeface="Arial"/>
              <a:buChar char="•"/>
            </a:pPr>
            <a:r>
              <a:rPr b="0" i="0" lang="en-US" sz="4500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Buscar nuevas soluciones a problemas ya resueltos en la informática.</a:t>
            </a:r>
            <a:endParaRPr/>
          </a:p>
        </p:txBody>
      </p:sp>
      <p:sp>
        <p:nvSpPr>
          <p:cNvPr id="369" name="Google Shape;369;p17"/>
          <p:cNvSpPr/>
          <p:nvPr/>
        </p:nvSpPr>
        <p:spPr>
          <a:xfrm flipH="1" rot="-5252869">
            <a:off x="7166333" y="2041017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7"/>
          <p:cNvSpPr/>
          <p:nvPr/>
        </p:nvSpPr>
        <p:spPr>
          <a:xfrm flipH="1" rot="-5252869">
            <a:off x="7357019" y="2212036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3138698" y="0"/>
                </a:moveTo>
                <a:lnTo>
                  <a:pt x="0" y="0"/>
                </a:lnTo>
                <a:lnTo>
                  <a:pt x="0" y="18364721"/>
                </a:lnTo>
                <a:lnTo>
                  <a:pt x="3138698" y="18364721"/>
                </a:lnTo>
                <a:lnTo>
                  <a:pt x="3138698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18"/>
          <p:cNvSpPr/>
          <p:nvPr/>
        </p:nvSpPr>
        <p:spPr>
          <a:xfrm rot="5400000">
            <a:off x="1035086" y="1228236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8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8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3865129" y="1230119"/>
            <a:ext cx="10557741" cy="755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61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CONCEPTOS CLAVES APRENDIDOS</a:t>
            </a:r>
            <a:endParaRPr/>
          </a:p>
        </p:txBody>
      </p:sp>
      <p:sp>
        <p:nvSpPr>
          <p:cNvPr id="379" name="Google Shape;379;p18"/>
          <p:cNvSpPr txBox="1"/>
          <p:nvPr/>
        </p:nvSpPr>
        <p:spPr>
          <a:xfrm>
            <a:off x="3865129" y="2672534"/>
            <a:ext cx="2076748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Serverless</a:t>
            </a:r>
            <a:endParaRPr/>
          </a:p>
        </p:txBody>
      </p:sp>
      <p:grpSp>
        <p:nvGrpSpPr>
          <p:cNvPr id="380" name="Google Shape;380;p18"/>
          <p:cNvGrpSpPr/>
          <p:nvPr/>
        </p:nvGrpSpPr>
        <p:grpSpPr>
          <a:xfrm>
            <a:off x="2905062" y="2593975"/>
            <a:ext cx="731003" cy="760368"/>
            <a:chOff x="0" y="0"/>
            <a:chExt cx="974670" cy="1013824"/>
          </a:xfrm>
        </p:grpSpPr>
        <p:sp>
          <p:nvSpPr>
            <p:cNvPr id="381" name="Google Shape;381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 u="none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/>
            </a:p>
          </p:txBody>
        </p:sp>
      </p:grpSp>
      <p:grpSp>
        <p:nvGrpSpPr>
          <p:cNvPr id="383" name="Google Shape;383;p18"/>
          <p:cNvGrpSpPr/>
          <p:nvPr/>
        </p:nvGrpSpPr>
        <p:grpSpPr>
          <a:xfrm>
            <a:off x="2905062" y="3661478"/>
            <a:ext cx="731003" cy="760368"/>
            <a:chOff x="0" y="0"/>
            <a:chExt cx="974670" cy="1013824"/>
          </a:xfrm>
        </p:grpSpPr>
        <p:sp>
          <p:nvSpPr>
            <p:cNvPr id="384" name="Google Shape;384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/>
            </a:p>
          </p:txBody>
        </p:sp>
      </p:grpSp>
      <p:grpSp>
        <p:nvGrpSpPr>
          <p:cNvPr id="386" name="Google Shape;386;p18"/>
          <p:cNvGrpSpPr/>
          <p:nvPr/>
        </p:nvGrpSpPr>
        <p:grpSpPr>
          <a:xfrm>
            <a:off x="2905062" y="4825036"/>
            <a:ext cx="731003" cy="760368"/>
            <a:chOff x="0" y="0"/>
            <a:chExt cx="974670" cy="1013824"/>
          </a:xfrm>
        </p:grpSpPr>
        <p:sp>
          <p:nvSpPr>
            <p:cNvPr id="387" name="Google Shape;387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/>
            </a:p>
          </p:txBody>
        </p:sp>
      </p:grpSp>
      <p:grpSp>
        <p:nvGrpSpPr>
          <p:cNvPr id="389" name="Google Shape;389;p18"/>
          <p:cNvGrpSpPr/>
          <p:nvPr/>
        </p:nvGrpSpPr>
        <p:grpSpPr>
          <a:xfrm>
            <a:off x="2905062" y="5988595"/>
            <a:ext cx="731003" cy="760368"/>
            <a:chOff x="0" y="0"/>
            <a:chExt cx="974670" cy="1013824"/>
          </a:xfrm>
        </p:grpSpPr>
        <p:sp>
          <p:nvSpPr>
            <p:cNvPr id="390" name="Google Shape;390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/>
            </a:p>
          </p:txBody>
        </p:sp>
      </p:grpSp>
      <p:grpSp>
        <p:nvGrpSpPr>
          <p:cNvPr id="392" name="Google Shape;392;p18"/>
          <p:cNvGrpSpPr/>
          <p:nvPr/>
        </p:nvGrpSpPr>
        <p:grpSpPr>
          <a:xfrm>
            <a:off x="2905062" y="7038180"/>
            <a:ext cx="731003" cy="760368"/>
            <a:chOff x="0" y="0"/>
            <a:chExt cx="974670" cy="1013824"/>
          </a:xfrm>
        </p:grpSpPr>
        <p:sp>
          <p:nvSpPr>
            <p:cNvPr id="393" name="Google Shape;393;p18"/>
            <p:cNvSpPr/>
            <p:nvPr/>
          </p:nvSpPr>
          <p:spPr>
            <a:xfrm>
              <a:off x="0" y="0"/>
              <a:ext cx="974670" cy="1013824"/>
            </a:xfrm>
            <a:prstGeom prst="rect">
              <a:avLst/>
            </a:prstGeom>
            <a:solidFill>
              <a:srgbClr val="FFB92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18"/>
            <p:cNvSpPr txBox="1"/>
            <p:nvPr/>
          </p:nvSpPr>
          <p:spPr>
            <a:xfrm>
              <a:off x="194570" y="64529"/>
              <a:ext cx="585531" cy="8352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13002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924">
                  <a:solidFill>
                    <a:srgbClr val="29303C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/>
            </a:p>
          </p:txBody>
        </p:sp>
      </p:grpSp>
      <p:sp>
        <p:nvSpPr>
          <p:cNvPr id="395" name="Google Shape;395;p18"/>
          <p:cNvSpPr txBox="1"/>
          <p:nvPr/>
        </p:nvSpPr>
        <p:spPr>
          <a:xfrm>
            <a:off x="3763612" y="7116739"/>
            <a:ext cx="875650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las arquitecturas Serverless</a:t>
            </a:r>
            <a:endParaRPr/>
          </a:p>
        </p:txBody>
      </p:sp>
      <p:sp>
        <p:nvSpPr>
          <p:cNvPr id="396" name="Google Shape;396;p18"/>
          <p:cNvSpPr txBox="1"/>
          <p:nvPr/>
        </p:nvSpPr>
        <p:spPr>
          <a:xfrm>
            <a:off x="3865129" y="3743996"/>
            <a:ext cx="2608808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Lambda</a:t>
            </a:r>
            <a:endParaRPr/>
          </a:p>
        </p:txBody>
      </p:sp>
      <p:sp>
        <p:nvSpPr>
          <p:cNvPr id="397" name="Google Shape;397;p18"/>
          <p:cNvSpPr txBox="1"/>
          <p:nvPr/>
        </p:nvSpPr>
        <p:spPr>
          <a:xfrm>
            <a:off x="3865129" y="4841875"/>
            <a:ext cx="6417915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Beneficios de Lambda sobre EC2</a:t>
            </a:r>
            <a:endParaRPr/>
          </a:p>
        </p:txBody>
      </p:sp>
      <p:sp>
        <p:nvSpPr>
          <p:cNvPr id="398" name="Google Shape;398;p18"/>
          <p:cNvSpPr txBox="1"/>
          <p:nvPr/>
        </p:nvSpPr>
        <p:spPr>
          <a:xfrm>
            <a:off x="3865129" y="6067154"/>
            <a:ext cx="11283937" cy="565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500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AWS Api Gateway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9"/>
          <p:cNvSpPr/>
          <p:nvPr/>
        </p:nvSpPr>
        <p:spPr>
          <a:xfrm>
            <a:off x="-242146" y="-201788"/>
            <a:ext cx="7408840" cy="10690576"/>
          </a:xfrm>
          <a:prstGeom prst="rect">
            <a:avLst/>
          </a:prstGeom>
          <a:solidFill>
            <a:srgbClr val="FFB92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9"/>
          <p:cNvSpPr/>
          <p:nvPr/>
        </p:nvSpPr>
        <p:spPr>
          <a:xfrm rot="5400000">
            <a:off x="1035086" y="8288411"/>
            <a:ext cx="689712" cy="702485"/>
          </a:xfrm>
          <a:custGeom>
            <a:rect b="b" l="l" r="r" t="t"/>
            <a:pathLst>
              <a:path extrusionOk="0" h="702485" w="689712">
                <a:moveTo>
                  <a:pt x="0" y="0"/>
                </a:moveTo>
                <a:lnTo>
                  <a:pt x="689713" y="0"/>
                </a:lnTo>
                <a:lnTo>
                  <a:pt x="689713" y="702485"/>
                </a:lnTo>
                <a:lnTo>
                  <a:pt x="0" y="7024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935917" y="1369165"/>
            <a:ext cx="5294859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624">
                <a:solidFill>
                  <a:srgbClr val="FFFFFF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REFERENCIAS</a:t>
            </a:r>
            <a:endParaRPr/>
          </a:p>
        </p:txBody>
      </p:sp>
      <p:sp>
        <p:nvSpPr>
          <p:cNvPr id="406" name="Google Shape;406;p19"/>
          <p:cNvSpPr/>
          <p:nvPr/>
        </p:nvSpPr>
        <p:spPr>
          <a:xfrm>
            <a:off x="935917" y="2310552"/>
            <a:ext cx="3863467" cy="285524"/>
          </a:xfrm>
          <a:custGeom>
            <a:rect b="b" l="l" r="r" t="t"/>
            <a:pathLst>
              <a:path extrusionOk="0" h="285524" w="3863467">
                <a:moveTo>
                  <a:pt x="0" y="0"/>
                </a:moveTo>
                <a:lnTo>
                  <a:pt x="3863468" y="0"/>
                </a:lnTo>
                <a:lnTo>
                  <a:pt x="3863468" y="285524"/>
                </a:lnTo>
                <a:lnTo>
                  <a:pt x="0" y="2855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1042591" l="-170" r="-7086" t="-308576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9"/>
          <p:cNvSpPr txBox="1"/>
          <p:nvPr/>
        </p:nvSpPr>
        <p:spPr>
          <a:xfrm>
            <a:off x="7744891" y="1000125"/>
            <a:ext cx="9514409" cy="4107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Informática sin servidor: Amazon Web Services. (s. f.). Amazon Web Services, Inc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https://aws.amazon.com/es/serverless/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AWS Lambda – Serverless compute. Amazon Web Services.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https://aws.amazon.com/lambda/ </a:t>
            </a:r>
            <a:endParaRPr/>
          </a:p>
          <a:p>
            <a:pPr indent="-304982" lvl="1" marL="609967" marR="0" rtl="0" algn="l">
              <a:lnSpc>
                <a:spcPct val="129982"/>
              </a:lnSpc>
              <a:spcBef>
                <a:spcPts val="0"/>
              </a:spcBef>
              <a:spcAft>
                <a:spcPts val="0"/>
              </a:spcAft>
              <a:buClr>
                <a:srgbClr val="29303C"/>
              </a:buClr>
              <a:buSzPts val="2825"/>
              <a:buFont typeface="Arial"/>
              <a:buChar char="•"/>
            </a:pPr>
            <a:r>
              <a:rPr b="1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Amazon Web Services. (n.d.). Amazon API Gateway – Build, deploy, and manage APIs. Amazon Web Services</a:t>
            </a:r>
            <a:r>
              <a:rPr b="0" i="0" lang="en-US" sz="2825" u="none" cap="none" strike="noStrike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 https://aws.amazon.com/api-gateway/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20"/>
          <p:cNvSpPr txBox="1"/>
          <p:nvPr/>
        </p:nvSpPr>
        <p:spPr>
          <a:xfrm>
            <a:off x="3207779" y="4022725"/>
            <a:ext cx="11872442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Hammersmith One"/>
                <a:ea typeface="Hammersmith One"/>
                <a:cs typeface="Hammersmith One"/>
                <a:sym typeface="Hammersmith One"/>
              </a:rPr>
              <a:t>¡GRACIAS POR SU ATENCIÓN!</a:t>
            </a:r>
            <a:endParaRPr/>
          </a:p>
        </p:txBody>
      </p:sp>
      <p:sp>
        <p:nvSpPr>
          <p:cNvPr id="413" name="Google Shape;413;p20"/>
          <p:cNvSpPr/>
          <p:nvPr/>
        </p:nvSpPr>
        <p:spPr>
          <a:xfrm flipH="1" rot="5679621">
            <a:off x="7672969" y="926401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1"/>
                </a:moveTo>
                <a:lnTo>
                  <a:pt x="3138698" y="18364721"/>
                </a:lnTo>
                <a:lnTo>
                  <a:pt x="3138698" y="0"/>
                </a:lnTo>
                <a:lnTo>
                  <a:pt x="0" y="0"/>
                </a:lnTo>
                <a:lnTo>
                  <a:pt x="0" y="18364721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/>
          <p:nvPr/>
        </p:nvSpPr>
        <p:spPr>
          <a:xfrm flipH="1" rot="5679621">
            <a:off x="7856925" y="1104639"/>
            <a:ext cx="3138698" cy="18364721"/>
          </a:xfrm>
          <a:custGeom>
            <a:rect b="b" l="l" r="r" t="t"/>
            <a:pathLst>
              <a:path extrusionOk="0" h="18364721" w="3138698">
                <a:moveTo>
                  <a:pt x="0" y="18364722"/>
                </a:moveTo>
                <a:lnTo>
                  <a:pt x="3138697" y="18364722"/>
                </a:lnTo>
                <a:lnTo>
                  <a:pt x="3138697" y="0"/>
                </a:lnTo>
                <a:lnTo>
                  <a:pt x="0" y="0"/>
                </a:lnTo>
                <a:lnTo>
                  <a:pt x="0" y="18364722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7187785" y="5086350"/>
            <a:ext cx="3912430" cy="1120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999">
                <a:solidFill>
                  <a:srgbClr val="29303C"/>
                </a:solidFill>
                <a:latin typeface="Arial"/>
                <a:ea typeface="Arial"/>
                <a:cs typeface="Arial"/>
                <a:sym typeface="Arial"/>
              </a:rPr>
              <a:t>¿DUDAS?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Emerson</dc:creator>
</cp:coreProperties>
</file>