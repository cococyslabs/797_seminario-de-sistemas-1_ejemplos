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0287000" cx="18288000"/>
  <p:notesSz cx="6858000" cy="9144000"/>
  <p:embeddedFontLst>
    <p:embeddedFont>
      <p:font typeface="Hammersmith One"/>
      <p:regular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Ax84PDJDaAEDXAY8s5HZ7WZoF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085958-ADA2-4CB8-BB8C-E0D5F1D8532B}">
  <a:tblStyle styleId="{CD085958-ADA2-4CB8-BB8C-E0D5F1D8532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OpenSans-regular.fntdata"/><Relationship Id="rId27" Type="http://schemas.openxmlformats.org/officeDocument/2006/relationships/font" Target="fonts/HammersmithOn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25bafa3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125bafa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2" name="Google Shape;41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3" name="Google Shape;47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25bafa3b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g3a125bafa3b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g3a125bafa3b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125bafa3b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g3a125bafa3b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{CD085958-ADA2-4CB8-BB8C-E0D5F1D8532B}</a:tableStyleId>
              </a:tblPr>
              <a:tblGrid>
                <a:gridCol w="3036400"/>
                <a:gridCol w="4344750"/>
              </a:tblGrid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xxx</a:t>
                      </a:r>
                      <a:r>
                        <a:rPr lang="en-US" sz="2800" u="none" cap="none" strike="noStrike"/>
                        <a:t>, </a:t>
                      </a:r>
                      <a:r>
                        <a:rPr lang="en-US" sz="2800"/>
                        <a:t>xx</a:t>
                      </a:r>
                      <a:r>
                        <a:rPr lang="en-US" sz="2800" u="none" cap="none" strike="noStrike"/>
                        <a:t>/</a:t>
                      </a:r>
                      <a:r>
                        <a:rPr lang="en-US" sz="2800"/>
                        <a:t>xx</a:t>
                      </a:r>
                      <a:r>
                        <a:rPr lang="en-US" sz="2800" u="none" cap="none" strike="noStrike"/>
                        <a:t>/202</a:t>
                      </a:r>
                      <a:r>
                        <a:rPr lang="en-US" sz="2800"/>
                        <a:t>6</a:t>
                      </a:r>
                      <a:endParaRPr/>
                    </a:p>
                  </a:txBody>
                  <a:tcPr marT="182850" marB="182850" marR="182850" marL="182850"/>
                </a:tc>
              </a:tr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/>
                        <a:t>xx</a:t>
                      </a:r>
                      <a:r>
                        <a:rPr lang="en-US" sz="2800" u="none" cap="none" strike="noStrike"/>
                        <a:t>:00</a:t>
                      </a:r>
                      <a:endParaRPr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0" name="Google Shape;90;g3a125bafa3b_0_0"/>
          <p:cNvSpPr txBox="1"/>
          <p:nvPr/>
        </p:nvSpPr>
        <p:spPr>
          <a:xfrm>
            <a:off x="2880350" y="451660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Seminario de Sistemas 1 []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125bafa3b_0_0"/>
          <p:cNvSpPr txBox="1"/>
          <p:nvPr/>
        </p:nvSpPr>
        <p:spPr>
          <a:xfrm>
            <a:off x="2880350" y="5816015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669741" y="2766935"/>
            <a:ext cx="15132474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“Configuración e Implementación de Bases de datos en Cloud Computing”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4"/>
              <a:buFont typeface="Arial"/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354200" y="7380150"/>
            <a:ext cx="600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441" l="-169" r="-7084" t="-3085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8" name="Google Shape;118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0" name="Google Shape;120;p2"/>
          <p:cNvGrpSpPr/>
          <p:nvPr/>
        </p:nvGrpSpPr>
        <p:grpSpPr>
          <a:xfrm>
            <a:off x="1421964" y="8160878"/>
            <a:ext cx="731003" cy="760368"/>
            <a:chOff x="0" y="0"/>
            <a:chExt cx="974670" cy="1013824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852876" y="274500"/>
            <a:ext cx="3959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2335952" y="5933228"/>
            <a:ext cx="8986058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Bases de datos en AWS y Azure.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2266810" y="6792793"/>
            <a:ext cx="6539828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RDS: Configuración y administración.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2335952" y="7987545"/>
            <a:ext cx="7202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SQL: Servicios de bases de datos en Azure.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9279510" y="2899184"/>
            <a:ext cx="7979790" cy="4488632"/>
          </a:xfrm>
          <a:custGeom>
            <a:rect b="b" l="l" r="r" t="t"/>
            <a:pathLst>
              <a:path extrusionOk="0" h="4488632" w="7979790">
                <a:moveTo>
                  <a:pt x="0" y="0"/>
                </a:moveTo>
                <a:lnTo>
                  <a:pt x="7979790" y="0"/>
                </a:lnTo>
                <a:lnTo>
                  <a:pt x="7979790" y="4488632"/>
                </a:lnTo>
                <a:lnTo>
                  <a:pt x="0" y="4488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2091000" y="439725"/>
            <a:ext cx="5608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028700" y="2409825"/>
            <a:ext cx="7272060" cy="543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RDS significa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 de Base de Datos Relacional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es un servicio web que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facilita la configuración, la operación y la escala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de una base de datos relacional en Nube de AWS.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una capacidad rentable y de tamaño ajustable para una base de datos relacional estándar y se ocupa de las tareas de administración de bases de datos comunes.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/>
          <p:nvPr/>
        </p:nvSpPr>
        <p:spPr>
          <a:xfrm flipH="1" rot="10800000">
            <a:off x="-540649" y="-165089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1028700" y="660625"/>
            <a:ext cx="9550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de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4"/>
          <p:cNvGrpSpPr/>
          <p:nvPr/>
        </p:nvGrpSpPr>
        <p:grpSpPr>
          <a:xfrm>
            <a:off x="1843243" y="2761984"/>
            <a:ext cx="731003" cy="760368"/>
            <a:chOff x="0" y="0"/>
            <a:chExt cx="974670" cy="1013824"/>
          </a:xfrm>
        </p:grpSpPr>
        <p:sp>
          <p:nvSpPr>
            <p:cNvPr id="147" name="Google Shape;147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4"/>
          <p:cNvSpPr txBox="1"/>
          <p:nvPr/>
        </p:nvSpPr>
        <p:spPr>
          <a:xfrm>
            <a:off x="2777525" y="2637343"/>
            <a:ext cx="13535779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Proporciona una capacidad rentable y escalable para las bases de datos relacionales.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4"/>
          <p:cNvGrpSpPr/>
          <p:nvPr/>
        </p:nvGrpSpPr>
        <p:grpSpPr>
          <a:xfrm>
            <a:off x="2208745" y="4516748"/>
            <a:ext cx="731003" cy="760368"/>
            <a:chOff x="0" y="0"/>
            <a:chExt cx="974670" cy="1013824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4"/>
          <p:cNvSpPr txBox="1"/>
          <p:nvPr/>
        </p:nvSpPr>
        <p:spPr>
          <a:xfrm>
            <a:off x="3143026" y="4144457"/>
            <a:ext cx="13535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 laboriosas tareas de administración, como el aprovisionamiento de hardware, la configuración de la base de datos, la aplicación de parches y copias de seguridad.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4"/>
          <p:cNvGrpSpPr/>
          <p:nvPr/>
        </p:nvGrpSpPr>
        <p:grpSpPr>
          <a:xfrm>
            <a:off x="2574246" y="6516998"/>
            <a:ext cx="731003" cy="760368"/>
            <a:chOff x="0" y="0"/>
            <a:chExt cx="974670" cy="1013824"/>
          </a:xfrm>
        </p:grpSpPr>
        <p:sp>
          <p:nvSpPr>
            <p:cNvPr id="155" name="Google Shape;155;p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4"/>
          <p:cNvSpPr txBox="1"/>
          <p:nvPr/>
        </p:nvSpPr>
        <p:spPr>
          <a:xfrm>
            <a:off x="3508527" y="6144707"/>
            <a:ext cx="13535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centrarnos en las aplicaciones y proporcionar el rápido rendimiento, alta disponibilidad, seguridad y compatibilidad que necesitemos.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5"/>
          <p:cNvGrpSpPr/>
          <p:nvPr/>
        </p:nvGrpSpPr>
        <p:grpSpPr>
          <a:xfrm>
            <a:off x="2815723" y="2486379"/>
            <a:ext cx="731003" cy="760368"/>
            <a:chOff x="0" y="0"/>
            <a:chExt cx="974670" cy="1013824"/>
          </a:xfrm>
        </p:grpSpPr>
        <p:sp>
          <p:nvSpPr>
            <p:cNvPr id="163" name="Google Shape;163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5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66" name="Google Shape;166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5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69" name="Google Shape;169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72" name="Google Shape;172;p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75" name="Google Shape;175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5"/>
          <p:cNvGrpSpPr/>
          <p:nvPr/>
        </p:nvGrpSpPr>
        <p:grpSpPr>
          <a:xfrm>
            <a:off x="2815723" y="3618222"/>
            <a:ext cx="731003" cy="760368"/>
            <a:chOff x="0" y="0"/>
            <a:chExt cx="974670" cy="1013824"/>
          </a:xfrm>
        </p:grpSpPr>
        <p:sp>
          <p:nvSpPr>
            <p:cNvPr id="178" name="Google Shape;178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5"/>
          <p:cNvGrpSpPr/>
          <p:nvPr/>
        </p:nvGrpSpPr>
        <p:grpSpPr>
          <a:xfrm>
            <a:off x="2815723" y="4780174"/>
            <a:ext cx="731003" cy="760368"/>
            <a:chOff x="0" y="0"/>
            <a:chExt cx="974670" cy="1013824"/>
          </a:xfrm>
        </p:grpSpPr>
        <p:sp>
          <p:nvSpPr>
            <p:cNvPr id="181" name="Google Shape;181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5"/>
          <p:cNvGrpSpPr/>
          <p:nvPr/>
        </p:nvGrpSpPr>
        <p:grpSpPr>
          <a:xfrm>
            <a:off x="2815723" y="5810083"/>
            <a:ext cx="731003" cy="760368"/>
            <a:chOff x="0" y="0"/>
            <a:chExt cx="974670" cy="1013824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2815723" y="6941926"/>
            <a:ext cx="731003" cy="760368"/>
            <a:chOff x="0" y="0"/>
            <a:chExt cx="974670" cy="1013824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2815723" y="8103878"/>
            <a:ext cx="731003" cy="760368"/>
            <a:chOff x="0" y="0"/>
            <a:chExt cx="974670" cy="1013824"/>
          </a:xfrm>
        </p:grpSpPr>
        <p:sp>
          <p:nvSpPr>
            <p:cNvPr id="190" name="Google Shape;190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5"/>
          <p:cNvSpPr/>
          <p:nvPr/>
        </p:nvSpPr>
        <p:spPr>
          <a:xfrm>
            <a:off x="9948548" y="3618222"/>
            <a:ext cx="5523729" cy="3866610"/>
          </a:xfrm>
          <a:custGeom>
            <a:rect b="b" l="l" r="r" t="t"/>
            <a:pathLst>
              <a:path extrusionOk="0" h="3866610" w="5523729">
                <a:moveTo>
                  <a:pt x="0" y="0"/>
                </a:moveTo>
                <a:lnTo>
                  <a:pt x="5523729" y="0"/>
                </a:lnTo>
                <a:lnTo>
                  <a:pt x="5523729" y="3866610"/>
                </a:lnTo>
                <a:lnTo>
                  <a:pt x="0" y="386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3018349" y="729500"/>
            <a:ext cx="10241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Características de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3739459" y="2609388"/>
            <a:ext cx="45426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Administración Sencilla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3739459" y="3741231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Escalabilidad Sencilla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3739459" y="4903183"/>
            <a:ext cx="528407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Disponibilidad y Durabilidad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3739459" y="5933092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Respuesta Rápida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739459" y="7064935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Alta 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3739459" y="8226887"/>
            <a:ext cx="27912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Asequibilidad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6"/>
          <p:cNvGrpSpPr/>
          <p:nvPr/>
        </p:nvGrpSpPr>
        <p:grpSpPr>
          <a:xfrm>
            <a:off x="1218032" y="3616419"/>
            <a:ext cx="731003" cy="760368"/>
            <a:chOff x="0" y="0"/>
            <a:chExt cx="974670" cy="1013824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208" name="Google Shape;208;p6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6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6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211" name="Google Shape;211;p6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6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6"/>
          <p:cNvGrpSpPr/>
          <p:nvPr/>
        </p:nvGrpSpPr>
        <p:grpSpPr>
          <a:xfrm>
            <a:off x="1218032" y="4748262"/>
            <a:ext cx="731003" cy="760368"/>
            <a:chOff x="0" y="0"/>
            <a:chExt cx="974670" cy="1013824"/>
          </a:xfrm>
        </p:grpSpPr>
        <p:sp>
          <p:nvSpPr>
            <p:cNvPr id="214" name="Google Shape;214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6"/>
          <p:cNvGrpSpPr/>
          <p:nvPr/>
        </p:nvGrpSpPr>
        <p:grpSpPr>
          <a:xfrm>
            <a:off x="1218032" y="5910213"/>
            <a:ext cx="731003" cy="760368"/>
            <a:chOff x="0" y="0"/>
            <a:chExt cx="974670" cy="1013824"/>
          </a:xfrm>
        </p:grpSpPr>
        <p:sp>
          <p:nvSpPr>
            <p:cNvPr id="217" name="Google Shape;217;p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" name="Google Shape;219;p6"/>
          <p:cNvSpPr txBox="1"/>
          <p:nvPr/>
        </p:nvSpPr>
        <p:spPr>
          <a:xfrm>
            <a:off x="3973125" y="1244400"/>
            <a:ext cx="9315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2141767" y="3739428"/>
            <a:ext cx="69407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Datos de aplicaciones web y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2141767" y="4623621"/>
            <a:ext cx="839227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Administración de datos sobre juegos online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y para móviles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2141767" y="6033222"/>
            <a:ext cx="730361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Datos de aplicaciones de Comerciales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1735571" y="3195140"/>
            <a:ext cx="5523729" cy="3866610"/>
          </a:xfrm>
          <a:custGeom>
            <a:rect b="b" l="l" r="r" t="t"/>
            <a:pathLst>
              <a:path extrusionOk="0" h="3866610" w="5523729">
                <a:moveTo>
                  <a:pt x="0" y="0"/>
                </a:moveTo>
                <a:lnTo>
                  <a:pt x="5523729" y="0"/>
                </a:lnTo>
                <a:lnTo>
                  <a:pt x="5523729" y="3866611"/>
                </a:lnTo>
                <a:lnTo>
                  <a:pt x="0" y="3866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7"/>
          <p:cNvGrpSpPr/>
          <p:nvPr/>
        </p:nvGrpSpPr>
        <p:grpSpPr>
          <a:xfrm>
            <a:off x="1912247" y="884039"/>
            <a:ext cx="388125" cy="2538611"/>
            <a:chOff x="0" y="-38100"/>
            <a:chExt cx="102222" cy="668605"/>
          </a:xfrm>
        </p:grpSpPr>
        <p:sp>
          <p:nvSpPr>
            <p:cNvPr id="229" name="Google Shape;229;p7"/>
            <p:cNvSpPr/>
            <p:nvPr/>
          </p:nvSpPr>
          <p:spPr>
            <a:xfrm>
              <a:off x="0" y="0"/>
              <a:ext cx="102222" cy="630505"/>
            </a:xfrm>
            <a:custGeom>
              <a:rect b="b" l="l" r="r" t="t"/>
              <a:pathLst>
                <a:path extrusionOk="0" h="630505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630505"/>
                  </a:lnTo>
                  <a:lnTo>
                    <a:pt x="0" y="630505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7"/>
            <p:cNvSpPr txBox="1"/>
            <p:nvPr/>
          </p:nvSpPr>
          <p:spPr>
            <a:xfrm>
              <a:off x="0" y="-38100"/>
              <a:ext cx="102222" cy="6686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7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32" name="Google Shape;232;p7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7"/>
          <p:cNvSpPr/>
          <p:nvPr/>
        </p:nvSpPr>
        <p:spPr>
          <a:xfrm>
            <a:off x="9144000" y="1764757"/>
            <a:ext cx="6189492" cy="6189492"/>
          </a:xfrm>
          <a:custGeom>
            <a:rect b="b" l="l" r="r" t="t"/>
            <a:pathLst>
              <a:path extrusionOk="0" h="6189492" w="6189492">
                <a:moveTo>
                  <a:pt x="0" y="0"/>
                </a:moveTo>
                <a:lnTo>
                  <a:pt x="6189492" y="0"/>
                </a:lnTo>
                <a:lnTo>
                  <a:pt x="6189492" y="6189491"/>
                </a:lnTo>
                <a:lnTo>
                  <a:pt x="0" y="6189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2617188" y="884050"/>
            <a:ext cx="6526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Motores de bases de datos acepta AWS RDS?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2106310" y="3997458"/>
            <a:ext cx="6454777" cy="4522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Postgres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MariaDB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 SQL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3703" lvl="1" marL="847407" marR="0" rtl="0" algn="l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24"/>
              <a:buFont typeface="Arial"/>
              <a:buChar char="•"/>
            </a:pPr>
            <a:r>
              <a:rPr b="1" i="0" lang="en-US" sz="392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Aurora (base de datos propia de AWS)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8"/>
          <p:cNvGrpSpPr/>
          <p:nvPr/>
        </p:nvGrpSpPr>
        <p:grpSpPr>
          <a:xfrm>
            <a:off x="0" y="8753472"/>
            <a:ext cx="9144000" cy="1533528"/>
            <a:chOff x="0" y="-38100"/>
            <a:chExt cx="2408296" cy="403892"/>
          </a:xfrm>
        </p:grpSpPr>
        <p:sp>
          <p:nvSpPr>
            <p:cNvPr id="242" name="Google Shape;242;p8"/>
            <p:cNvSpPr/>
            <p:nvPr/>
          </p:nvSpPr>
          <p:spPr>
            <a:xfrm>
              <a:off x="0" y="0"/>
              <a:ext cx="2408296" cy="365792"/>
            </a:xfrm>
            <a:custGeom>
              <a:rect b="b" l="l" r="r" t="t"/>
              <a:pathLst>
                <a:path extrusionOk="0" h="365792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365792"/>
                  </a:lnTo>
                  <a:lnTo>
                    <a:pt x="0" y="36579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0" y="-38100"/>
              <a:ext cx="2408296" cy="403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8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45" name="Google Shape;245;p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8"/>
          <p:cNvSpPr txBox="1"/>
          <p:nvPr/>
        </p:nvSpPr>
        <p:spPr>
          <a:xfrm>
            <a:off x="807813" y="2167615"/>
            <a:ext cx="15933979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 diferencia de desplegar una DB en EC2, RDS es un servicio gestionado que permite: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Aprovisionamiento automatizado, parcheo del 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Copias de seguridad continuas y restauración a una fecha determinada (Point in Time Restore)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Dashboards de monitorización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Configuración multi AZ para DR (Disaster Recovery)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Ventanas de mantenimiento para actualizaciones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Capacidad de escalado (vertical y horizontal)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11078239" y="4475355"/>
            <a:ext cx="6922610" cy="4422779"/>
          </a:xfrm>
          <a:custGeom>
            <a:rect b="b" l="l" r="r" t="t"/>
            <a:pathLst>
              <a:path extrusionOk="0" h="4422779" w="6922610">
                <a:moveTo>
                  <a:pt x="0" y="0"/>
                </a:moveTo>
                <a:lnTo>
                  <a:pt x="6922610" y="0"/>
                </a:lnTo>
                <a:lnTo>
                  <a:pt x="6922610" y="4422778"/>
                </a:lnTo>
                <a:lnTo>
                  <a:pt x="0" y="4422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3264243" y="408309"/>
            <a:ext cx="12056135" cy="130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 sobre el uso de RDS frente al despliegue de la BD en 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9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55" name="Google Shape;255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9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58" name="Google Shape;258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9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61" name="Google Shape;261;p9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9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9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64" name="Google Shape;264;p9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9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9"/>
          <p:cNvSpPr/>
          <p:nvPr/>
        </p:nvSpPr>
        <p:spPr>
          <a:xfrm>
            <a:off x="2274507" y="2106433"/>
            <a:ext cx="14043268" cy="6074134"/>
          </a:xfrm>
          <a:custGeom>
            <a:rect b="b" l="l" r="r" t="t"/>
            <a:pathLst>
              <a:path extrusionOk="0" h="6074134" w="14043268">
                <a:moveTo>
                  <a:pt x="0" y="0"/>
                </a:moveTo>
                <a:lnTo>
                  <a:pt x="14043269" y="0"/>
                </a:lnTo>
                <a:lnTo>
                  <a:pt x="14043269" y="6074134"/>
                </a:lnTo>
                <a:lnTo>
                  <a:pt x="0" y="6074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9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3403325" y="593725"/>
            <a:ext cx="11765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Ejemplo de una arquitectura con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0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273" name="Google Shape;273;p10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0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10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276" name="Google Shape;276;p10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0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10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279" name="Google Shape;279;p10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0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0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282" name="Google Shape;282;p10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0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10"/>
          <p:cNvSpPr/>
          <p:nvPr/>
        </p:nvSpPr>
        <p:spPr>
          <a:xfrm>
            <a:off x="2019663" y="3430540"/>
            <a:ext cx="4605005" cy="4075429"/>
          </a:xfrm>
          <a:custGeom>
            <a:rect b="b" l="l" r="r" t="t"/>
            <a:pathLst>
              <a:path extrusionOk="0" h="4075429" w="4605005">
                <a:moveTo>
                  <a:pt x="0" y="0"/>
                </a:moveTo>
                <a:lnTo>
                  <a:pt x="4605005" y="0"/>
                </a:lnTo>
                <a:lnTo>
                  <a:pt x="4605005" y="4075430"/>
                </a:lnTo>
                <a:lnTo>
                  <a:pt x="0" y="4075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9606851" y="704168"/>
            <a:ext cx="4766870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7115712" y="2486930"/>
            <a:ext cx="9749148" cy="593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Aurora es una tecnología propietaria de AWS para bases de datos relacional compatible con MySQL y PostgreSQL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Está "optimizada para el Cloud de AWS" y afirma que mejora 5 veces el rendimiento de MySQL en RDS, y más de 3 veces el rendimiento de Postgres en 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almacenamiento de Aurora crece automáticamente en incrementos de 10 GB en 10GB, hasta 128 TB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9806115" y="1507443"/>
            <a:ext cx="4368341" cy="402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*No está en la capa gratuita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0"/>
          <p:cNvCxnSpPr/>
          <p:nvPr/>
        </p:nvCxnSpPr>
        <p:spPr>
          <a:xfrm>
            <a:off x="9668508" y="1516968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11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94" name="Google Shape;294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1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97" name="Google Shape;297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1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00" name="Google Shape;300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1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03" name="Google Shape;303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1"/>
          <p:cNvSpPr/>
          <p:nvPr/>
        </p:nvSpPr>
        <p:spPr>
          <a:xfrm>
            <a:off x="1288371" y="2856190"/>
            <a:ext cx="15711257" cy="3967092"/>
          </a:xfrm>
          <a:custGeom>
            <a:rect b="b" l="l" r="r" t="t"/>
            <a:pathLst>
              <a:path extrusionOk="0" h="3967092" w="15711257">
                <a:moveTo>
                  <a:pt x="0" y="0"/>
                </a:moveTo>
                <a:lnTo>
                  <a:pt x="15711258" y="0"/>
                </a:lnTo>
                <a:lnTo>
                  <a:pt x="15711258" y="3967092"/>
                </a:lnTo>
                <a:lnTo>
                  <a:pt x="0" y="3967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3480325" y="642000"/>
            <a:ext cx="1075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¿Quiénes utilizan Amazon Aurora?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12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312" name="Google Shape;312;p12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2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4" name="Google Shape;314;p12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315" name="Google Shape;315;p12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2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12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318" name="Google Shape;318;p12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2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12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321" name="Google Shape;321;p12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2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12"/>
          <p:cNvSpPr/>
          <p:nvPr/>
        </p:nvSpPr>
        <p:spPr>
          <a:xfrm>
            <a:off x="1147575" y="3302329"/>
            <a:ext cx="6362577" cy="3682342"/>
          </a:xfrm>
          <a:custGeom>
            <a:rect b="b" l="l" r="r" t="t"/>
            <a:pathLst>
              <a:path extrusionOk="0" h="3682342" w="6362577">
                <a:moveTo>
                  <a:pt x="0" y="0"/>
                </a:moveTo>
                <a:lnTo>
                  <a:pt x="6362577" y="0"/>
                </a:lnTo>
                <a:lnTo>
                  <a:pt x="6362577" y="3682342"/>
                </a:lnTo>
                <a:lnTo>
                  <a:pt x="0" y="3682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8572798" y="547550"/>
            <a:ext cx="6965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7604818" y="1914525"/>
            <a:ext cx="9749148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base de datos NoSQL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ofrece un rendimiento de milisegundos en cualquier escala.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DynamoDB p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uede manejar mas de 10 billones de solicitudes por día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puede soportar picos de mas de 20 millones de solicitudes por segundo.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base de datos duradera, multiregional, multiactiva y totalmente administrada con seguridad integrada, respaldo y restauración y almacenamiento en cache en memoria para aplicaciones.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13"/>
          <p:cNvGrpSpPr/>
          <p:nvPr/>
        </p:nvGrpSpPr>
        <p:grpSpPr>
          <a:xfrm>
            <a:off x="2636412" y="3616419"/>
            <a:ext cx="731003" cy="760368"/>
            <a:chOff x="0" y="0"/>
            <a:chExt cx="974670" cy="1013824"/>
          </a:xfrm>
        </p:grpSpPr>
        <p:sp>
          <p:nvSpPr>
            <p:cNvPr id="331" name="Google Shape;331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1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34" name="Google Shape;334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1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337" name="Google Shape;337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13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40" name="Google Shape;340;p13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13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43" name="Google Shape;343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3"/>
          <p:cNvGrpSpPr/>
          <p:nvPr/>
        </p:nvGrpSpPr>
        <p:grpSpPr>
          <a:xfrm>
            <a:off x="2636412" y="4748262"/>
            <a:ext cx="731003" cy="760368"/>
            <a:chOff x="0" y="0"/>
            <a:chExt cx="974670" cy="1013824"/>
          </a:xfrm>
        </p:grpSpPr>
        <p:sp>
          <p:nvSpPr>
            <p:cNvPr id="346" name="Google Shape;346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13"/>
          <p:cNvGrpSpPr/>
          <p:nvPr/>
        </p:nvGrpSpPr>
        <p:grpSpPr>
          <a:xfrm>
            <a:off x="2636412" y="5910213"/>
            <a:ext cx="731003" cy="760368"/>
            <a:chOff x="0" y="0"/>
            <a:chExt cx="974670" cy="1013824"/>
          </a:xfrm>
        </p:grpSpPr>
        <p:sp>
          <p:nvSpPr>
            <p:cNvPr id="349" name="Google Shape;349;p1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" name="Google Shape;351;p13"/>
          <p:cNvSpPr/>
          <p:nvPr/>
        </p:nvSpPr>
        <p:spPr>
          <a:xfrm>
            <a:off x="9214037" y="2486379"/>
            <a:ext cx="6812102" cy="6233073"/>
          </a:xfrm>
          <a:custGeom>
            <a:rect b="b" l="l" r="r" t="t"/>
            <a:pathLst>
              <a:path extrusionOk="0" h="6233073" w="6812102">
                <a:moveTo>
                  <a:pt x="0" y="0"/>
                </a:moveTo>
                <a:lnTo>
                  <a:pt x="6812101" y="0"/>
                </a:lnTo>
                <a:lnTo>
                  <a:pt x="6812101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2064625" y="1005675"/>
            <a:ext cx="1305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Características de 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 txBox="1"/>
          <p:nvPr/>
        </p:nvSpPr>
        <p:spPr>
          <a:xfrm>
            <a:off x="3560147" y="3739428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Desempeño a escala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3560147" y="4871271"/>
            <a:ext cx="643584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hay servidores que administrar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 txBox="1"/>
          <p:nvPr/>
        </p:nvSpPr>
        <p:spPr>
          <a:xfrm>
            <a:off x="3560147" y="6033222"/>
            <a:ext cx="6325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fácil para empresas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4"/>
          <p:cNvGrpSpPr/>
          <p:nvPr/>
        </p:nvGrpSpPr>
        <p:grpSpPr>
          <a:xfrm>
            <a:off x="2985126" y="1971042"/>
            <a:ext cx="731003" cy="760368"/>
            <a:chOff x="0" y="0"/>
            <a:chExt cx="974670" cy="1013824"/>
          </a:xfrm>
        </p:grpSpPr>
        <p:sp>
          <p:nvSpPr>
            <p:cNvPr id="361" name="Google Shape;361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14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364" name="Google Shape;364;p14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4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14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367" name="Google Shape;367;p14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4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14"/>
          <p:cNvGrpSpPr/>
          <p:nvPr/>
        </p:nvGrpSpPr>
        <p:grpSpPr>
          <a:xfrm>
            <a:off x="2985126" y="3102885"/>
            <a:ext cx="731003" cy="760368"/>
            <a:chOff x="0" y="0"/>
            <a:chExt cx="974670" cy="1013824"/>
          </a:xfrm>
        </p:grpSpPr>
        <p:sp>
          <p:nvSpPr>
            <p:cNvPr id="370" name="Google Shape;370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14"/>
          <p:cNvGrpSpPr/>
          <p:nvPr/>
        </p:nvGrpSpPr>
        <p:grpSpPr>
          <a:xfrm>
            <a:off x="2985126" y="4264836"/>
            <a:ext cx="731003" cy="760368"/>
            <a:chOff x="0" y="0"/>
            <a:chExt cx="974670" cy="1013824"/>
          </a:xfrm>
        </p:grpSpPr>
        <p:sp>
          <p:nvSpPr>
            <p:cNvPr id="373" name="Google Shape;373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5" name="Google Shape;375;p14"/>
          <p:cNvSpPr txBox="1"/>
          <p:nvPr/>
        </p:nvSpPr>
        <p:spPr>
          <a:xfrm>
            <a:off x="2848950" y="497225"/>
            <a:ext cx="12858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 txBox="1"/>
          <p:nvPr/>
        </p:nvSpPr>
        <p:spPr>
          <a:xfrm>
            <a:off x="3908862" y="2094051"/>
            <a:ext cx="446364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Tecnología publicitaria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 txBox="1"/>
          <p:nvPr/>
        </p:nvSpPr>
        <p:spPr>
          <a:xfrm>
            <a:off x="3908862" y="3225894"/>
            <a:ext cx="260188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Video Juegos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 txBox="1"/>
          <p:nvPr/>
        </p:nvSpPr>
        <p:spPr>
          <a:xfrm>
            <a:off x="3908862" y="4387845"/>
            <a:ext cx="384831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 al por menor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9214037" y="2486379"/>
            <a:ext cx="6812102" cy="6233073"/>
          </a:xfrm>
          <a:custGeom>
            <a:rect b="b" l="l" r="r" t="t"/>
            <a:pathLst>
              <a:path extrusionOk="0" h="6233073" w="6812102">
                <a:moveTo>
                  <a:pt x="0" y="0"/>
                </a:moveTo>
                <a:lnTo>
                  <a:pt x="6812101" y="0"/>
                </a:lnTo>
                <a:lnTo>
                  <a:pt x="6812101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0" name="Google Shape;380;p14"/>
          <p:cNvGrpSpPr/>
          <p:nvPr/>
        </p:nvGrpSpPr>
        <p:grpSpPr>
          <a:xfrm>
            <a:off x="2985126" y="5425254"/>
            <a:ext cx="731003" cy="760368"/>
            <a:chOff x="0" y="0"/>
            <a:chExt cx="974670" cy="1013824"/>
          </a:xfrm>
        </p:grpSpPr>
        <p:sp>
          <p:nvSpPr>
            <p:cNvPr id="381" name="Google Shape;381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" name="Google Shape;383;p14"/>
          <p:cNvSpPr txBox="1"/>
          <p:nvPr/>
        </p:nvSpPr>
        <p:spPr>
          <a:xfrm>
            <a:off x="3908862" y="5548263"/>
            <a:ext cx="4763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Medios y entretenimiento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4" name="Google Shape;384;p14"/>
          <p:cNvGrpSpPr/>
          <p:nvPr/>
        </p:nvGrpSpPr>
        <p:grpSpPr>
          <a:xfrm>
            <a:off x="2989443" y="6585672"/>
            <a:ext cx="731003" cy="760368"/>
            <a:chOff x="0" y="0"/>
            <a:chExt cx="974670" cy="1013824"/>
          </a:xfrm>
        </p:grpSpPr>
        <p:sp>
          <p:nvSpPr>
            <p:cNvPr id="385" name="Google Shape;385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14"/>
          <p:cNvSpPr txBox="1"/>
          <p:nvPr/>
        </p:nvSpPr>
        <p:spPr>
          <a:xfrm>
            <a:off x="3913178" y="6708681"/>
            <a:ext cx="4763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Software e 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8" name="Google Shape;388;p14"/>
          <p:cNvGrpSpPr/>
          <p:nvPr/>
        </p:nvGrpSpPr>
        <p:grpSpPr>
          <a:xfrm>
            <a:off x="2985126" y="7555590"/>
            <a:ext cx="731003" cy="760368"/>
            <a:chOff x="0" y="0"/>
            <a:chExt cx="974670" cy="1013824"/>
          </a:xfrm>
        </p:grpSpPr>
        <p:sp>
          <p:nvSpPr>
            <p:cNvPr id="389" name="Google Shape;389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" name="Google Shape;391;p14"/>
          <p:cNvSpPr txBox="1"/>
          <p:nvPr/>
        </p:nvSpPr>
        <p:spPr>
          <a:xfrm>
            <a:off x="3908862" y="7678599"/>
            <a:ext cx="476341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Banca y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17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397" name="Google Shape;397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7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00" name="Google Shape;400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7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03" name="Google Shape;403;p17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7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7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06" name="Google Shape;406;p1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17"/>
          <p:cNvSpPr/>
          <p:nvPr/>
        </p:nvSpPr>
        <p:spPr>
          <a:xfrm>
            <a:off x="1692566" y="2780424"/>
            <a:ext cx="14902869" cy="3818860"/>
          </a:xfrm>
          <a:custGeom>
            <a:rect b="b" l="l" r="r" t="t"/>
            <a:pathLst>
              <a:path extrusionOk="0" h="3818860" w="14902869">
                <a:moveTo>
                  <a:pt x="0" y="0"/>
                </a:moveTo>
                <a:lnTo>
                  <a:pt x="14902868" y="0"/>
                </a:lnTo>
                <a:lnTo>
                  <a:pt x="14902868" y="3818860"/>
                </a:lnTo>
                <a:lnTo>
                  <a:pt x="0" y="3818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 txBox="1"/>
          <p:nvPr/>
        </p:nvSpPr>
        <p:spPr>
          <a:xfrm>
            <a:off x="2587151" y="971550"/>
            <a:ext cx="1207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¿Quiénes utilizan Amazon DynamoDB?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15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415" name="Google Shape;415;p15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5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15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418" name="Google Shape;418;p15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5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" name="Google Shape;420;p15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421" name="Google Shape;421;p15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5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3" name="Google Shape;423;p15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424" name="Google Shape;424;p15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5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15"/>
          <p:cNvSpPr txBox="1"/>
          <p:nvPr/>
        </p:nvSpPr>
        <p:spPr>
          <a:xfrm>
            <a:off x="6839603" y="1666875"/>
            <a:ext cx="11090246" cy="741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motor de base de datos de plataforma como servicio (PaaS) totalmente administrado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se encarga de la mayoría de las funciones de administración de bases de datos, como actualizar, aplicar revisiones, crear copias de seguridad y supervisar sin intervención del usuario.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Admite todas las ediciones de SQL Server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incluidas Enterprise, Standard y Express, y proporciona muchas funciones y beneficios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usar características avanzadas de procesamiento de consultas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como las tecnologías en memoria de alto rendimiento y el procesamiento de consultas inteligent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2371104" y="2578858"/>
            <a:ext cx="3861816" cy="5129284"/>
          </a:xfrm>
          <a:custGeom>
            <a:rect b="b" l="l" r="r" t="t"/>
            <a:pathLst>
              <a:path extrusionOk="0" h="5129284" w="3861816">
                <a:moveTo>
                  <a:pt x="0" y="0"/>
                </a:moveTo>
                <a:lnTo>
                  <a:pt x="3861816" y="0"/>
                </a:lnTo>
                <a:lnTo>
                  <a:pt x="3861816" y="5129284"/>
                </a:lnTo>
                <a:lnTo>
                  <a:pt x="0" y="5129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>
            <a:off x="9144000" y="593725"/>
            <a:ext cx="6975738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SQLDatabase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16"/>
          <p:cNvGrpSpPr/>
          <p:nvPr/>
        </p:nvGrpSpPr>
        <p:grpSpPr>
          <a:xfrm>
            <a:off x="2632183" y="2943988"/>
            <a:ext cx="731003" cy="760368"/>
            <a:chOff x="0" y="0"/>
            <a:chExt cx="974670" cy="1013824"/>
          </a:xfrm>
        </p:grpSpPr>
        <p:sp>
          <p:nvSpPr>
            <p:cNvPr id="434" name="Google Shape;434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1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437" name="Google Shape;437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1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440" name="Google Shape;440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2" name="Google Shape;442;p1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443" name="Google Shape;443;p1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5" name="Google Shape;445;p1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446" name="Google Shape;446;p1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8" name="Google Shape;448;p16"/>
          <p:cNvGrpSpPr/>
          <p:nvPr/>
        </p:nvGrpSpPr>
        <p:grpSpPr>
          <a:xfrm>
            <a:off x="2632183" y="4075831"/>
            <a:ext cx="731003" cy="760368"/>
            <a:chOff x="0" y="0"/>
            <a:chExt cx="974670" cy="1013824"/>
          </a:xfrm>
        </p:grpSpPr>
        <p:sp>
          <p:nvSpPr>
            <p:cNvPr id="449" name="Google Shape;449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" name="Google Shape;451;p16"/>
          <p:cNvGrpSpPr/>
          <p:nvPr/>
        </p:nvGrpSpPr>
        <p:grpSpPr>
          <a:xfrm>
            <a:off x="2632183" y="5237783"/>
            <a:ext cx="731003" cy="760368"/>
            <a:chOff x="0" y="0"/>
            <a:chExt cx="974670" cy="1013824"/>
          </a:xfrm>
        </p:grpSpPr>
        <p:sp>
          <p:nvSpPr>
            <p:cNvPr id="452" name="Google Shape;452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4" name="Google Shape;454;p16"/>
          <p:cNvSpPr txBox="1"/>
          <p:nvPr/>
        </p:nvSpPr>
        <p:spPr>
          <a:xfrm>
            <a:off x="1843275" y="1183325"/>
            <a:ext cx="14418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o Beneficios de Azure SQLDatabase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6"/>
          <p:cNvSpPr txBox="1"/>
          <p:nvPr/>
        </p:nvSpPr>
        <p:spPr>
          <a:xfrm>
            <a:off x="3555918" y="3066997"/>
            <a:ext cx="4542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Desempeño a escala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6"/>
          <p:cNvSpPr txBox="1"/>
          <p:nvPr/>
        </p:nvSpPr>
        <p:spPr>
          <a:xfrm>
            <a:off x="3555918" y="4198840"/>
            <a:ext cx="643584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hay servidores que administrar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6"/>
          <p:cNvSpPr txBox="1"/>
          <p:nvPr/>
        </p:nvSpPr>
        <p:spPr>
          <a:xfrm>
            <a:off x="3555918" y="5360792"/>
            <a:ext cx="6325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fácil para empresas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11696738" y="2943988"/>
            <a:ext cx="3861816" cy="5129284"/>
          </a:xfrm>
          <a:custGeom>
            <a:rect b="b" l="l" r="r" t="t"/>
            <a:pathLst>
              <a:path extrusionOk="0" h="5129284" w="3861816">
                <a:moveTo>
                  <a:pt x="0" y="0"/>
                </a:moveTo>
                <a:lnTo>
                  <a:pt x="3861816" y="0"/>
                </a:lnTo>
                <a:lnTo>
                  <a:pt x="3861816" y="5129283"/>
                </a:lnTo>
                <a:lnTo>
                  <a:pt x="0" y="5129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9" name="Google Shape;459;p16"/>
          <p:cNvGrpSpPr/>
          <p:nvPr/>
        </p:nvGrpSpPr>
        <p:grpSpPr>
          <a:xfrm>
            <a:off x="2632183" y="6522026"/>
            <a:ext cx="731003" cy="760368"/>
            <a:chOff x="0" y="0"/>
            <a:chExt cx="974670" cy="1013824"/>
          </a:xfrm>
        </p:grpSpPr>
        <p:sp>
          <p:nvSpPr>
            <p:cNvPr id="460" name="Google Shape;460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24"/>
                <a:buFont typeface="Arial"/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2" name="Google Shape;462;p16"/>
          <p:cNvSpPr txBox="1"/>
          <p:nvPr/>
        </p:nvSpPr>
        <p:spPr>
          <a:xfrm>
            <a:off x="3555918" y="6645035"/>
            <a:ext cx="63254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fácil para empresas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8"/>
          <p:cNvSpPr txBox="1"/>
          <p:nvPr/>
        </p:nvSpPr>
        <p:spPr>
          <a:xfrm>
            <a:off x="6166085" y="1542210"/>
            <a:ext cx="5955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8"/>
          <p:cNvSpPr txBox="1"/>
          <p:nvPr/>
        </p:nvSpPr>
        <p:spPr>
          <a:xfrm>
            <a:off x="2162609" y="2588798"/>
            <a:ext cx="13962900" cy="5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CREACIÓN, CONFIGURACIÓN E IMPLEMENTACIÓN DE UNA BASE DE DATOS RELACIONAL DESPLEGADA EN LA NUBE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9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9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 txBox="1"/>
          <p:nvPr/>
        </p:nvSpPr>
        <p:spPr>
          <a:xfrm>
            <a:off x="7187774" y="5086350"/>
            <a:ext cx="4254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