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29"/>
  </p:notesMasterIdLst>
  <p:sldIdLst>
    <p:sldId id="293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8288000" cy="10287000"/>
  <p:notesSz cx="6858000" cy="9144000"/>
  <p:embeddedFontLst>
    <p:embeddedFont>
      <p:font typeface="Clear Sans" panose="020B0604020202020204" charset="0"/>
      <p:regular r:id="rId30"/>
    </p:embeddedFont>
    <p:embeddedFont>
      <p:font typeface="Clear Sans Bold" panose="020B0604020202020204" charset="0"/>
      <p:regular r:id="rId31"/>
    </p:embeddedFont>
    <p:embeddedFont>
      <p:font typeface="Clear Sans Medium" panose="020B0604020202020204" charset="0"/>
      <p:regular r:id="rId32"/>
    </p:embeddedFont>
    <p:embeddedFont>
      <p:font typeface="Hammersmith One" panose="02010703030501060504" pitchFamily="2" charset="0"/>
      <p:regular r:id="rId33"/>
    </p:embeddedFont>
    <p:embeddedFont>
      <p:font typeface="Open Sans Bold" panose="020B0806030504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4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3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1.fntdata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A25FF1-6B71-4452-951E-BC6203E0AAF3}" type="datetimeFigureOut">
              <a:rPr lang="es-MX" smtClean="0"/>
              <a:t>29/10/2025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D7FA9-DF93-466B-A786-EB24E4373F0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8068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b241b13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b241b13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0393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6063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65373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4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94591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4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8474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3607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3280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88636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5364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48659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914400" lvl="0" indent="-685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828800" lvl="1" indent="-635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2743200" lvl="2" indent="-635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3657600" lvl="3" indent="-6350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4572000" lvl="4" indent="-635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5486400" lvl="5" indent="-635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6400800" lvl="6" indent="-6350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7315200" lvl="7" indent="-635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8229600" lvl="8" indent="-6350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MX" smtClean="0"/>
              <a:pPr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3432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44930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6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16903" y="1"/>
            <a:ext cx="18254198" cy="1028700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3"/>
          <p:cNvGraphicFramePr/>
          <p:nvPr/>
        </p:nvGraphicFramePr>
        <p:xfrm>
          <a:off x="10656401" y="1940050"/>
          <a:ext cx="7381150" cy="159703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3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85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2800" b="1" noProof="0" dirty="0">
                          <a:solidFill>
                            <a:schemeClr val="dk1"/>
                          </a:solidFill>
                        </a:rPr>
                        <a:t>Día, Fecha:</a:t>
                      </a: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2800" noProof="0" dirty="0"/>
                        <a:t>Martes, 22/07/2025</a:t>
                      </a:r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5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2800" b="1" noProof="0" dirty="0">
                          <a:solidFill>
                            <a:schemeClr val="dk1"/>
                          </a:solidFill>
                        </a:rPr>
                        <a:t>Hora de inicio:</a:t>
                      </a: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2800" noProof="0" dirty="0"/>
                        <a:t>19:00</a:t>
                      </a:r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3"/>
          <p:cNvSpPr txBox="1"/>
          <p:nvPr/>
        </p:nvSpPr>
        <p:spPr>
          <a:xfrm>
            <a:off x="2880350" y="4516600"/>
            <a:ext cx="13584000" cy="11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GT" sz="5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Seminario de Sistemas 1 [</a:t>
            </a:r>
            <a:r>
              <a:rPr lang="es-GT" sz="5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]</a:t>
            </a:r>
            <a:endParaRPr kumimoji="0" lang="es-GT" sz="5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880350" y="5816015"/>
            <a:ext cx="11173200" cy="984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s-GT" sz="4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Nombre Del Tutor</a:t>
            </a:r>
            <a:r>
              <a:rPr kumimoji="0" lang="es-GT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52288" y="201103"/>
            <a:ext cx="4684163" cy="1457826"/>
          </a:xfrm>
          <a:custGeom>
            <a:avLst/>
            <a:gdLst/>
            <a:ahLst/>
            <a:cxnLst/>
            <a:rect l="l" t="t" r="r" b="b"/>
            <a:pathLst>
              <a:path w="4684163" h="1457826">
                <a:moveTo>
                  <a:pt x="0" y="0"/>
                </a:moveTo>
                <a:lnTo>
                  <a:pt x="4684163" y="0"/>
                </a:lnTo>
                <a:lnTo>
                  <a:pt x="4684163" y="1457827"/>
                </a:lnTo>
                <a:lnTo>
                  <a:pt x="0" y="1457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AutoShape 3"/>
          <p:cNvSpPr/>
          <p:nvPr/>
        </p:nvSpPr>
        <p:spPr>
          <a:xfrm>
            <a:off x="507314" y="8149956"/>
            <a:ext cx="6492240" cy="0"/>
          </a:xfrm>
          <a:prstGeom prst="line">
            <a:avLst/>
          </a:prstGeom>
          <a:ln w="38100" cap="flat">
            <a:solidFill>
              <a:srgbClr val="121F3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 rot="-5120379" flipV="1">
            <a:off x="7710161" y="1015520"/>
            <a:ext cx="3138698" cy="18364721"/>
          </a:xfrm>
          <a:custGeom>
            <a:avLst/>
            <a:gdLst/>
            <a:ahLst/>
            <a:cxnLst/>
            <a:rect l="l" t="t" r="r" b="b"/>
            <a:pathLst>
              <a:path w="3138698" h="18364721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1669741" y="2766935"/>
            <a:ext cx="15132474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spc="-6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UNIDAD 6</a:t>
            </a:r>
          </a:p>
          <a:p>
            <a:pPr algn="ctr">
              <a:lnSpc>
                <a:spcPts val="6299"/>
              </a:lnSpc>
            </a:pPr>
            <a:r>
              <a:rPr lang="en-US" sz="4500" spc="-44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“Servicios de Almacenamiento de Objetos en Cloud”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7314" y="8207106"/>
            <a:ext cx="4887216" cy="1313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2"/>
              </a:lnSpc>
            </a:pPr>
            <a:r>
              <a:rPr lang="en-US" sz="1894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Escuela de Ingenieria de Ciencias y Sistemas</a:t>
            </a:r>
          </a:p>
          <a:p>
            <a:pPr algn="l">
              <a:lnSpc>
                <a:spcPts val="2652"/>
              </a:lnSpc>
            </a:pPr>
            <a:r>
              <a:rPr lang="en-US" sz="1894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Facultad de Ingenieria</a:t>
            </a:r>
          </a:p>
          <a:p>
            <a:pPr algn="l">
              <a:lnSpc>
                <a:spcPts val="2652"/>
              </a:lnSpc>
            </a:pPr>
            <a:r>
              <a:rPr lang="en-US" sz="1894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Universidad de San Carlos de Guatemala</a:t>
            </a:r>
          </a:p>
          <a:p>
            <a:pPr algn="l">
              <a:lnSpc>
                <a:spcPts val="2652"/>
              </a:lnSpc>
            </a:pPr>
            <a:endParaRPr lang="en-US" sz="1894">
              <a:solidFill>
                <a:srgbClr val="29303C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07314" y="7380141"/>
            <a:ext cx="585350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29303C"/>
                </a:solidFill>
                <a:latin typeface="Clear Sans Medium"/>
                <a:ea typeface="Clear Sans Medium"/>
                <a:cs typeface="Clear Sans Medium"/>
                <a:sym typeface="Clear Sans Medium"/>
              </a:rPr>
              <a:t>Seminario de Sistemas 1</a:t>
            </a:r>
          </a:p>
        </p:txBody>
      </p:sp>
      <p:sp>
        <p:nvSpPr>
          <p:cNvPr id="8" name="Freeform 8"/>
          <p:cNvSpPr/>
          <p:nvPr/>
        </p:nvSpPr>
        <p:spPr>
          <a:xfrm rot="-5120379" flipV="1">
            <a:off x="7894116" y="1193759"/>
            <a:ext cx="3138698" cy="18364721"/>
          </a:xfrm>
          <a:custGeom>
            <a:avLst/>
            <a:gdLst/>
            <a:ahLst/>
            <a:cxnLst/>
            <a:rect l="l" t="t" r="r" b="b"/>
            <a:pathLst>
              <a:path w="3138698" h="18364721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AutoShape 9"/>
          <p:cNvSpPr/>
          <p:nvPr/>
        </p:nvSpPr>
        <p:spPr>
          <a:xfrm>
            <a:off x="6360815" y="3853064"/>
            <a:ext cx="5861220" cy="0"/>
          </a:xfrm>
          <a:prstGeom prst="line">
            <a:avLst/>
          </a:prstGeom>
          <a:ln w="38100" cap="flat">
            <a:solidFill>
              <a:srgbClr val="29303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1964" y="2747250"/>
            <a:ext cx="731003" cy="760368"/>
            <a:chOff x="0" y="0"/>
            <a:chExt cx="974670" cy="1013824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u="none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1</a:t>
              </a:r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12857023" y="4742132"/>
            <a:ext cx="10861953" cy="802736"/>
          </a:xfrm>
          <a:custGeom>
            <a:avLst/>
            <a:gdLst/>
            <a:ahLst/>
            <a:cxnLst/>
            <a:rect l="l" t="t" r="r" b="b"/>
            <a:pathLst>
              <a:path w="10861953" h="802736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1" t="-308623" r="-7088" b="-1042730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6" name="Group 6"/>
          <p:cNvGrpSpPr/>
          <p:nvPr/>
        </p:nvGrpSpPr>
        <p:grpSpPr>
          <a:xfrm>
            <a:off x="1421964" y="5820388"/>
            <a:ext cx="731003" cy="760368"/>
            <a:chOff x="0" y="0"/>
            <a:chExt cx="974670" cy="1013824"/>
          </a:xfrm>
        </p:grpSpPr>
        <p:sp>
          <p:nvSpPr>
            <p:cNvPr id="7" name="AutoShape 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21964" y="6990935"/>
            <a:ext cx="731003" cy="760368"/>
            <a:chOff x="0" y="0"/>
            <a:chExt cx="974670" cy="1013824"/>
          </a:xfrm>
        </p:grpSpPr>
        <p:sp>
          <p:nvSpPr>
            <p:cNvPr id="10" name="AutoShape 1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2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1211924" y="2318625"/>
            <a:ext cx="464355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3" name="AutoShape 13"/>
          <p:cNvSpPr/>
          <p:nvPr/>
        </p:nvSpPr>
        <p:spPr>
          <a:xfrm>
            <a:off x="1211924" y="5296513"/>
            <a:ext cx="2129220" cy="0"/>
          </a:xfrm>
          <a:prstGeom prst="line">
            <a:avLst/>
          </a:prstGeom>
          <a:ln w="38100" cap="flat">
            <a:solidFill>
              <a:srgbClr val="29303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4" name="Group 14"/>
          <p:cNvGrpSpPr/>
          <p:nvPr/>
        </p:nvGrpSpPr>
        <p:grpSpPr>
          <a:xfrm>
            <a:off x="1421964" y="8294228"/>
            <a:ext cx="731003" cy="760368"/>
            <a:chOff x="0" y="0"/>
            <a:chExt cx="974670" cy="1013824"/>
          </a:xfrm>
        </p:grpSpPr>
        <p:sp>
          <p:nvSpPr>
            <p:cNvPr id="15" name="AutoShape 1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3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337346" y="274507"/>
            <a:ext cx="3475025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 spc="-139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AGENDA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640377" y="2830096"/>
            <a:ext cx="1401532" cy="556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2"/>
              </a:lnSpc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Foro 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35952" y="5933228"/>
            <a:ext cx="7418227" cy="556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2"/>
              </a:lnSpc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Tipos de Almacenamiento en Cloud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35952" y="6874163"/>
            <a:ext cx="7487369" cy="1118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2"/>
              </a:lnSpc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Funcionamiento y Características de Almacenamiento Cloud en AWS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1924" y="1300032"/>
            <a:ext cx="464355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29303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Recordatorios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11924" y="4208720"/>
            <a:ext cx="224805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29303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Temas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35952" y="8377073"/>
            <a:ext cx="5218114" cy="556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2"/>
              </a:lnSpc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Servicios de AWS y Azure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540649" y="-1650899"/>
            <a:ext cx="3138698" cy="18364721"/>
          </a:xfrm>
          <a:custGeom>
            <a:avLst/>
            <a:gdLst/>
            <a:ahLst/>
            <a:cxnLst/>
            <a:rect l="l" t="t" r="r" b="b"/>
            <a:pathLst>
              <a:path w="3138698" h="18364721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-5120379" flipV="1">
            <a:off x="13549610" y="-9711175"/>
            <a:ext cx="3138698" cy="18364721"/>
          </a:xfrm>
          <a:custGeom>
            <a:avLst/>
            <a:gdLst/>
            <a:ahLst/>
            <a:cxnLst/>
            <a:rect l="l" t="t" r="r" b="b"/>
            <a:pathLst>
              <a:path w="3138698" h="18364721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1127467" y="1364168"/>
            <a:ext cx="15916839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 spc="-139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¿Qué es el almacenamiento en la nube?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843243" y="3476359"/>
            <a:ext cx="731003" cy="760368"/>
            <a:chOff x="0" y="0"/>
            <a:chExt cx="974670" cy="1013824"/>
          </a:xfrm>
        </p:grpSpPr>
        <p:sp>
          <p:nvSpPr>
            <p:cNvPr id="6" name="AutoShape 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777525" y="3351718"/>
            <a:ext cx="13535779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Es un modelo de almacenamiento de datos basado en redes de computadoras.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208745" y="5276584"/>
            <a:ext cx="731003" cy="760368"/>
            <a:chOff x="0" y="0"/>
            <a:chExt cx="974670" cy="1013824"/>
          </a:xfrm>
        </p:grpSpPr>
        <p:sp>
          <p:nvSpPr>
            <p:cNvPr id="10" name="AutoShape 1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2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3155726" y="5151943"/>
            <a:ext cx="13535779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Ideado en los años 60's, donde los datos están alojados en espacios de almacenamiento virtualizados.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777525" y="7076809"/>
            <a:ext cx="731003" cy="760368"/>
            <a:chOff x="0" y="0"/>
            <a:chExt cx="974670" cy="1013824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3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711806" y="6952168"/>
            <a:ext cx="13535779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Funciona por medio de compañías de alojamiento, quienes operan enormes centros de procesamiento de datos.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42857" y="8949067"/>
            <a:ext cx="3086100" cy="2975657"/>
            <a:chOff x="0" y="0"/>
            <a:chExt cx="812800" cy="7837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53117" y="7461239"/>
            <a:ext cx="3086100" cy="2975657"/>
            <a:chOff x="0" y="0"/>
            <a:chExt cx="812800" cy="7837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12774" y="9790606"/>
            <a:ext cx="1419225" cy="496394"/>
            <a:chOff x="0" y="0"/>
            <a:chExt cx="373788" cy="1307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3788" cy="130738"/>
            </a:xfrm>
            <a:custGeom>
              <a:avLst/>
              <a:gdLst/>
              <a:ahLst/>
              <a:cxnLst/>
              <a:rect l="l" t="t" r="r" b="b"/>
              <a:pathLst>
                <a:path w="373788" h="130738">
                  <a:moveTo>
                    <a:pt x="0" y="0"/>
                  </a:moveTo>
                  <a:lnTo>
                    <a:pt x="373788" y="0"/>
                  </a:lnTo>
                  <a:lnTo>
                    <a:pt x="373788" y="130738"/>
                  </a:lnTo>
                  <a:lnTo>
                    <a:pt x="0" y="130738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73788" cy="168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38199" y="9611712"/>
            <a:ext cx="6249801" cy="675288"/>
            <a:chOff x="0" y="0"/>
            <a:chExt cx="1646038" cy="1778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46038" cy="177854"/>
            </a:xfrm>
            <a:custGeom>
              <a:avLst/>
              <a:gdLst/>
              <a:ahLst/>
              <a:cxnLst/>
              <a:rect l="l" t="t" r="r" b="b"/>
              <a:pathLst>
                <a:path w="1646038" h="177854">
                  <a:moveTo>
                    <a:pt x="0" y="0"/>
                  </a:moveTo>
                  <a:lnTo>
                    <a:pt x="1646038" y="0"/>
                  </a:lnTo>
                  <a:lnTo>
                    <a:pt x="1646038" y="177854"/>
                  </a:lnTo>
                  <a:lnTo>
                    <a:pt x="0" y="177854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646038" cy="215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63401" y="2094952"/>
            <a:ext cx="14919082" cy="5576007"/>
          </a:xfrm>
          <a:custGeom>
            <a:avLst/>
            <a:gdLst/>
            <a:ahLst/>
            <a:cxnLst/>
            <a:rect l="l" t="t" r="r" b="b"/>
            <a:pathLst>
              <a:path w="14919082" h="5576007">
                <a:moveTo>
                  <a:pt x="0" y="0"/>
                </a:moveTo>
                <a:lnTo>
                  <a:pt x="14919082" y="0"/>
                </a:lnTo>
                <a:lnTo>
                  <a:pt x="14919082" y="5576007"/>
                </a:lnTo>
                <a:lnTo>
                  <a:pt x="0" y="55760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TextBox 15"/>
          <p:cNvSpPr txBox="1"/>
          <p:nvPr/>
        </p:nvSpPr>
        <p:spPr>
          <a:xfrm>
            <a:off x="1805517" y="594079"/>
            <a:ext cx="14676967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 spc="-139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Tipos de Almacenamiento en la nube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120379" flipV="1">
            <a:off x="7710161" y="1015520"/>
            <a:ext cx="3138698" cy="18364721"/>
          </a:xfrm>
          <a:custGeom>
            <a:avLst/>
            <a:gdLst/>
            <a:ahLst/>
            <a:cxnLst/>
            <a:rect l="l" t="t" r="r" b="b"/>
            <a:pathLst>
              <a:path w="3138698" h="18364721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-5120379" flipV="1">
            <a:off x="7894116" y="1193759"/>
            <a:ext cx="3138698" cy="18364721"/>
          </a:xfrm>
          <a:custGeom>
            <a:avLst/>
            <a:gdLst/>
            <a:ahLst/>
            <a:cxnLst/>
            <a:rect l="l" t="t" r="r" b="b"/>
            <a:pathLst>
              <a:path w="3138698" h="18364721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779484" y="3060341"/>
            <a:ext cx="16729031" cy="4475016"/>
          </a:xfrm>
          <a:custGeom>
            <a:avLst/>
            <a:gdLst/>
            <a:ahLst/>
            <a:cxnLst/>
            <a:rect l="l" t="t" r="r" b="b"/>
            <a:pathLst>
              <a:path w="16729031" h="4475016">
                <a:moveTo>
                  <a:pt x="0" y="0"/>
                </a:moveTo>
                <a:lnTo>
                  <a:pt x="16729032" y="0"/>
                </a:lnTo>
                <a:lnTo>
                  <a:pt x="16729032" y="4475016"/>
                </a:lnTo>
                <a:lnTo>
                  <a:pt x="0" y="44750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1586096" y="1587257"/>
            <a:ext cx="15386828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 spc="-139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Servicios de Almacenamiento en  AWS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969572"/>
            <a:ext cx="7251395" cy="1334783"/>
            <a:chOff x="0" y="0"/>
            <a:chExt cx="1909832" cy="351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9832" cy="351548"/>
            </a:xfrm>
            <a:custGeom>
              <a:avLst/>
              <a:gdLst/>
              <a:ahLst/>
              <a:cxnLst/>
              <a:rect l="l" t="t" r="r" b="b"/>
              <a:pathLst>
                <a:path w="1909832" h="351548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378213"/>
            <a:ext cx="18288000" cy="908787"/>
            <a:chOff x="0" y="0"/>
            <a:chExt cx="4816593" cy="2393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239351"/>
            </a:xfrm>
            <a:custGeom>
              <a:avLst/>
              <a:gdLst/>
              <a:ahLst/>
              <a:cxnLst/>
              <a:rect l="l" t="t" r="r" b="b"/>
              <a:pathLst>
                <a:path w="4816592" h="239351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559909" y="2131113"/>
            <a:ext cx="7699391" cy="6024773"/>
          </a:xfrm>
          <a:custGeom>
            <a:avLst/>
            <a:gdLst/>
            <a:ahLst/>
            <a:cxnLst/>
            <a:rect l="l" t="t" r="r" b="b"/>
            <a:pathLst>
              <a:path w="7699391" h="6024773">
                <a:moveTo>
                  <a:pt x="0" y="0"/>
                </a:moveTo>
                <a:lnTo>
                  <a:pt x="7699391" y="0"/>
                </a:lnTo>
                <a:lnTo>
                  <a:pt x="7699391" y="6024774"/>
                </a:lnTo>
                <a:lnTo>
                  <a:pt x="0" y="6024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TextBox 9"/>
          <p:cNvSpPr txBox="1"/>
          <p:nvPr/>
        </p:nvSpPr>
        <p:spPr>
          <a:xfrm>
            <a:off x="2925283" y="781050"/>
            <a:ext cx="13269253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 spc="-139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Amazon Elastic File System [EFS]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152775"/>
            <a:ext cx="9337854" cy="395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Amazon Elastic File System </a:t>
            </a:r>
            <a:r>
              <a:rPr lang="en-US" sz="3000" b="1" spc="120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es un servicio de almacenamiento en la nube de tipo “fichero”</a:t>
            </a: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 proporcionado por Amazon Web Services diseñado para proporcionar </a:t>
            </a:r>
            <a:r>
              <a:rPr lang="en-US" sz="3000" b="1" spc="120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almacenamiento de archivos escalable, elástico, simultáneo con algunas restricciones</a:t>
            </a: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, y cifrado para su uso con ambos servicios en la nube de AWS y recursos locales.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05618" y="2477127"/>
            <a:ext cx="731003" cy="760368"/>
            <a:chOff x="0" y="0"/>
            <a:chExt cx="974670" cy="1013824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1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242857" y="8949067"/>
            <a:ext cx="3086100" cy="2975657"/>
            <a:chOff x="0" y="0"/>
            <a:chExt cx="812800" cy="7837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753117" y="7461239"/>
            <a:ext cx="3086100" cy="2975657"/>
            <a:chOff x="0" y="0"/>
            <a:chExt cx="812800" cy="78371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776087" y="-394917"/>
            <a:ext cx="2344551" cy="2013221"/>
            <a:chOff x="0" y="0"/>
            <a:chExt cx="617495" cy="5302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17495" cy="530231"/>
            </a:xfrm>
            <a:custGeom>
              <a:avLst/>
              <a:gdLst/>
              <a:ahLst/>
              <a:cxnLst/>
              <a:rect l="l" t="t" r="r" b="b"/>
              <a:pathLst>
                <a:path w="617495" h="530231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259300" y="786655"/>
            <a:ext cx="3086100" cy="2975657"/>
            <a:chOff x="0" y="0"/>
            <a:chExt cx="812800" cy="78371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605618" y="3608970"/>
            <a:ext cx="731003" cy="760368"/>
            <a:chOff x="0" y="0"/>
            <a:chExt cx="974670" cy="1013824"/>
          </a:xfrm>
        </p:grpSpPr>
        <p:sp>
          <p:nvSpPr>
            <p:cNvPr id="18" name="AutoShape 1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605618" y="4770922"/>
            <a:ext cx="731003" cy="760368"/>
            <a:chOff x="0" y="0"/>
            <a:chExt cx="974670" cy="1013824"/>
          </a:xfrm>
        </p:grpSpPr>
        <p:sp>
          <p:nvSpPr>
            <p:cNvPr id="21" name="AutoShape 21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3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028420" y="841729"/>
            <a:ext cx="12231160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 spc="-139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Características de Amazon EFS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29354" y="2600136"/>
            <a:ext cx="5844279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Completamente administrado.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29354" y="3731979"/>
            <a:ext cx="643584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Alta disponibilidad y durabilidad.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29354" y="4893931"/>
            <a:ext cx="8166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Totalmente elástico y altamente escalable.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605618" y="5850987"/>
            <a:ext cx="731003" cy="760368"/>
            <a:chOff x="0" y="0"/>
            <a:chExt cx="974670" cy="1013824"/>
          </a:xfrm>
        </p:grpSpPr>
        <p:sp>
          <p:nvSpPr>
            <p:cNvPr id="28" name="AutoShape 2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4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05618" y="6982830"/>
            <a:ext cx="731003" cy="760368"/>
            <a:chOff x="0" y="0"/>
            <a:chExt cx="974670" cy="1013824"/>
          </a:xfrm>
        </p:grpSpPr>
        <p:sp>
          <p:nvSpPr>
            <p:cNvPr id="31" name="AutoShape 31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5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529354" y="5973996"/>
            <a:ext cx="643584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Tipos de almacenamiento.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29354" y="6828798"/>
            <a:ext cx="8166902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Administración del ciclo de vida y organización inteligente por niveles.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42857" y="8949067"/>
            <a:ext cx="3086100" cy="2975657"/>
            <a:chOff x="0" y="0"/>
            <a:chExt cx="812800" cy="7837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53117" y="7461239"/>
            <a:ext cx="3086100" cy="2975657"/>
            <a:chOff x="0" y="0"/>
            <a:chExt cx="812800" cy="7837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76087" y="-394917"/>
            <a:ext cx="2344551" cy="2013221"/>
            <a:chOff x="0" y="0"/>
            <a:chExt cx="617495" cy="5302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7495" cy="530231"/>
            </a:xfrm>
            <a:custGeom>
              <a:avLst/>
              <a:gdLst/>
              <a:ahLst/>
              <a:cxnLst/>
              <a:rect l="l" t="t" r="r" b="b"/>
              <a:pathLst>
                <a:path w="617495" h="530231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259300" y="786655"/>
            <a:ext cx="3086100" cy="2975657"/>
            <a:chOff x="0" y="0"/>
            <a:chExt cx="812800" cy="7837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930048" y="1856549"/>
            <a:ext cx="14732188" cy="6169104"/>
          </a:xfrm>
          <a:custGeom>
            <a:avLst/>
            <a:gdLst/>
            <a:ahLst/>
            <a:cxnLst/>
            <a:rect l="l" t="t" r="r" b="b"/>
            <a:pathLst>
              <a:path w="14732188" h="6169104">
                <a:moveTo>
                  <a:pt x="0" y="0"/>
                </a:moveTo>
                <a:lnTo>
                  <a:pt x="14732187" y="0"/>
                </a:lnTo>
                <a:lnTo>
                  <a:pt x="14732187" y="6169104"/>
                </a:lnTo>
                <a:lnTo>
                  <a:pt x="0" y="61691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TextBox 15"/>
          <p:cNvSpPr txBox="1"/>
          <p:nvPr/>
        </p:nvSpPr>
        <p:spPr>
          <a:xfrm>
            <a:off x="5604914" y="554543"/>
            <a:ext cx="7382455" cy="81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000" b="1" spc="-100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Diagrama de Amazon EFS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05369" cy="10287000"/>
            <a:chOff x="0" y="0"/>
            <a:chExt cx="13310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101" cy="2709333"/>
            </a:xfrm>
            <a:custGeom>
              <a:avLst/>
              <a:gdLst/>
              <a:ahLst/>
              <a:cxnLst/>
              <a:rect l="l" t="t" r="r" b="b"/>
              <a:pathLst>
                <a:path w="133101" h="2709333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3194172"/>
            <a:ext cx="16562555" cy="4341299"/>
          </a:xfrm>
          <a:custGeom>
            <a:avLst/>
            <a:gdLst/>
            <a:ahLst/>
            <a:cxnLst/>
            <a:rect l="l" t="t" r="r" b="b"/>
            <a:pathLst>
              <a:path w="16562555" h="4341299">
                <a:moveTo>
                  <a:pt x="0" y="0"/>
                </a:moveTo>
                <a:lnTo>
                  <a:pt x="16562555" y="0"/>
                </a:lnTo>
                <a:lnTo>
                  <a:pt x="16562555" y="4341299"/>
                </a:lnTo>
                <a:lnTo>
                  <a:pt x="0" y="4341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037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TextBox 6"/>
          <p:cNvSpPr txBox="1"/>
          <p:nvPr/>
        </p:nvSpPr>
        <p:spPr>
          <a:xfrm>
            <a:off x="5868726" y="1924050"/>
            <a:ext cx="6882503" cy="81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000" b="1" spc="-100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Clientes de Amazon EFS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898133"/>
            <a:ext cx="9144000" cy="1388867"/>
            <a:chOff x="0" y="0"/>
            <a:chExt cx="2408296" cy="3657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365792"/>
            </a:xfrm>
            <a:custGeom>
              <a:avLst/>
              <a:gdLst/>
              <a:ahLst/>
              <a:cxnLst/>
              <a:rect l="l" t="t" r="r" b="b"/>
              <a:pathLst>
                <a:path w="2408296" h="365792">
                  <a:moveTo>
                    <a:pt x="0" y="0"/>
                  </a:moveTo>
                  <a:lnTo>
                    <a:pt x="2408296" y="0"/>
                  </a:lnTo>
                  <a:lnTo>
                    <a:pt x="2408296" y="365792"/>
                  </a:lnTo>
                  <a:lnTo>
                    <a:pt x="0" y="365792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403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604994" y="1282396"/>
            <a:ext cx="6349012" cy="6356958"/>
          </a:xfrm>
          <a:custGeom>
            <a:avLst/>
            <a:gdLst/>
            <a:ahLst/>
            <a:cxnLst/>
            <a:rect l="l" t="t" r="r" b="b"/>
            <a:pathLst>
              <a:path w="6349012" h="6356958">
                <a:moveTo>
                  <a:pt x="0" y="0"/>
                </a:moveTo>
                <a:lnTo>
                  <a:pt x="6349012" y="0"/>
                </a:lnTo>
                <a:lnTo>
                  <a:pt x="6349012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TextBox 9"/>
          <p:cNvSpPr txBox="1"/>
          <p:nvPr/>
        </p:nvSpPr>
        <p:spPr>
          <a:xfrm>
            <a:off x="1607896" y="2737154"/>
            <a:ext cx="7536104" cy="543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Amazon Elastic Block Store (EBS)</a:t>
            </a:r>
            <a:r>
              <a:rPr lang="en-US" sz="3000" b="1" spc="120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es un servicio de almacenamiento de bloques escalable y de alto rendimiento</a:t>
            </a: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 ofrecido por Amazon Web Services (AWS). Proporciona volúmenes de almacenamiento persistente para instancias de Amazon EC2 (Elastic Compute Cloud), lo que permite a los usuarios almacenar datos de forma duradera y acceder a ellos de manera rápida y confiable.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07896" y="842962"/>
            <a:ext cx="7754010" cy="163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5000" b="1" spc="-100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Amazon Elastic Block Store [EBS]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1307" y="0"/>
            <a:ext cx="388125" cy="8421005"/>
            <a:chOff x="0" y="0"/>
            <a:chExt cx="102222" cy="2217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222" cy="2217878"/>
            </a:xfrm>
            <a:custGeom>
              <a:avLst/>
              <a:gdLst/>
              <a:ahLst/>
              <a:cxnLst/>
              <a:rect l="l" t="t" r="r" b="b"/>
              <a:pathLst>
                <a:path w="102222" h="2217878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505369" cy="10287000"/>
            <a:chOff x="0" y="0"/>
            <a:chExt cx="133101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3101" cy="2709333"/>
            </a:xfrm>
            <a:custGeom>
              <a:avLst/>
              <a:gdLst/>
              <a:ahLst/>
              <a:cxnLst/>
              <a:rect l="l" t="t" r="r" b="b"/>
              <a:pathLst>
                <a:path w="133101" h="2709333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660541" y="8747652"/>
            <a:ext cx="1066563" cy="1021296"/>
            <a:chOff x="0" y="0"/>
            <a:chExt cx="280906" cy="2689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0906" cy="268983"/>
            </a:xfrm>
            <a:custGeom>
              <a:avLst/>
              <a:gdLst/>
              <a:ahLst/>
              <a:cxnLst/>
              <a:rect l="l" t="t" r="r" b="b"/>
              <a:pathLst>
                <a:path w="280906" h="268983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259300" y="9258300"/>
            <a:ext cx="1467805" cy="1290499"/>
            <a:chOff x="0" y="0"/>
            <a:chExt cx="386582" cy="33988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6582" cy="339885"/>
            </a:xfrm>
            <a:custGeom>
              <a:avLst/>
              <a:gdLst/>
              <a:ahLst/>
              <a:cxnLst/>
              <a:rect l="l" t="t" r="r" b="b"/>
              <a:pathLst>
                <a:path w="386582" h="339885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917295" y="971550"/>
            <a:ext cx="12453410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 spc="-139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Características de Amazon EBS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605618" y="2477127"/>
            <a:ext cx="731003" cy="760368"/>
            <a:chOff x="0" y="0"/>
            <a:chExt cx="974670" cy="1013824"/>
          </a:xfrm>
        </p:grpSpPr>
        <p:sp>
          <p:nvSpPr>
            <p:cNvPr id="16" name="AutoShape 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605618" y="3608970"/>
            <a:ext cx="731003" cy="760368"/>
            <a:chOff x="0" y="0"/>
            <a:chExt cx="974670" cy="1013824"/>
          </a:xfrm>
        </p:grpSpPr>
        <p:sp>
          <p:nvSpPr>
            <p:cNvPr id="19" name="AutoShape 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605618" y="4770922"/>
            <a:ext cx="731003" cy="760368"/>
            <a:chOff x="0" y="0"/>
            <a:chExt cx="974670" cy="1013824"/>
          </a:xfrm>
        </p:grpSpPr>
        <p:sp>
          <p:nvSpPr>
            <p:cNvPr id="22" name="AutoShape 2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3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529354" y="2600136"/>
            <a:ext cx="2383529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Persistencia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29354" y="3731979"/>
            <a:ext cx="643584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Alta disponibilidad y durabilidad.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29354" y="4893931"/>
            <a:ext cx="81669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Totalmente elástico y altamente escalable.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605618" y="5850987"/>
            <a:ext cx="731003" cy="760368"/>
            <a:chOff x="0" y="0"/>
            <a:chExt cx="974670" cy="1013824"/>
          </a:xfrm>
        </p:grpSpPr>
        <p:sp>
          <p:nvSpPr>
            <p:cNvPr id="28" name="AutoShape 2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4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05618" y="6982830"/>
            <a:ext cx="731003" cy="760368"/>
            <a:chOff x="0" y="0"/>
            <a:chExt cx="974670" cy="1013824"/>
          </a:xfrm>
        </p:grpSpPr>
        <p:sp>
          <p:nvSpPr>
            <p:cNvPr id="31" name="AutoShape 31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5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529354" y="5973996"/>
            <a:ext cx="735659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Instantáneas para copias de seguridad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29354" y="6828798"/>
            <a:ext cx="8166902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Ofrece diferentes tipos de volúmenes con opciones de rendimiento configurables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42857" y="8949067"/>
            <a:ext cx="3086100" cy="2975657"/>
            <a:chOff x="0" y="0"/>
            <a:chExt cx="812800" cy="7837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53117" y="7461239"/>
            <a:ext cx="3086100" cy="2975657"/>
            <a:chOff x="0" y="0"/>
            <a:chExt cx="812800" cy="7837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76087" y="-394917"/>
            <a:ext cx="2344551" cy="2013221"/>
            <a:chOff x="0" y="0"/>
            <a:chExt cx="617495" cy="5302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7495" cy="530231"/>
            </a:xfrm>
            <a:custGeom>
              <a:avLst/>
              <a:gdLst/>
              <a:ahLst/>
              <a:cxnLst/>
              <a:rect l="l" t="t" r="r" b="b"/>
              <a:pathLst>
                <a:path w="617495" h="530231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259300" y="786655"/>
            <a:ext cx="3086100" cy="2975657"/>
            <a:chOff x="0" y="0"/>
            <a:chExt cx="812800" cy="7837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41652" y="2625960"/>
            <a:ext cx="15308979" cy="5530369"/>
          </a:xfrm>
          <a:custGeom>
            <a:avLst/>
            <a:gdLst/>
            <a:ahLst/>
            <a:cxnLst/>
            <a:rect l="l" t="t" r="r" b="b"/>
            <a:pathLst>
              <a:path w="15308979" h="5530369">
                <a:moveTo>
                  <a:pt x="0" y="0"/>
                </a:moveTo>
                <a:lnTo>
                  <a:pt x="15308979" y="0"/>
                </a:lnTo>
                <a:lnTo>
                  <a:pt x="15308979" y="5530369"/>
                </a:lnTo>
                <a:lnTo>
                  <a:pt x="0" y="55303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TextBox 15"/>
          <p:cNvSpPr txBox="1"/>
          <p:nvPr/>
        </p:nvSpPr>
        <p:spPr>
          <a:xfrm>
            <a:off x="5604914" y="1461684"/>
            <a:ext cx="7382455" cy="81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000" b="1" spc="-100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Diagrama de Amazon EBS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42857" y="8949067"/>
            <a:ext cx="3086100" cy="2975657"/>
            <a:chOff x="0" y="0"/>
            <a:chExt cx="812800" cy="7837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53117" y="7461239"/>
            <a:ext cx="3086100" cy="2975657"/>
            <a:chOff x="0" y="0"/>
            <a:chExt cx="812800" cy="7837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76087" y="-394917"/>
            <a:ext cx="2344551" cy="2013221"/>
            <a:chOff x="0" y="0"/>
            <a:chExt cx="617495" cy="5302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7495" cy="530231"/>
            </a:xfrm>
            <a:custGeom>
              <a:avLst/>
              <a:gdLst/>
              <a:ahLst/>
              <a:cxnLst/>
              <a:rect l="l" t="t" r="r" b="b"/>
              <a:pathLst>
                <a:path w="617495" h="530231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259300" y="786655"/>
            <a:ext cx="3086100" cy="2975657"/>
            <a:chOff x="0" y="0"/>
            <a:chExt cx="812800" cy="7837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343767" y="2460562"/>
            <a:ext cx="15600466" cy="4578197"/>
          </a:xfrm>
          <a:custGeom>
            <a:avLst/>
            <a:gdLst/>
            <a:ahLst/>
            <a:cxnLst/>
            <a:rect l="l" t="t" r="r" b="b"/>
            <a:pathLst>
              <a:path w="15600466" h="4578197">
                <a:moveTo>
                  <a:pt x="0" y="0"/>
                </a:moveTo>
                <a:lnTo>
                  <a:pt x="15600466" y="0"/>
                </a:lnTo>
                <a:lnTo>
                  <a:pt x="15600466" y="4578197"/>
                </a:lnTo>
                <a:lnTo>
                  <a:pt x="0" y="457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708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TextBox 15"/>
          <p:cNvSpPr txBox="1"/>
          <p:nvPr/>
        </p:nvSpPr>
        <p:spPr>
          <a:xfrm>
            <a:off x="5625012" y="1561154"/>
            <a:ext cx="7037976" cy="81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000" b="1" spc="-100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Clientes de Amazon EBS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1307" y="0"/>
            <a:ext cx="388125" cy="8421005"/>
            <a:chOff x="0" y="0"/>
            <a:chExt cx="102222" cy="2217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222" cy="2217878"/>
            </a:xfrm>
            <a:custGeom>
              <a:avLst/>
              <a:gdLst/>
              <a:ahLst/>
              <a:cxnLst/>
              <a:rect l="l" t="t" r="r" b="b"/>
              <a:pathLst>
                <a:path w="102222" h="2217878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505369" cy="10287000"/>
            <a:chOff x="0" y="0"/>
            <a:chExt cx="133101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3101" cy="2709333"/>
            </a:xfrm>
            <a:custGeom>
              <a:avLst/>
              <a:gdLst/>
              <a:ahLst/>
              <a:cxnLst/>
              <a:rect l="l" t="t" r="r" b="b"/>
              <a:pathLst>
                <a:path w="133101" h="2709333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660541" y="8747652"/>
            <a:ext cx="1066563" cy="1021296"/>
            <a:chOff x="0" y="0"/>
            <a:chExt cx="280906" cy="2689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0906" cy="268983"/>
            </a:xfrm>
            <a:custGeom>
              <a:avLst/>
              <a:gdLst/>
              <a:ahLst/>
              <a:cxnLst/>
              <a:rect l="l" t="t" r="r" b="b"/>
              <a:pathLst>
                <a:path w="280906" h="268983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259300" y="9258300"/>
            <a:ext cx="1467805" cy="1290499"/>
            <a:chOff x="0" y="0"/>
            <a:chExt cx="386582" cy="33988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6582" cy="339885"/>
            </a:xfrm>
            <a:custGeom>
              <a:avLst/>
              <a:gdLst/>
              <a:ahLst/>
              <a:cxnLst/>
              <a:rect l="l" t="t" r="r" b="b"/>
              <a:pathLst>
                <a:path w="386582" h="339885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0255744" y="1488771"/>
            <a:ext cx="6349012" cy="6356958"/>
          </a:xfrm>
          <a:custGeom>
            <a:avLst/>
            <a:gdLst/>
            <a:ahLst/>
            <a:cxnLst/>
            <a:rect l="l" t="t" r="r" b="b"/>
            <a:pathLst>
              <a:path w="6349012" h="6356958">
                <a:moveTo>
                  <a:pt x="0" y="0"/>
                </a:moveTo>
                <a:lnTo>
                  <a:pt x="6349012" y="0"/>
                </a:lnTo>
                <a:lnTo>
                  <a:pt x="6349012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TextBox 15"/>
          <p:cNvSpPr txBox="1"/>
          <p:nvPr/>
        </p:nvSpPr>
        <p:spPr>
          <a:xfrm>
            <a:off x="2396317" y="971550"/>
            <a:ext cx="7013914" cy="163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</a:pPr>
            <a:r>
              <a:rPr lang="en-US" sz="5000" b="1" spc="-100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Amazon Simple Storage Service (S3)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502708" y="2982230"/>
            <a:ext cx="6907523" cy="543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Amazon Simple Storage Service (Amazon S3) </a:t>
            </a:r>
            <a:r>
              <a:rPr lang="en-US" sz="3000" b="1" spc="120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es un servicio de almacenamiento de objetos</a:t>
            </a: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 que ofrece escalabilidad, disponibilidad de datos, seguridad y rendimiento lideres en el sector. </a:t>
            </a:r>
          </a:p>
          <a:p>
            <a:pPr algn="l">
              <a:lnSpc>
                <a:spcPts val="3900"/>
              </a:lnSpc>
            </a:pPr>
            <a:endParaRPr lang="en-US" sz="3000" spc="120">
              <a:solidFill>
                <a:srgbClr val="29303C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3900"/>
              </a:lnSpc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Los objetos son almacenados en bucket y este tiene un nombre globalmente único.</a:t>
            </a:r>
          </a:p>
          <a:p>
            <a:pPr algn="l">
              <a:lnSpc>
                <a:spcPts val="3900"/>
              </a:lnSpc>
            </a:pPr>
            <a:endParaRPr lang="en-US" sz="3000" spc="120">
              <a:solidFill>
                <a:srgbClr val="29303C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42857" y="8949067"/>
            <a:ext cx="3086100" cy="2975657"/>
            <a:chOff x="0" y="0"/>
            <a:chExt cx="812800" cy="7837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53117" y="7461239"/>
            <a:ext cx="3086100" cy="2975657"/>
            <a:chOff x="0" y="0"/>
            <a:chExt cx="812800" cy="7837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812774" y="9790606"/>
            <a:ext cx="1419225" cy="496394"/>
            <a:chOff x="0" y="0"/>
            <a:chExt cx="373788" cy="1307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3788" cy="130738"/>
            </a:xfrm>
            <a:custGeom>
              <a:avLst/>
              <a:gdLst/>
              <a:ahLst/>
              <a:cxnLst/>
              <a:rect l="l" t="t" r="r" b="b"/>
              <a:pathLst>
                <a:path w="373788" h="130738">
                  <a:moveTo>
                    <a:pt x="0" y="0"/>
                  </a:moveTo>
                  <a:lnTo>
                    <a:pt x="373788" y="0"/>
                  </a:lnTo>
                  <a:lnTo>
                    <a:pt x="373788" y="130738"/>
                  </a:lnTo>
                  <a:lnTo>
                    <a:pt x="0" y="130738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73788" cy="168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38199" y="9611712"/>
            <a:ext cx="6249801" cy="675288"/>
            <a:chOff x="0" y="0"/>
            <a:chExt cx="1646038" cy="1778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46038" cy="177854"/>
            </a:xfrm>
            <a:custGeom>
              <a:avLst/>
              <a:gdLst/>
              <a:ahLst/>
              <a:cxnLst/>
              <a:rect l="l" t="t" r="r" b="b"/>
              <a:pathLst>
                <a:path w="1646038" h="177854">
                  <a:moveTo>
                    <a:pt x="0" y="0"/>
                  </a:moveTo>
                  <a:lnTo>
                    <a:pt x="1646038" y="0"/>
                  </a:lnTo>
                  <a:lnTo>
                    <a:pt x="1646038" y="177854"/>
                  </a:lnTo>
                  <a:lnTo>
                    <a:pt x="0" y="177854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646038" cy="2159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4485248" y="4715195"/>
            <a:ext cx="4345591" cy="3948969"/>
          </a:xfrm>
          <a:custGeom>
            <a:avLst/>
            <a:gdLst/>
            <a:ahLst/>
            <a:cxnLst/>
            <a:rect l="l" t="t" r="r" b="b"/>
            <a:pathLst>
              <a:path w="4345591" h="3948969">
                <a:moveTo>
                  <a:pt x="0" y="0"/>
                </a:moveTo>
                <a:lnTo>
                  <a:pt x="4345591" y="0"/>
                </a:lnTo>
                <a:lnTo>
                  <a:pt x="4345591" y="3948970"/>
                </a:lnTo>
                <a:lnTo>
                  <a:pt x="0" y="3948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Freeform 15"/>
          <p:cNvSpPr/>
          <p:nvPr/>
        </p:nvSpPr>
        <p:spPr>
          <a:xfrm>
            <a:off x="9609883" y="4604070"/>
            <a:ext cx="4146490" cy="3963142"/>
          </a:xfrm>
          <a:custGeom>
            <a:avLst/>
            <a:gdLst/>
            <a:ahLst/>
            <a:cxnLst/>
            <a:rect l="l" t="t" r="r" b="b"/>
            <a:pathLst>
              <a:path w="4146490" h="3963142">
                <a:moveTo>
                  <a:pt x="0" y="0"/>
                </a:moveTo>
                <a:lnTo>
                  <a:pt x="4146489" y="0"/>
                </a:lnTo>
                <a:lnTo>
                  <a:pt x="4146489" y="3963142"/>
                </a:lnTo>
                <a:lnTo>
                  <a:pt x="0" y="3963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6" name="TextBox 16"/>
          <p:cNvSpPr txBox="1"/>
          <p:nvPr/>
        </p:nvSpPr>
        <p:spPr>
          <a:xfrm>
            <a:off x="3904733" y="473395"/>
            <a:ext cx="9565217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 spc="-139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Buckets y Objetos en S3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32983" y="1851345"/>
            <a:ext cx="15575654" cy="2466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00"/>
              </a:lnSpc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Amazon S3 permite almacenar objetos [archivos] en "buckets" [directorios], estos buckets se crean a nivel regional pero deben tener un nombre único global [en todas las regiones y todas las cuentas], además, no existe el concepto de "directorios" dentro de los buckets [aunque la interfaz de usuario haga pensar que si las hay]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1307" y="0"/>
            <a:ext cx="388125" cy="8421005"/>
            <a:chOff x="0" y="0"/>
            <a:chExt cx="102222" cy="22178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222" cy="2217878"/>
            </a:xfrm>
            <a:custGeom>
              <a:avLst/>
              <a:gdLst/>
              <a:ahLst/>
              <a:cxnLst/>
              <a:rect l="l" t="t" r="r" b="b"/>
              <a:pathLst>
                <a:path w="102222" h="2217878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505369" cy="10287000"/>
            <a:chOff x="0" y="0"/>
            <a:chExt cx="133101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3101" cy="2709333"/>
            </a:xfrm>
            <a:custGeom>
              <a:avLst/>
              <a:gdLst/>
              <a:ahLst/>
              <a:cxnLst/>
              <a:rect l="l" t="t" r="r" b="b"/>
              <a:pathLst>
                <a:path w="133101" h="2709333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660541" y="8747652"/>
            <a:ext cx="1066563" cy="1021296"/>
            <a:chOff x="0" y="0"/>
            <a:chExt cx="280906" cy="2689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0906" cy="268983"/>
            </a:xfrm>
            <a:custGeom>
              <a:avLst/>
              <a:gdLst/>
              <a:ahLst/>
              <a:cxnLst/>
              <a:rect l="l" t="t" r="r" b="b"/>
              <a:pathLst>
                <a:path w="280906" h="268983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259300" y="9258300"/>
            <a:ext cx="1467805" cy="1290499"/>
            <a:chOff x="0" y="0"/>
            <a:chExt cx="386582" cy="33988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6582" cy="339885"/>
            </a:xfrm>
            <a:custGeom>
              <a:avLst/>
              <a:gdLst/>
              <a:ahLst/>
              <a:cxnLst/>
              <a:rect l="l" t="t" r="r" b="b"/>
              <a:pathLst>
                <a:path w="386582" h="339885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917295" y="971550"/>
            <a:ext cx="12453410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 spc="-139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Características de Amazon EBS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526118" y="2477127"/>
            <a:ext cx="731003" cy="760368"/>
            <a:chOff x="0" y="0"/>
            <a:chExt cx="974670" cy="1013824"/>
          </a:xfrm>
        </p:grpSpPr>
        <p:sp>
          <p:nvSpPr>
            <p:cNvPr id="16" name="AutoShape 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26118" y="3608970"/>
            <a:ext cx="731003" cy="760368"/>
            <a:chOff x="0" y="0"/>
            <a:chExt cx="974670" cy="1013824"/>
          </a:xfrm>
        </p:grpSpPr>
        <p:sp>
          <p:nvSpPr>
            <p:cNvPr id="19" name="AutoShape 19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526118" y="4770922"/>
            <a:ext cx="731003" cy="760368"/>
            <a:chOff x="0" y="0"/>
            <a:chExt cx="974670" cy="1013824"/>
          </a:xfrm>
        </p:grpSpPr>
        <p:sp>
          <p:nvSpPr>
            <p:cNvPr id="22" name="AutoShape 2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3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449854" y="2600136"/>
            <a:ext cx="7765154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Rendimiento, escalabilidad y durabilidad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449854" y="3731979"/>
            <a:ext cx="938859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Variedad de clases de almacenamiento rentables.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49854" y="4893931"/>
            <a:ext cx="970677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Capacidades de seguridad, conformidad y auditoria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4526118" y="5850987"/>
            <a:ext cx="731003" cy="760368"/>
            <a:chOff x="0" y="0"/>
            <a:chExt cx="974670" cy="1013824"/>
          </a:xfrm>
        </p:grpSpPr>
        <p:sp>
          <p:nvSpPr>
            <p:cNvPr id="28" name="AutoShape 2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4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26118" y="6982830"/>
            <a:ext cx="731003" cy="760368"/>
            <a:chOff x="0" y="0"/>
            <a:chExt cx="974670" cy="1013824"/>
          </a:xfrm>
        </p:grpSpPr>
        <p:sp>
          <p:nvSpPr>
            <p:cNvPr id="31" name="AutoShape 31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5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5449854" y="5726346"/>
            <a:ext cx="10071220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Servicio de almacenamiento en la nube con mayor nivel de soporte.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449854" y="6828798"/>
            <a:ext cx="9388595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 spc="12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Administración del ciclo de vida y organización inteligente por niveles.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42857" y="8949067"/>
            <a:ext cx="3086100" cy="2975657"/>
            <a:chOff x="0" y="0"/>
            <a:chExt cx="812800" cy="7837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53117" y="7461239"/>
            <a:ext cx="3086100" cy="2975657"/>
            <a:chOff x="0" y="0"/>
            <a:chExt cx="812800" cy="7837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76087" y="-394917"/>
            <a:ext cx="2344551" cy="2013221"/>
            <a:chOff x="0" y="0"/>
            <a:chExt cx="617495" cy="5302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7495" cy="530231"/>
            </a:xfrm>
            <a:custGeom>
              <a:avLst/>
              <a:gdLst/>
              <a:ahLst/>
              <a:cxnLst/>
              <a:rect l="l" t="t" r="r" b="b"/>
              <a:pathLst>
                <a:path w="617495" h="530231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259300" y="786655"/>
            <a:ext cx="3086100" cy="2975657"/>
            <a:chOff x="0" y="0"/>
            <a:chExt cx="812800" cy="7837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729544" y="2279667"/>
            <a:ext cx="14828911" cy="5727667"/>
          </a:xfrm>
          <a:custGeom>
            <a:avLst/>
            <a:gdLst/>
            <a:ahLst/>
            <a:cxnLst/>
            <a:rect l="l" t="t" r="r" b="b"/>
            <a:pathLst>
              <a:path w="14828911" h="5727667">
                <a:moveTo>
                  <a:pt x="0" y="0"/>
                </a:moveTo>
                <a:lnTo>
                  <a:pt x="14828912" y="0"/>
                </a:lnTo>
                <a:lnTo>
                  <a:pt x="14828912" y="5727666"/>
                </a:lnTo>
                <a:lnTo>
                  <a:pt x="0" y="57276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TextBox 15"/>
          <p:cNvSpPr txBox="1"/>
          <p:nvPr/>
        </p:nvSpPr>
        <p:spPr>
          <a:xfrm>
            <a:off x="5684289" y="971550"/>
            <a:ext cx="7382455" cy="81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000" b="1" spc="-100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Diagrama de Amazon S3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969572"/>
            <a:ext cx="7251395" cy="1334783"/>
            <a:chOff x="0" y="0"/>
            <a:chExt cx="1909832" cy="351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9832" cy="351548"/>
            </a:xfrm>
            <a:custGeom>
              <a:avLst/>
              <a:gdLst/>
              <a:ahLst/>
              <a:cxnLst/>
              <a:rect l="l" t="t" r="r" b="b"/>
              <a:pathLst>
                <a:path w="1909832" h="351548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9378213"/>
            <a:ext cx="18288000" cy="908787"/>
            <a:chOff x="0" y="0"/>
            <a:chExt cx="4816593" cy="2393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239351"/>
            </a:xfrm>
            <a:custGeom>
              <a:avLst/>
              <a:gdLst/>
              <a:ahLst/>
              <a:cxnLst/>
              <a:rect l="l" t="t" r="r" b="b"/>
              <a:pathLst>
                <a:path w="4816592" h="239351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243105" y="2642044"/>
            <a:ext cx="15801789" cy="4198420"/>
          </a:xfrm>
          <a:custGeom>
            <a:avLst/>
            <a:gdLst/>
            <a:ahLst/>
            <a:cxnLst/>
            <a:rect l="l" t="t" r="r" b="b"/>
            <a:pathLst>
              <a:path w="15801789" h="4198420">
                <a:moveTo>
                  <a:pt x="0" y="0"/>
                </a:moveTo>
                <a:lnTo>
                  <a:pt x="15801790" y="0"/>
                </a:lnTo>
                <a:lnTo>
                  <a:pt x="15801790" y="4198420"/>
                </a:lnTo>
                <a:lnTo>
                  <a:pt x="0" y="4198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26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TextBox 9"/>
          <p:cNvSpPr txBox="1"/>
          <p:nvPr/>
        </p:nvSpPr>
        <p:spPr>
          <a:xfrm>
            <a:off x="5625012" y="1561154"/>
            <a:ext cx="6545851" cy="81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000" b="1" spc="-100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Clientes de Amazon S3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42857" y="8949067"/>
            <a:ext cx="3086100" cy="2975657"/>
            <a:chOff x="0" y="0"/>
            <a:chExt cx="812800" cy="7837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753117" y="7461239"/>
            <a:ext cx="3086100" cy="2975657"/>
            <a:chOff x="0" y="0"/>
            <a:chExt cx="812800" cy="7837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76087" y="-394917"/>
            <a:ext cx="2344551" cy="2013221"/>
            <a:chOff x="0" y="0"/>
            <a:chExt cx="617495" cy="5302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7495" cy="530231"/>
            </a:xfrm>
            <a:custGeom>
              <a:avLst/>
              <a:gdLst/>
              <a:ahLst/>
              <a:cxnLst/>
              <a:rect l="l" t="t" r="r" b="b"/>
              <a:pathLst>
                <a:path w="617495" h="530231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259300" y="786655"/>
            <a:ext cx="3086100" cy="2975657"/>
            <a:chOff x="0" y="0"/>
            <a:chExt cx="812800" cy="7837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783712"/>
            </a:xfrm>
            <a:custGeom>
              <a:avLst/>
              <a:gdLst/>
              <a:ahLst/>
              <a:cxnLst/>
              <a:rect l="l" t="t" r="r" b="b"/>
              <a:pathLst>
                <a:path w="812800" h="783712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071C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3105964" y="2465509"/>
            <a:ext cx="12076072" cy="6792791"/>
          </a:xfrm>
          <a:custGeom>
            <a:avLst/>
            <a:gdLst/>
            <a:ahLst/>
            <a:cxnLst/>
            <a:rect l="l" t="t" r="r" b="b"/>
            <a:pathLst>
              <a:path w="12076072" h="6792791">
                <a:moveTo>
                  <a:pt x="0" y="0"/>
                </a:moveTo>
                <a:lnTo>
                  <a:pt x="12076072" y="0"/>
                </a:lnTo>
                <a:lnTo>
                  <a:pt x="12076072" y="6792791"/>
                </a:lnTo>
                <a:lnTo>
                  <a:pt x="0" y="6792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TextBox 15"/>
          <p:cNvSpPr txBox="1"/>
          <p:nvPr/>
        </p:nvSpPr>
        <p:spPr>
          <a:xfrm>
            <a:off x="5045762" y="1183329"/>
            <a:ext cx="8196476" cy="81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000" b="1" spc="-100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¿Que opciones ofrece Azure?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120379" flipV="1">
            <a:off x="7710161" y="1015520"/>
            <a:ext cx="3138698" cy="18364721"/>
          </a:xfrm>
          <a:custGeom>
            <a:avLst/>
            <a:gdLst/>
            <a:ahLst/>
            <a:cxnLst/>
            <a:rect l="l" t="t" r="r" b="b"/>
            <a:pathLst>
              <a:path w="3138698" h="18364721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-5120379" flipV="1">
            <a:off x="7894116" y="1193759"/>
            <a:ext cx="3138698" cy="18364721"/>
          </a:xfrm>
          <a:custGeom>
            <a:avLst/>
            <a:gdLst/>
            <a:ahLst/>
            <a:cxnLst/>
            <a:rect l="l" t="t" r="r" b="b"/>
            <a:pathLst>
              <a:path w="3138698" h="18364721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1212868" y="2232121"/>
            <a:ext cx="4110120" cy="6269304"/>
          </a:xfrm>
          <a:custGeom>
            <a:avLst/>
            <a:gdLst/>
            <a:ahLst/>
            <a:cxnLst/>
            <a:rect l="l" t="t" r="r" b="b"/>
            <a:pathLst>
              <a:path w="4110120" h="6269304">
                <a:moveTo>
                  <a:pt x="0" y="0"/>
                </a:moveTo>
                <a:lnTo>
                  <a:pt x="4110121" y="0"/>
                </a:lnTo>
                <a:lnTo>
                  <a:pt x="4110121" y="6269304"/>
                </a:lnTo>
                <a:lnTo>
                  <a:pt x="0" y="62693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3314261" y="752475"/>
            <a:ext cx="11659478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4500" b="1" spc="-89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BD Tradicional vs Almacenamiento en la nube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88309" y="2493398"/>
            <a:ext cx="7973825" cy="570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b="1" spc="140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La diferencia entre ambas radica en su enfoque y funcionalidad,</a:t>
            </a:r>
            <a:r>
              <a:rPr lang="en-US" sz="3500" spc="140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 mientras que los servicios de bases de datos están orientados a la gestión y consultas de datos estructurados, Los servicios de almacenamiento están destinados la almacenamiento y recuperación de datos de cualquier tipo, estructurados o no estructurados.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66085" y="3454981"/>
            <a:ext cx="5955830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spc="-13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62609" y="4501569"/>
            <a:ext cx="13962781" cy="227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999" spc="-139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CONFIGURACIÓN DE INSTANCIA DE S3 Y WEB ESTÁTICA</a:t>
            </a:r>
          </a:p>
        </p:txBody>
      </p:sp>
      <p:sp>
        <p:nvSpPr>
          <p:cNvPr id="4" name="Freeform 4"/>
          <p:cNvSpPr/>
          <p:nvPr/>
        </p:nvSpPr>
        <p:spPr>
          <a:xfrm rot="-5120379" flipV="1">
            <a:off x="7672969" y="926401"/>
            <a:ext cx="3138698" cy="18364721"/>
          </a:xfrm>
          <a:custGeom>
            <a:avLst/>
            <a:gdLst/>
            <a:ahLst/>
            <a:cxnLst/>
            <a:rect l="l" t="t" r="r" b="b"/>
            <a:pathLst>
              <a:path w="3138698" h="18364721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 rot="-5120379" flipV="1">
            <a:off x="7856925" y="1104639"/>
            <a:ext cx="3138698" cy="18364721"/>
          </a:xfrm>
          <a:custGeom>
            <a:avLst/>
            <a:gdLst/>
            <a:ahLst/>
            <a:cxnLst/>
            <a:rect l="l" t="t" r="r" b="b"/>
            <a:pathLst>
              <a:path w="3138698" h="18364721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42868" y="644847"/>
            <a:ext cx="7454705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spc="-13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VALOR O ACTITUD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9097" y="1727522"/>
            <a:ext cx="16474542" cy="741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4500" b="1" spc="-89">
                <a:solidFill>
                  <a:srgbClr val="FFB92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Perseverancia</a:t>
            </a:r>
          </a:p>
          <a:p>
            <a:pPr marL="971550" lvl="1" indent="-485775" algn="l">
              <a:lnSpc>
                <a:spcPts val="5850"/>
              </a:lnSpc>
              <a:buFont typeface="Arial"/>
              <a:buChar char="•"/>
            </a:pPr>
            <a:r>
              <a:rPr lang="en-US" sz="4500" spc="-89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El profesional investiga, prueba soluciones alternativas y aprende de la experiencia hasta lograr una implementación funcional.</a:t>
            </a:r>
          </a:p>
          <a:p>
            <a:pPr marL="971550" lvl="1" indent="-485775" algn="l">
              <a:lnSpc>
                <a:spcPts val="5850"/>
              </a:lnSpc>
              <a:buFont typeface="Arial"/>
              <a:buChar char="•"/>
            </a:pPr>
            <a:r>
              <a:rPr lang="en-US" sz="4500" spc="-89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Mantener una rutina de estudio, buscar apoyo (grupos, tutores, recursos adicionales) y no abandonar pese a bajas notas o dificultad inicial.</a:t>
            </a:r>
          </a:p>
          <a:p>
            <a:pPr marL="971550" lvl="1" indent="-485775" algn="l">
              <a:lnSpc>
                <a:spcPts val="5850"/>
              </a:lnSpc>
              <a:buFont typeface="Arial"/>
              <a:buChar char="•"/>
            </a:pPr>
            <a:r>
              <a:rPr lang="en-US" sz="4500" spc="-89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La perseverancia se manifiesta al trabajar en la optimización constante de recursos cloud: reducir costos, mejorar la seguridad, automatizar tareas, etc. </a:t>
            </a:r>
          </a:p>
        </p:txBody>
      </p:sp>
      <p:sp>
        <p:nvSpPr>
          <p:cNvPr id="4" name="Freeform 4"/>
          <p:cNvSpPr/>
          <p:nvPr/>
        </p:nvSpPr>
        <p:spPr>
          <a:xfrm rot="-5252869" flipH="1">
            <a:off x="7166333" y="2041017"/>
            <a:ext cx="3138698" cy="18364721"/>
          </a:xfrm>
          <a:custGeom>
            <a:avLst/>
            <a:gdLst/>
            <a:ahLst/>
            <a:cxnLst/>
            <a:rect l="l" t="t" r="r" b="b"/>
            <a:pathLst>
              <a:path w="3138698" h="18364721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 rot="-5252869" flipH="1">
            <a:off x="7357019" y="2212036"/>
            <a:ext cx="3138698" cy="18364721"/>
          </a:xfrm>
          <a:custGeom>
            <a:avLst/>
            <a:gdLst/>
            <a:ahLst/>
            <a:cxnLst/>
            <a:rect l="l" t="t" r="r" b="b"/>
            <a:pathLst>
              <a:path w="3138698" h="18364721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035086" y="1228236"/>
            <a:ext cx="689712" cy="702485"/>
          </a:xfrm>
          <a:custGeom>
            <a:avLst/>
            <a:gdLst/>
            <a:ahLst/>
            <a:cxnLst/>
            <a:rect l="l" t="t" r="r" b="b"/>
            <a:pathLst>
              <a:path w="689712" h="702485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-5120379" flipV="1">
            <a:off x="7672969" y="926401"/>
            <a:ext cx="3138698" cy="18364721"/>
          </a:xfrm>
          <a:custGeom>
            <a:avLst/>
            <a:gdLst/>
            <a:ahLst/>
            <a:cxnLst/>
            <a:rect l="l" t="t" r="r" b="b"/>
            <a:pathLst>
              <a:path w="3138698" h="18364721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 rot="-5120379" flipV="1">
            <a:off x="7856925" y="1104639"/>
            <a:ext cx="3138698" cy="18364721"/>
          </a:xfrm>
          <a:custGeom>
            <a:avLst/>
            <a:gdLst/>
            <a:ahLst/>
            <a:cxnLst/>
            <a:rect l="l" t="t" r="r" b="b"/>
            <a:pathLst>
              <a:path w="3138698" h="18364721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3865129" y="1230119"/>
            <a:ext cx="10557741" cy="755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97"/>
              </a:lnSpc>
              <a:spcBef>
                <a:spcPct val="0"/>
              </a:spcBef>
            </a:pPr>
            <a:r>
              <a:rPr lang="en-US" sz="5361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CONCEPTOS CLAVES APRENDIDOS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65129" y="2672534"/>
            <a:ext cx="7891462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b="1" spc="-70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Modelos de Almacenamiento en la Nube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905062" y="2593975"/>
            <a:ext cx="731003" cy="760368"/>
            <a:chOff x="0" y="0"/>
            <a:chExt cx="974670" cy="1013824"/>
          </a:xfrm>
        </p:grpSpPr>
        <p:sp>
          <p:nvSpPr>
            <p:cNvPr id="8" name="AutoShape 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u="none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905062" y="3661478"/>
            <a:ext cx="731003" cy="760368"/>
            <a:chOff x="0" y="0"/>
            <a:chExt cx="974670" cy="1013824"/>
          </a:xfrm>
        </p:grpSpPr>
        <p:sp>
          <p:nvSpPr>
            <p:cNvPr id="11" name="AutoShape 11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905062" y="4825036"/>
            <a:ext cx="731003" cy="760368"/>
            <a:chOff x="0" y="0"/>
            <a:chExt cx="974670" cy="1013824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905062" y="5988595"/>
            <a:ext cx="731003" cy="760368"/>
            <a:chOff x="0" y="0"/>
            <a:chExt cx="974670" cy="1013824"/>
          </a:xfrm>
        </p:grpSpPr>
        <p:sp>
          <p:nvSpPr>
            <p:cNvPr id="17" name="AutoShape 1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905062" y="7038180"/>
            <a:ext cx="731003" cy="760368"/>
            <a:chOff x="0" y="0"/>
            <a:chExt cx="974670" cy="1013824"/>
          </a:xfrm>
        </p:grpSpPr>
        <p:sp>
          <p:nvSpPr>
            <p:cNvPr id="20" name="AutoShape 2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102"/>
                </a:lnSpc>
                <a:spcBef>
                  <a:spcPct val="0"/>
                </a:spcBef>
              </a:pPr>
              <a:r>
                <a:rPr lang="en-US" sz="3924" b="1" spc="156">
                  <a:solidFill>
                    <a:srgbClr val="29303C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5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763612" y="7116739"/>
            <a:ext cx="8756507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b="1" spc="-70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Servicios Similares en Microsoft Azure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65129" y="3743996"/>
            <a:ext cx="6737152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b="1" spc="-70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Tipos de Almacenamiento en AWS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865129" y="4841875"/>
            <a:ext cx="5868888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b="1" spc="-70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Características de Amazon S3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865129" y="6067154"/>
            <a:ext cx="11283937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 b="1" spc="-70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Diferencia entre Base de Datos y Almacenamiento Cloud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42146" y="-201788"/>
            <a:ext cx="7408840" cy="10690576"/>
          </a:xfrm>
          <a:prstGeom prst="rect">
            <a:avLst/>
          </a:prstGeom>
          <a:solidFill>
            <a:srgbClr val="FFB923"/>
          </a:solid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5400000">
            <a:off x="1035086" y="8288411"/>
            <a:ext cx="689712" cy="702485"/>
          </a:xfrm>
          <a:custGeom>
            <a:avLst/>
            <a:gdLst/>
            <a:ahLst/>
            <a:cxnLst/>
            <a:rect l="l" t="t" r="r" b="b"/>
            <a:pathLst>
              <a:path w="689712" h="702485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935917" y="1369165"/>
            <a:ext cx="5294859" cy="941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7"/>
              </a:lnSpc>
              <a:spcBef>
                <a:spcPct val="0"/>
              </a:spcBef>
            </a:pPr>
            <a:r>
              <a:rPr lang="en-US" sz="6624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REFERENCIAS</a:t>
            </a:r>
          </a:p>
        </p:txBody>
      </p:sp>
      <p:sp>
        <p:nvSpPr>
          <p:cNvPr id="5" name="Freeform 5"/>
          <p:cNvSpPr/>
          <p:nvPr/>
        </p:nvSpPr>
        <p:spPr>
          <a:xfrm>
            <a:off x="935917" y="2310552"/>
            <a:ext cx="3863467" cy="285524"/>
          </a:xfrm>
          <a:custGeom>
            <a:avLst/>
            <a:gdLst/>
            <a:ahLst/>
            <a:cxnLst/>
            <a:rect l="l" t="t" r="r" b="b"/>
            <a:pathLst>
              <a:path w="3863467" h="285524">
                <a:moveTo>
                  <a:pt x="0" y="0"/>
                </a:moveTo>
                <a:lnTo>
                  <a:pt x="3863468" y="0"/>
                </a:lnTo>
                <a:lnTo>
                  <a:pt x="3863468" y="285524"/>
                </a:lnTo>
                <a:lnTo>
                  <a:pt x="0" y="2855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71" t="-308623" r="-7088" b="-1042730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TextBox 6"/>
          <p:cNvSpPr txBox="1"/>
          <p:nvPr/>
        </p:nvSpPr>
        <p:spPr>
          <a:xfrm>
            <a:off x="7744891" y="1000125"/>
            <a:ext cx="9514409" cy="593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9967" lvl="1" indent="-304983" algn="l">
              <a:lnSpc>
                <a:spcPts val="3672"/>
              </a:lnSpc>
              <a:buFont typeface="Arial"/>
              <a:buChar char="•"/>
            </a:pPr>
            <a:r>
              <a:rPr lang="en-US" sz="2825" b="1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Amazon Web Services. (n.d.). Amazon Elastic File System (Amazon EFS). AWS. </a:t>
            </a:r>
            <a:r>
              <a:rPr lang="en-US" sz="2825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https://aws.amazon.com/efs/</a:t>
            </a:r>
          </a:p>
          <a:p>
            <a:pPr marL="609967" lvl="1" indent="-304983" algn="l">
              <a:lnSpc>
                <a:spcPts val="3672"/>
              </a:lnSpc>
              <a:buFont typeface="Arial"/>
              <a:buChar char="•"/>
            </a:pPr>
            <a:r>
              <a:rPr lang="en-US" sz="2825" b="1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Amazon Web Services. (n.d.). Amazon Elastic Block Store (Amazon EBS). AWS.</a:t>
            </a:r>
            <a:r>
              <a:rPr lang="en-US" sz="2825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 https://aws.amazon.com/ebs/</a:t>
            </a:r>
          </a:p>
          <a:p>
            <a:pPr marL="609967" lvl="1" indent="-304983" algn="l">
              <a:lnSpc>
                <a:spcPts val="3672"/>
              </a:lnSpc>
              <a:buFont typeface="Arial"/>
              <a:buChar char="•"/>
            </a:pPr>
            <a:r>
              <a:rPr lang="en-US" sz="2825" b="1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Amazon Web Services. (n.d.). Amazon Simple Storage Service (Amazon S3). AWS.</a:t>
            </a:r>
            <a:r>
              <a:rPr lang="en-US" sz="2825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 https://aws.amazon.com/s3/</a:t>
            </a:r>
          </a:p>
          <a:p>
            <a:pPr marL="609967" lvl="1" indent="-304983" algn="l">
              <a:lnSpc>
                <a:spcPts val="3672"/>
              </a:lnSpc>
              <a:buFont typeface="Arial"/>
              <a:buChar char="•"/>
            </a:pPr>
            <a:r>
              <a:rPr lang="en-US" sz="2825" b="1">
                <a:solidFill>
                  <a:srgbClr val="29303C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Microsoft. (n.d.). Azure Storage: Durable, highly available, and secure cloud storage. Azure.</a:t>
            </a:r>
            <a:r>
              <a:rPr lang="en-US" sz="2825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 https://azure.microsoft.com/en-us/products/storage/</a:t>
            </a:r>
          </a:p>
          <a:p>
            <a:pPr algn="l">
              <a:lnSpc>
                <a:spcPts val="3672"/>
              </a:lnSpc>
            </a:pPr>
            <a:endParaRPr lang="en-US" sz="2825">
              <a:solidFill>
                <a:srgbClr val="29303C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07779" y="4022725"/>
            <a:ext cx="11872442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spc="-13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¡GRACIAS POR SU ATENCIÓN!</a:t>
            </a:r>
          </a:p>
        </p:txBody>
      </p:sp>
      <p:sp>
        <p:nvSpPr>
          <p:cNvPr id="3" name="Freeform 3"/>
          <p:cNvSpPr/>
          <p:nvPr/>
        </p:nvSpPr>
        <p:spPr>
          <a:xfrm rot="-5120379" flipV="1">
            <a:off x="7672969" y="926401"/>
            <a:ext cx="3138698" cy="18364721"/>
          </a:xfrm>
          <a:custGeom>
            <a:avLst/>
            <a:gdLst/>
            <a:ahLst/>
            <a:cxnLst/>
            <a:rect l="l" t="t" r="r" b="b"/>
            <a:pathLst>
              <a:path w="3138698" h="18364721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 rot="-5120379" flipV="1">
            <a:off x="7856925" y="1104639"/>
            <a:ext cx="3138698" cy="18364721"/>
          </a:xfrm>
          <a:custGeom>
            <a:avLst/>
            <a:gdLst/>
            <a:ahLst/>
            <a:cxnLst/>
            <a:rect l="l" t="t" r="r" b="b"/>
            <a:pathLst>
              <a:path w="3138698" h="18364721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7187785" y="5086350"/>
            <a:ext cx="3912430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999" spc="-139">
                <a:solidFill>
                  <a:srgbClr val="29303C"/>
                </a:solidFill>
                <a:latin typeface="Clear Sans"/>
                <a:ea typeface="Clear Sans"/>
                <a:cs typeface="Clear Sans"/>
                <a:sym typeface="Clear Sans"/>
              </a:rPr>
              <a:t>¿DUDAS?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870</Words>
  <Application>Microsoft Office PowerPoint</Application>
  <PresentationFormat>Personalizado</PresentationFormat>
  <Paragraphs>109</Paragraphs>
  <Slides>26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26</vt:i4>
      </vt:variant>
    </vt:vector>
  </HeadingPairs>
  <TitlesOfParts>
    <vt:vector size="36" baseType="lpstr">
      <vt:lpstr>Arial</vt:lpstr>
      <vt:lpstr>Clear Sans Medium</vt:lpstr>
      <vt:lpstr>Calibri</vt:lpstr>
      <vt:lpstr>Open Sans Bold</vt:lpstr>
      <vt:lpstr>Aptos</vt:lpstr>
      <vt:lpstr>Clear Sans</vt:lpstr>
      <vt:lpstr>Clear Sans Bold</vt:lpstr>
      <vt:lpstr>Hammersmith One</vt:lpstr>
      <vt:lpstr>Office Theme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4-.Seminario de Sistemas 1 - Servicios de Almacenamiento de Objetos en Cloud</dc:title>
  <dc:creator>Emerson</dc:creator>
  <cp:lastModifiedBy>Gerber Emerson Ordoñez Tucubal.</cp:lastModifiedBy>
  <cp:revision>2</cp:revision>
  <dcterms:created xsi:type="dcterms:W3CDTF">2006-08-16T00:00:00Z</dcterms:created>
  <dcterms:modified xsi:type="dcterms:W3CDTF">2025-10-29T18:18:34Z</dcterms:modified>
  <dc:identifier>DAGnYttDgPs</dc:identifier>
</cp:coreProperties>
</file>