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Hammersmith On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BlSYYQhXvoUSS+1h1bI6skvFH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CB2B6F-DED1-4B16-90DF-34D5D74F9AB4}">
  <a:tblStyle styleId="{8ACB2B6F-DED1-4B16-90DF-34D5D74F9AB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Hammersmith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24740d10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124740d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2695f92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a12695f92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12695f92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a12695f92a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2695f92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a12695f92a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2695f92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a12695f92a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2695f92a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a12695f92a_2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2695f92a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a12695f92a_2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2c64ac73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92c64ac73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2695f92a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a12695f92a_2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124740d10_1_8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g3a124740d10_1_8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g3a124740d10_1_8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124740d10_1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124740d10_1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{8ACB2B6F-DED1-4B16-90DF-34D5D74F9AB4}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00" u="none" cap="none" strike="noStrike"/>
                    </a:p>
                  </a:txBody>
                  <a:tcPr marT="182850" marB="182850" marR="182850" marL="1828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Martes</a:t>
                      </a:r>
                      <a:r>
                        <a:rPr lang="en-US" sz="2800" u="none" cap="none" strike="noStrike"/>
                        <a:t>, 20/</a:t>
                      </a:r>
                      <a:r>
                        <a:rPr lang="en-US" sz="2800"/>
                        <a:t>01</a:t>
                      </a:r>
                      <a:r>
                        <a:rPr lang="en-US" sz="2800" u="none" cap="none" strike="noStrike"/>
                        <a:t>/2026</a:t>
                      </a:r>
                      <a:endParaRPr sz="1400" u="none" cap="none" strike="noStrike"/>
                    </a:p>
                  </a:txBody>
                  <a:tcPr marT="182850" marB="182850" marR="182850" marL="182850">
                    <a:noFill/>
                  </a:tcPr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u="none" cap="none" strike="noStrike"/>
                    </a:p>
                  </a:txBody>
                  <a:tcPr marT="182850" marB="182850" marR="182850" marL="1828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19</a:t>
                      </a:r>
                      <a:r>
                        <a:rPr lang="en-US" sz="2800" u="none" cap="none" strike="noStrike"/>
                        <a:t>:00</a:t>
                      </a:r>
                      <a:endParaRPr sz="1400" u="none" cap="none" strike="noStrike"/>
                    </a:p>
                  </a:txBody>
                  <a:tcPr marT="182850" marB="182850" marR="182850" marL="182850">
                    <a:noFill/>
                  </a:tcPr>
                </a:tc>
              </a:tr>
            </a:tbl>
          </a:graphicData>
        </a:graphic>
      </p:graphicFrame>
      <p:sp>
        <p:nvSpPr>
          <p:cNvPr id="90" name="Google Shape;90;g3a124740d10_1_0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</a:t>
            </a:r>
            <a:r>
              <a:rPr lang="en-US" sz="5000"/>
              <a:t>A</a:t>
            </a: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124740d10_1_0"/>
          <p:cNvSpPr txBox="1"/>
          <p:nvPr/>
        </p:nvSpPr>
        <p:spPr>
          <a:xfrm>
            <a:off x="2880350" y="5816015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Carlos Jezeh Gedeoni Toscano Palacios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7" name="Google Shape;97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"/>
          <p:cNvSpPr txBox="1"/>
          <p:nvPr/>
        </p:nvSpPr>
        <p:spPr>
          <a:xfrm>
            <a:off x="0" y="3209848"/>
            <a:ext cx="18104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CLASE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CLASE DE 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25" y="7364750"/>
            <a:ext cx="631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1"/>
          <p:cNvCxnSpPr/>
          <p:nvPr/>
        </p:nvCxnSpPr>
        <p:spPr>
          <a:xfrm>
            <a:off x="5535002" y="4310615"/>
            <a:ext cx="64923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"/>
          <p:cNvSpPr/>
          <p:nvPr/>
        </p:nvSpPr>
        <p:spPr>
          <a:xfrm flipH="1" rot="134201">
            <a:off x="4126" y="8121850"/>
            <a:ext cx="18571549" cy="2545338"/>
          </a:xfrm>
          <a:prstGeom prst="rtTriangle">
            <a:avLst/>
          </a:prstGeom>
          <a:solidFill>
            <a:srgbClr val="4C11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flipH="1" rot="134201">
            <a:off x="156526" y="8274250"/>
            <a:ext cx="18571549" cy="2545338"/>
          </a:xfrm>
          <a:prstGeom prst="rtTriangle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g3a12695f92a_0_15"/>
          <p:cNvGrpSpPr/>
          <p:nvPr/>
        </p:nvGrpSpPr>
        <p:grpSpPr>
          <a:xfrm>
            <a:off x="1683764" y="1946513"/>
            <a:ext cx="731025" cy="760275"/>
            <a:chOff x="0" y="0"/>
            <a:chExt cx="974700" cy="1013700"/>
          </a:xfrm>
        </p:grpSpPr>
        <p:sp>
          <p:nvSpPr>
            <p:cNvPr id="109" name="Google Shape;109;g3a12695f92a_0_15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12695f92a_0_15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g3a12695f92a_0_15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grpSp>
        <p:nvGrpSpPr>
          <p:cNvPr id="112" name="Google Shape;112;g3a12695f92a_0_15"/>
          <p:cNvGrpSpPr/>
          <p:nvPr/>
        </p:nvGrpSpPr>
        <p:grpSpPr>
          <a:xfrm>
            <a:off x="1683785" y="3039563"/>
            <a:ext cx="731025" cy="760275"/>
            <a:chOff x="0" y="0"/>
            <a:chExt cx="974700" cy="1013700"/>
          </a:xfrm>
        </p:grpSpPr>
        <p:sp>
          <p:nvSpPr>
            <p:cNvPr id="113" name="Google Shape;113;g3a12695f92a_0_15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a12695f92a_0_15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g3a12695f92a_0_15"/>
          <p:cNvSpPr txBox="1"/>
          <p:nvPr/>
        </p:nvSpPr>
        <p:spPr>
          <a:xfrm>
            <a:off x="6945276" y="222725"/>
            <a:ext cx="4144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a12695f92a_0_15"/>
          <p:cNvSpPr txBox="1"/>
          <p:nvPr/>
        </p:nvSpPr>
        <p:spPr>
          <a:xfrm>
            <a:off x="2902164" y="2029363"/>
            <a:ext cx="898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Presentación de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g3a12695f92a_0_15"/>
          <p:cNvGrpSpPr/>
          <p:nvPr/>
        </p:nvGrpSpPr>
        <p:grpSpPr>
          <a:xfrm>
            <a:off x="1683764" y="4132613"/>
            <a:ext cx="731025" cy="760275"/>
            <a:chOff x="0" y="0"/>
            <a:chExt cx="974700" cy="1013700"/>
          </a:xfrm>
        </p:grpSpPr>
        <p:sp>
          <p:nvSpPr>
            <p:cNvPr id="118" name="Google Shape;118;g3a12695f92a_0_15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a12695f92a_0_15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lang="en-US" sz="3924">
                  <a:solidFill>
                    <a:srgbClr val="29303C"/>
                  </a:solidFill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g3a12695f92a_0_15"/>
          <p:cNvGrpSpPr/>
          <p:nvPr/>
        </p:nvGrpSpPr>
        <p:grpSpPr>
          <a:xfrm>
            <a:off x="1683785" y="5225663"/>
            <a:ext cx="731025" cy="760275"/>
            <a:chOff x="0" y="0"/>
            <a:chExt cx="974700" cy="1013700"/>
          </a:xfrm>
        </p:grpSpPr>
        <p:sp>
          <p:nvSpPr>
            <p:cNvPr id="121" name="Google Shape;121;g3a12695f92a_0_15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a12695f92a_0_15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lang="en-US" sz="3924">
                  <a:solidFill>
                    <a:srgbClr val="29303C"/>
                  </a:solidFill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g3a12695f92a_0_15"/>
          <p:cNvGrpSpPr/>
          <p:nvPr/>
        </p:nvGrpSpPr>
        <p:grpSpPr>
          <a:xfrm>
            <a:off x="1620564" y="6487163"/>
            <a:ext cx="731025" cy="760275"/>
            <a:chOff x="0" y="0"/>
            <a:chExt cx="974700" cy="1013700"/>
          </a:xfrm>
        </p:grpSpPr>
        <p:sp>
          <p:nvSpPr>
            <p:cNvPr id="124" name="Google Shape;124;g3a12695f92a_0_15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a12695f92a_0_15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lang="en-US" sz="3924">
                  <a:solidFill>
                    <a:srgbClr val="29303C"/>
                  </a:solidFill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g3a12695f92a_0_15"/>
          <p:cNvGrpSpPr/>
          <p:nvPr/>
        </p:nvGrpSpPr>
        <p:grpSpPr>
          <a:xfrm>
            <a:off x="1620585" y="7580213"/>
            <a:ext cx="731025" cy="760275"/>
            <a:chOff x="0" y="0"/>
            <a:chExt cx="974700" cy="1013700"/>
          </a:xfrm>
        </p:grpSpPr>
        <p:sp>
          <p:nvSpPr>
            <p:cNvPr id="127" name="Google Shape;127;g3a12695f92a_0_15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a12695f92a_0_15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lang="en-US" sz="3924">
                  <a:solidFill>
                    <a:srgbClr val="29303C"/>
                  </a:solidFill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3a12695f92a_0_15"/>
          <p:cNvSpPr txBox="1"/>
          <p:nvPr/>
        </p:nvSpPr>
        <p:spPr>
          <a:xfrm>
            <a:off x="2902164" y="3156138"/>
            <a:ext cx="898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Revisión de Ponderación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a12695f92a_0_15"/>
          <p:cNvSpPr txBox="1"/>
          <p:nvPr/>
        </p:nvSpPr>
        <p:spPr>
          <a:xfrm>
            <a:off x="2977564" y="4282913"/>
            <a:ext cx="898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a12695f92a_0_15"/>
          <p:cNvSpPr txBox="1"/>
          <p:nvPr/>
        </p:nvSpPr>
        <p:spPr>
          <a:xfrm>
            <a:off x="2902164" y="5342250"/>
            <a:ext cx="898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Lectura del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a12695f92a_0_15"/>
          <p:cNvSpPr txBox="1"/>
          <p:nvPr/>
        </p:nvSpPr>
        <p:spPr>
          <a:xfrm>
            <a:off x="2902164" y="6603763"/>
            <a:ext cx="898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a12695f92a_0_15"/>
          <p:cNvSpPr txBox="1"/>
          <p:nvPr/>
        </p:nvSpPr>
        <p:spPr>
          <a:xfrm>
            <a:off x="2977580" y="7696800"/>
            <a:ext cx="12899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Evaluación de conocimientos sobre el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2695f92a_0_158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39" name="Google Shape;139;g3a12695f92a_0_158"/>
          <p:cNvSpPr txBox="1"/>
          <p:nvPr/>
        </p:nvSpPr>
        <p:spPr>
          <a:xfrm>
            <a:off x="550625" y="372700"/>
            <a:ext cx="726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6999">
                <a:solidFill>
                  <a:srgbClr val="29303C"/>
                </a:solidFill>
              </a:rPr>
              <a:t>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a12695f92a_0_158"/>
          <p:cNvSpPr txBox="1"/>
          <p:nvPr/>
        </p:nvSpPr>
        <p:spPr>
          <a:xfrm>
            <a:off x="702225" y="8075300"/>
            <a:ext cx="17386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CORREO: </a:t>
            </a:r>
            <a:r>
              <a:rPr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3145720230901@ingenieria.usac.edu.gt</a:t>
            </a:r>
            <a:endParaRPr i="0" sz="5000" u="none" cap="none" strike="noStrike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1" name="Google Shape;141;g3a12695f92a_0_158"/>
          <p:cNvSpPr txBox="1"/>
          <p:nvPr/>
        </p:nvSpPr>
        <p:spPr>
          <a:xfrm>
            <a:off x="702233" y="8922350"/>
            <a:ext cx="15923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ASUNTO</a:t>
            </a: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: </a:t>
            </a:r>
            <a:r>
              <a:rPr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[SEMI-1] o [SEMINARIO-1]</a:t>
            </a:r>
            <a:endParaRPr i="0" sz="5000" u="none" cap="none" strike="noStrike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2" name="Google Shape;142;g3a12695f92a_0_158"/>
          <p:cNvSpPr txBox="1"/>
          <p:nvPr/>
        </p:nvSpPr>
        <p:spPr>
          <a:xfrm>
            <a:off x="702225" y="7122375"/>
            <a:ext cx="17386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Telefono </a:t>
            </a: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: </a:t>
            </a:r>
            <a:r>
              <a:rPr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31076571</a:t>
            </a:r>
            <a:endParaRPr i="0" sz="5000" u="none" cap="none" strike="noStrike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3" name="Google Shape;143;g3a12695f92a_0_158"/>
          <p:cNvSpPr txBox="1"/>
          <p:nvPr/>
        </p:nvSpPr>
        <p:spPr>
          <a:xfrm>
            <a:off x="550625" y="2296300"/>
            <a:ext cx="167436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Carlos Jezeh Gedeoni Toscano Palacios</a:t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Estudiante de 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último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año de 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ingeniería</a:t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Actualmente trabajo como desarrollador Full Stack para una inmobiliaria</a:t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Estoy 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preparándome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para 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hacer</a:t>
            </a:r>
            <a:r>
              <a:rPr b="1" lang="en-US" sz="32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una ruta de certificaciones de azure</a:t>
            </a:r>
            <a:endParaRPr b="1" sz="32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2695f92a_0_189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49" name="Google Shape;149;g3a12695f92a_0_189"/>
          <p:cNvSpPr txBox="1"/>
          <p:nvPr/>
        </p:nvSpPr>
        <p:spPr>
          <a:xfrm>
            <a:off x="6257450" y="858600"/>
            <a:ext cx="7094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6999">
                <a:solidFill>
                  <a:srgbClr val="29303C"/>
                </a:solidFill>
              </a:rPr>
              <a:t>FORMATO DE ENTREGABLES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a12695f92a_0_189"/>
          <p:cNvSpPr txBox="1"/>
          <p:nvPr/>
        </p:nvSpPr>
        <p:spPr>
          <a:xfrm>
            <a:off x="768350" y="4509425"/>
            <a:ext cx="54891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TAREAS</a:t>
            </a:r>
            <a:endParaRPr b="1" sz="50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Tarea#_&lt;carnet&gt;</a:t>
            </a:r>
            <a:endParaRPr sz="50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51" name="Google Shape;151;g3a12695f92a_0_189"/>
          <p:cNvSpPr txBox="1"/>
          <p:nvPr/>
        </p:nvSpPr>
        <p:spPr>
          <a:xfrm>
            <a:off x="6582937" y="4509425"/>
            <a:ext cx="54891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HT</a:t>
            </a:r>
            <a:endParaRPr b="1" sz="50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HT</a:t>
            </a:r>
            <a:r>
              <a:rPr lang="en-US" sz="5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#_&lt;carnet&gt;</a:t>
            </a:r>
            <a:endParaRPr sz="50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52" name="Google Shape;152;g3a12695f92a_0_189"/>
          <p:cNvSpPr txBox="1"/>
          <p:nvPr/>
        </p:nvSpPr>
        <p:spPr>
          <a:xfrm>
            <a:off x="12397500" y="4633325"/>
            <a:ext cx="54891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lang="en-US" sz="43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PROYECTOS</a:t>
            </a:r>
            <a:endParaRPr b="1" sz="43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5"/>
              <a:buFont typeface="Arial"/>
              <a:buNone/>
            </a:pPr>
            <a:r>
              <a:rPr lang="en-US" sz="43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Proyecto#_&lt;carnet&gt;</a:t>
            </a:r>
            <a:endParaRPr sz="4300">
              <a:solidFill>
                <a:srgbClr val="29303C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12695f92a_2_3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58" name="Google Shape;158;g3a12695f92a_2_3"/>
          <p:cNvSpPr txBox="1"/>
          <p:nvPr/>
        </p:nvSpPr>
        <p:spPr>
          <a:xfrm>
            <a:off x="5596950" y="1967400"/>
            <a:ext cx="7094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6999">
                <a:solidFill>
                  <a:srgbClr val="29303C"/>
                </a:solidFill>
              </a:rPr>
              <a:t>PONDERACIÓN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a12695f92a_2_3"/>
          <p:cNvSpPr txBox="1"/>
          <p:nvPr/>
        </p:nvSpPr>
        <p:spPr>
          <a:xfrm>
            <a:off x="4415514" y="3960063"/>
            <a:ext cx="898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4 Tareas —------------------------- 20pts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a12695f92a_2_3"/>
          <p:cNvSpPr txBox="1"/>
          <p:nvPr/>
        </p:nvSpPr>
        <p:spPr>
          <a:xfrm>
            <a:off x="4050125" y="4660050"/>
            <a:ext cx="9717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4 Practicas</a:t>
            </a: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—-------------------------- 30pts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a12695f92a_2_3"/>
          <p:cNvSpPr txBox="1"/>
          <p:nvPr/>
        </p:nvSpPr>
        <p:spPr>
          <a:xfrm>
            <a:off x="3957051" y="5467713"/>
            <a:ext cx="9956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 Proyectos </a:t>
            </a: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—-------------------------- 30pts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a12695f92a_2_3"/>
          <p:cNvSpPr txBox="1"/>
          <p:nvPr/>
        </p:nvSpPr>
        <p:spPr>
          <a:xfrm>
            <a:off x="2573500" y="3571791"/>
            <a:ext cx="1085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a12695f92a_2_3"/>
          <p:cNvSpPr txBox="1"/>
          <p:nvPr/>
        </p:nvSpPr>
        <p:spPr>
          <a:xfrm>
            <a:off x="4050125" y="6275400"/>
            <a:ext cx="9717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 Cortos </a:t>
            </a: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—---------------------------- 10pts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a12695f92a_2_3"/>
          <p:cNvSpPr txBox="1"/>
          <p:nvPr/>
        </p:nvSpPr>
        <p:spPr>
          <a:xfrm>
            <a:off x="4165651" y="7083063"/>
            <a:ext cx="9956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 Final </a:t>
            </a: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—---------------------------- 10pts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2695f92a_2_31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70" name="Google Shape;170;g3a12695f92a_2_31"/>
          <p:cNvSpPr txBox="1"/>
          <p:nvPr/>
        </p:nvSpPr>
        <p:spPr>
          <a:xfrm>
            <a:off x="1360925" y="484425"/>
            <a:ext cx="107460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6000">
                <a:solidFill>
                  <a:srgbClr val="29303C"/>
                </a:solidFill>
              </a:rPr>
              <a:t>PRESENTACIÓN DE ESTUDIANTES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a12695f92a_2_31"/>
          <p:cNvSpPr txBox="1"/>
          <p:nvPr/>
        </p:nvSpPr>
        <p:spPr>
          <a:xfrm>
            <a:off x="1419325" y="3278275"/>
            <a:ext cx="15246900" cy="44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762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</a:pPr>
            <a:r>
              <a:rPr lang="en-US" sz="5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Nombre, semestre, trabajas , experiencias previas con la nube</a:t>
            </a:r>
            <a:endParaRPr sz="5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</a:pPr>
            <a:r>
              <a:rPr lang="en-US" sz="5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¿Han usado Azure, AWS o GCP?</a:t>
            </a:r>
            <a:endParaRPr sz="5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</a:pPr>
            <a:r>
              <a:rPr lang="en-US" sz="5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'Si tuvieras que migrar un sistema a la nube, ¿qué elegirías y por qué?'</a:t>
            </a:r>
            <a:endParaRPr sz="5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12695f92a_2_38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77" name="Google Shape;177;g3a12695f92a_2_38"/>
          <p:cNvSpPr txBox="1"/>
          <p:nvPr/>
        </p:nvSpPr>
        <p:spPr>
          <a:xfrm>
            <a:off x="2566725" y="2686850"/>
            <a:ext cx="128280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10000">
                <a:solidFill>
                  <a:srgbClr val="29303C"/>
                </a:solidFill>
              </a:rPr>
              <a:t>EXAMEN DE CONOCIMIENTOS PREVIOS</a:t>
            </a:r>
            <a:endParaRPr b="0" i="0" sz="1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2c64ac732_0_1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83" name="Google Shape;183;g392c64ac732_0_12"/>
          <p:cNvSpPr txBox="1"/>
          <p:nvPr/>
        </p:nvSpPr>
        <p:spPr>
          <a:xfrm>
            <a:off x="2566725" y="2686850"/>
            <a:ext cx="128280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10000">
                <a:solidFill>
                  <a:srgbClr val="29303C"/>
                </a:solidFill>
              </a:rPr>
              <a:t>LECTURA DEL PROGRAMA DEL LABORATORIO</a:t>
            </a:r>
            <a:endParaRPr b="0" i="0" sz="1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12695f92a_2_45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275" l="-169" r="-7079" t="-308472"/>
            </a:stretch>
          </a:blipFill>
          <a:ln>
            <a:noFill/>
          </a:ln>
        </p:spPr>
      </p:sp>
      <p:sp>
        <p:nvSpPr>
          <p:cNvPr id="189" name="Google Shape;189;g3a12695f92a_2_45"/>
          <p:cNvSpPr txBox="1"/>
          <p:nvPr/>
        </p:nvSpPr>
        <p:spPr>
          <a:xfrm>
            <a:off x="2730000" y="1372200"/>
            <a:ext cx="12828000" cy="7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lang="en-US" sz="10000">
                <a:solidFill>
                  <a:srgbClr val="29303C"/>
                </a:solidFill>
              </a:rPr>
              <a:t>EXAMEN DE CONOCIMIENTOS SOBRE EL LABORATORIO</a:t>
            </a:r>
            <a:endParaRPr b="0" i="0" sz="1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568559" y="5143500"/>
            <a:ext cx="534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 flipH="1" rot="134201">
            <a:off x="4126" y="8121850"/>
            <a:ext cx="18571549" cy="2545338"/>
          </a:xfrm>
          <a:prstGeom prst="rtTriangle">
            <a:avLst/>
          </a:prstGeom>
          <a:solidFill>
            <a:srgbClr val="4C11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 flipH="1" rot="134201">
            <a:off x="156526" y="8274250"/>
            <a:ext cx="18571549" cy="2545338"/>
          </a:xfrm>
          <a:prstGeom prst="rtTriangle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